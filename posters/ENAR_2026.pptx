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sldIdLst>
    <p:sldId id="258" r:id="rId3"/>
  </p:sldIdLst>
  <p:sldSz cx="43891200" cy="32918400"/>
  <p:notesSz cx="6858000" cy="9144000"/>
  <p:defaultTextStyle>
    <a:defPPr>
      <a:defRPr lang="en-US"/>
    </a:defPPr>
    <a:lvl1pPr marL="0" algn="l" defTabSz="3761915" rtl="0" eaLnBrk="1" latinLnBrk="0" hangingPunct="1">
      <a:defRPr sz="7400" kern="1200">
        <a:solidFill>
          <a:schemeClr val="tx1"/>
        </a:solidFill>
        <a:latin typeface="+mn-lt"/>
        <a:ea typeface="+mn-ea"/>
        <a:cs typeface="+mn-cs"/>
      </a:defRPr>
    </a:lvl1pPr>
    <a:lvl2pPr marL="1880958" algn="l" defTabSz="3761915" rtl="0" eaLnBrk="1" latinLnBrk="0" hangingPunct="1">
      <a:defRPr sz="7400" kern="1200">
        <a:solidFill>
          <a:schemeClr val="tx1"/>
        </a:solidFill>
        <a:latin typeface="+mn-lt"/>
        <a:ea typeface="+mn-ea"/>
        <a:cs typeface="+mn-cs"/>
      </a:defRPr>
    </a:lvl2pPr>
    <a:lvl3pPr marL="3761915" algn="l" defTabSz="3761915" rtl="0" eaLnBrk="1" latinLnBrk="0" hangingPunct="1">
      <a:defRPr sz="7400" kern="1200">
        <a:solidFill>
          <a:schemeClr val="tx1"/>
        </a:solidFill>
        <a:latin typeface="+mn-lt"/>
        <a:ea typeface="+mn-ea"/>
        <a:cs typeface="+mn-cs"/>
      </a:defRPr>
    </a:lvl3pPr>
    <a:lvl4pPr marL="5642873" algn="l" defTabSz="3761915" rtl="0" eaLnBrk="1" latinLnBrk="0" hangingPunct="1">
      <a:defRPr sz="7400" kern="1200">
        <a:solidFill>
          <a:schemeClr val="tx1"/>
        </a:solidFill>
        <a:latin typeface="+mn-lt"/>
        <a:ea typeface="+mn-ea"/>
        <a:cs typeface="+mn-cs"/>
      </a:defRPr>
    </a:lvl4pPr>
    <a:lvl5pPr marL="7523829" algn="l" defTabSz="3761915" rtl="0" eaLnBrk="1" latinLnBrk="0" hangingPunct="1">
      <a:defRPr sz="7400" kern="1200">
        <a:solidFill>
          <a:schemeClr val="tx1"/>
        </a:solidFill>
        <a:latin typeface="+mn-lt"/>
        <a:ea typeface="+mn-ea"/>
        <a:cs typeface="+mn-cs"/>
      </a:defRPr>
    </a:lvl5pPr>
    <a:lvl6pPr marL="9404787" algn="l" defTabSz="3761915" rtl="0" eaLnBrk="1" latinLnBrk="0" hangingPunct="1">
      <a:defRPr sz="7400" kern="1200">
        <a:solidFill>
          <a:schemeClr val="tx1"/>
        </a:solidFill>
        <a:latin typeface="+mn-lt"/>
        <a:ea typeface="+mn-ea"/>
        <a:cs typeface="+mn-cs"/>
      </a:defRPr>
    </a:lvl6pPr>
    <a:lvl7pPr marL="11285745" algn="l" defTabSz="3761915" rtl="0" eaLnBrk="1" latinLnBrk="0" hangingPunct="1">
      <a:defRPr sz="7400" kern="1200">
        <a:solidFill>
          <a:schemeClr val="tx1"/>
        </a:solidFill>
        <a:latin typeface="+mn-lt"/>
        <a:ea typeface="+mn-ea"/>
        <a:cs typeface="+mn-cs"/>
      </a:defRPr>
    </a:lvl7pPr>
    <a:lvl8pPr marL="13166702" algn="l" defTabSz="3761915" rtl="0" eaLnBrk="1" latinLnBrk="0" hangingPunct="1">
      <a:defRPr sz="7400" kern="1200">
        <a:solidFill>
          <a:schemeClr val="tx1"/>
        </a:solidFill>
        <a:latin typeface="+mn-lt"/>
        <a:ea typeface="+mn-ea"/>
        <a:cs typeface="+mn-cs"/>
      </a:defRPr>
    </a:lvl8pPr>
    <a:lvl9pPr marL="15047660" algn="l" defTabSz="3761915" rtl="0" eaLnBrk="1" latinLnBrk="0" hangingPunct="1">
      <a:defRPr sz="74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7A348885-8755-4A08-A7C6-18A264354707}">
          <p14:sldIdLst>
            <p14:sldId id="258"/>
          </p14:sldIdLst>
        </p14:section>
      </p14:sectionLst>
    </p:ext>
    <p:ext uri="{EFAFB233-063F-42B5-8137-9DF3F51BA10A}">
      <p15:sldGuideLst xmlns:p15="http://schemas.microsoft.com/office/powerpoint/2012/main">
        <p15:guide id="1" orient="horz" pos="20735" userDrawn="1">
          <p15:clr>
            <a:srgbClr val="A4A3A4"/>
          </p15:clr>
        </p15:guide>
        <p15:guide id="2" orient="horz" pos="60" userDrawn="1">
          <p15:clr>
            <a:srgbClr val="A4A3A4"/>
          </p15:clr>
        </p15:guide>
        <p15:guide id="3" pos="27371" userDrawn="1">
          <p15:clr>
            <a:srgbClr val="A4A3A4"/>
          </p15:clr>
        </p15:guide>
        <p15:guide id="4" pos="29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864"/>
    <a:srgbClr val="F3F5FA"/>
    <a:srgbClr val="CDD2DE"/>
    <a:srgbClr val="E3E9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71" autoAdjust="0"/>
    <p:restoredTop sz="94775" autoAdjust="0"/>
  </p:normalViewPr>
  <p:slideViewPr>
    <p:cSldViewPr snapToGrid="0" snapToObjects="1" showGuides="1">
      <p:cViewPr>
        <p:scale>
          <a:sx n="22" d="100"/>
          <a:sy n="22" d="100"/>
        </p:scale>
        <p:origin x="2238" y="24"/>
      </p:cViewPr>
      <p:guideLst>
        <p:guide orient="horz" pos="20735"/>
        <p:guide orient="horz" pos="60"/>
        <p:guide pos="27371"/>
        <p:guide pos="29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notesMaster" Target="notesMasters/notesMaster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3/13/2026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1055639900"/>
      </p:ext>
    </p:extLst>
  </p:cSld>
  <p:clrMap bg1="lt1" tx1="dk1" bg2="lt2" tx2="dk2" accent1="accent1" accent2="accent2" accent3="accent3" accent4="accent4" accent5="accent5" accent6="accent6" hlink="hlink" folHlink="folHlink"/>
  <p:notesStyle>
    <a:lvl1pPr marL="0" algn="l" defTabSz="3761915" rtl="0" eaLnBrk="1" latinLnBrk="0" hangingPunct="1">
      <a:defRPr sz="5000" kern="1200">
        <a:solidFill>
          <a:schemeClr val="tx1"/>
        </a:solidFill>
        <a:latin typeface="+mn-lt"/>
        <a:ea typeface="+mn-ea"/>
        <a:cs typeface="+mn-cs"/>
      </a:defRPr>
    </a:lvl1pPr>
    <a:lvl2pPr marL="1880958" algn="l" defTabSz="3761915" rtl="0" eaLnBrk="1" latinLnBrk="0" hangingPunct="1">
      <a:defRPr sz="5000" kern="1200">
        <a:solidFill>
          <a:schemeClr val="tx1"/>
        </a:solidFill>
        <a:latin typeface="+mn-lt"/>
        <a:ea typeface="+mn-ea"/>
        <a:cs typeface="+mn-cs"/>
      </a:defRPr>
    </a:lvl2pPr>
    <a:lvl3pPr marL="3761915" algn="l" defTabSz="3761915" rtl="0" eaLnBrk="1" latinLnBrk="0" hangingPunct="1">
      <a:defRPr sz="5000" kern="1200">
        <a:solidFill>
          <a:schemeClr val="tx1"/>
        </a:solidFill>
        <a:latin typeface="+mn-lt"/>
        <a:ea typeface="+mn-ea"/>
        <a:cs typeface="+mn-cs"/>
      </a:defRPr>
    </a:lvl3pPr>
    <a:lvl4pPr marL="5642873" algn="l" defTabSz="3761915" rtl="0" eaLnBrk="1" latinLnBrk="0" hangingPunct="1">
      <a:defRPr sz="5000" kern="1200">
        <a:solidFill>
          <a:schemeClr val="tx1"/>
        </a:solidFill>
        <a:latin typeface="+mn-lt"/>
        <a:ea typeface="+mn-ea"/>
        <a:cs typeface="+mn-cs"/>
      </a:defRPr>
    </a:lvl4pPr>
    <a:lvl5pPr marL="7523829" algn="l" defTabSz="3761915" rtl="0" eaLnBrk="1" latinLnBrk="0" hangingPunct="1">
      <a:defRPr sz="5000" kern="1200">
        <a:solidFill>
          <a:schemeClr val="tx1"/>
        </a:solidFill>
        <a:latin typeface="+mn-lt"/>
        <a:ea typeface="+mn-ea"/>
        <a:cs typeface="+mn-cs"/>
      </a:defRPr>
    </a:lvl5pPr>
    <a:lvl6pPr marL="9404787" algn="l" defTabSz="3761915" rtl="0" eaLnBrk="1" latinLnBrk="0" hangingPunct="1">
      <a:defRPr sz="5000" kern="1200">
        <a:solidFill>
          <a:schemeClr val="tx1"/>
        </a:solidFill>
        <a:latin typeface="+mn-lt"/>
        <a:ea typeface="+mn-ea"/>
        <a:cs typeface="+mn-cs"/>
      </a:defRPr>
    </a:lvl6pPr>
    <a:lvl7pPr marL="11285745" algn="l" defTabSz="3761915" rtl="0" eaLnBrk="1" latinLnBrk="0" hangingPunct="1">
      <a:defRPr sz="5000" kern="1200">
        <a:solidFill>
          <a:schemeClr val="tx1"/>
        </a:solidFill>
        <a:latin typeface="+mn-lt"/>
        <a:ea typeface="+mn-ea"/>
        <a:cs typeface="+mn-cs"/>
      </a:defRPr>
    </a:lvl7pPr>
    <a:lvl8pPr marL="13166702" algn="l" defTabSz="3761915" rtl="0" eaLnBrk="1" latinLnBrk="0" hangingPunct="1">
      <a:defRPr sz="5000" kern="1200">
        <a:solidFill>
          <a:schemeClr val="tx1"/>
        </a:solidFill>
        <a:latin typeface="+mn-lt"/>
        <a:ea typeface="+mn-ea"/>
        <a:cs typeface="+mn-cs"/>
      </a:defRPr>
    </a:lvl8pPr>
    <a:lvl9pPr marL="15047660" algn="l" defTabSz="3761915" rtl="0" eaLnBrk="1" latinLnBrk="0" hangingPunct="1">
      <a:defRPr sz="50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8x96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74671" y="16531570"/>
            <a:ext cx="8290965"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38095" y="5986484"/>
            <a:ext cx="8290965"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9128825" y="5986486"/>
            <a:ext cx="8269287"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438095" y="6907825"/>
            <a:ext cx="8290965"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474671" y="15647819"/>
            <a:ext cx="8290965"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7804528" y="6870238"/>
            <a:ext cx="8274927"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7797873" y="5986486"/>
            <a:ext cx="8274927"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5147258" y="5986486"/>
            <a:ext cx="8272463"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5147257" y="6917533"/>
            <a:ext cx="8272463"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5147257" y="14272742"/>
            <a:ext cx="8272463"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5147253" y="15156491"/>
            <a:ext cx="8272463"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5147251" y="24591202"/>
            <a:ext cx="8275320"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ACKNOWLEDGEMENTS</a:t>
            </a:r>
          </a:p>
        </p:txBody>
      </p:sp>
      <p:sp>
        <p:nvSpPr>
          <p:cNvPr id="30" name="Text Placeholder 3"/>
          <p:cNvSpPr>
            <a:spLocks noGrp="1"/>
          </p:cNvSpPr>
          <p:nvPr>
            <p:ph type="body" sz="quarter" idx="30" hasCustomPrompt="1"/>
          </p:nvPr>
        </p:nvSpPr>
        <p:spPr>
          <a:xfrm>
            <a:off x="35147257" y="25554799"/>
            <a:ext cx="8272463"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9133787" y="6917533"/>
            <a:ext cx="8271345"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76" name="Text Placeholder 3"/>
          <p:cNvSpPr>
            <a:spLocks noGrp="1"/>
          </p:cNvSpPr>
          <p:nvPr>
            <p:ph type="body" sz="quarter" idx="136" hasCustomPrompt="1"/>
          </p:nvPr>
        </p:nvSpPr>
        <p:spPr>
          <a:xfrm>
            <a:off x="26462422" y="6870238"/>
            <a:ext cx="8274927"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77" name="Text Placeholder 5"/>
          <p:cNvSpPr>
            <a:spLocks noGrp="1"/>
          </p:cNvSpPr>
          <p:nvPr>
            <p:ph type="body" sz="quarter" idx="137" hasCustomPrompt="1"/>
          </p:nvPr>
        </p:nvSpPr>
        <p:spPr>
          <a:xfrm>
            <a:off x="26472562" y="5986486"/>
            <a:ext cx="8274927"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RESULTS</a:t>
            </a:r>
          </a:p>
        </p:txBody>
      </p:sp>
      <p:sp>
        <p:nvSpPr>
          <p:cNvPr id="57" name="Text Placeholder 76"/>
          <p:cNvSpPr>
            <a:spLocks noGrp="1"/>
          </p:cNvSpPr>
          <p:nvPr>
            <p:ph type="body" sz="quarter" idx="161" hasCustomPrompt="1"/>
          </p:nvPr>
        </p:nvSpPr>
        <p:spPr>
          <a:xfrm>
            <a:off x="5225143" y="1637272"/>
            <a:ext cx="33440915" cy="584775"/>
          </a:xfrm>
          <a:prstGeom prst="rect">
            <a:avLst/>
          </a:prstGeom>
        </p:spPr>
        <p:txBody>
          <a:bodyPr anchor="t" anchorCtr="0">
            <a:spAutoFit/>
          </a:bodyPr>
          <a:lstStyle>
            <a:lvl1pPr marL="0" indent="0" algn="ctr">
              <a:buFontTx/>
              <a:buNone/>
              <a:defRPr sz="32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58" name="Text Placeholder 76"/>
          <p:cNvSpPr>
            <a:spLocks noGrp="1"/>
          </p:cNvSpPr>
          <p:nvPr>
            <p:ph type="body" sz="quarter" idx="195" hasCustomPrompt="1"/>
          </p:nvPr>
        </p:nvSpPr>
        <p:spPr>
          <a:xfrm>
            <a:off x="5225143" y="2872589"/>
            <a:ext cx="33440915" cy="400110"/>
          </a:xfrm>
          <a:prstGeom prst="rect">
            <a:avLst/>
          </a:prstGeom>
        </p:spPr>
        <p:txBody>
          <a:bodyPr anchor="t" anchorCtr="0">
            <a:spAutoFit/>
          </a:bodyPr>
          <a:lstStyle>
            <a:lvl1pPr marL="0" indent="0" algn="ctr">
              <a:buFontTx/>
              <a:buNone/>
              <a:defRPr sz="20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59" name="Text Placeholder 76"/>
          <p:cNvSpPr>
            <a:spLocks noGrp="1"/>
          </p:cNvSpPr>
          <p:nvPr>
            <p:ph type="body" sz="quarter" idx="196" hasCustomPrompt="1"/>
          </p:nvPr>
        </p:nvSpPr>
        <p:spPr>
          <a:xfrm>
            <a:off x="5225143" y="270206"/>
            <a:ext cx="33440915" cy="769441"/>
          </a:xfrm>
          <a:prstGeom prst="rect">
            <a:avLst/>
          </a:prstGeom>
        </p:spPr>
        <p:txBody>
          <a:bodyPr anchor="t" anchorCtr="0">
            <a:spAutoFit/>
          </a:bodyPr>
          <a:lstStyle>
            <a:lvl1pPr marL="0" indent="0" algn="ctr">
              <a:buFontTx/>
              <a:buNone/>
              <a:defRPr sz="4400" b="1">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74671" y="16531570"/>
            <a:ext cx="8290965"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38095" y="5377028"/>
            <a:ext cx="8290965"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9128825" y="5377028"/>
            <a:ext cx="8269287"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438095" y="6151081"/>
            <a:ext cx="8290965"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474671" y="15795105"/>
            <a:ext cx="8290965"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7804528" y="6113494"/>
            <a:ext cx="8274927"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7797873" y="5377028"/>
            <a:ext cx="8274927"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5147258" y="5377028"/>
            <a:ext cx="8272463"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5147257" y="6160789"/>
            <a:ext cx="8272463"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5147257" y="14420028"/>
            <a:ext cx="8272463"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5147253" y="15156491"/>
            <a:ext cx="8272463"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5147253" y="25061652"/>
            <a:ext cx="8272463"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5147257" y="25798117"/>
            <a:ext cx="8272463"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9133787" y="6160789"/>
            <a:ext cx="8271345"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76" name="Text Placeholder 3"/>
          <p:cNvSpPr>
            <a:spLocks noGrp="1"/>
          </p:cNvSpPr>
          <p:nvPr>
            <p:ph type="body" sz="quarter" idx="136" hasCustomPrompt="1"/>
          </p:nvPr>
        </p:nvSpPr>
        <p:spPr>
          <a:xfrm>
            <a:off x="26462422" y="6113494"/>
            <a:ext cx="8274927"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661" indent="-489870">
              <a:defRPr sz="2100">
                <a:latin typeface="Trebuchet MS" pitchFamily="34" charset="0"/>
              </a:defRPr>
            </a:lvl2pPr>
            <a:lvl3pPr marL="1763532" indent="-489870">
              <a:defRPr sz="2100">
                <a:latin typeface="Trebuchet MS" pitchFamily="34" charset="0"/>
              </a:defRPr>
            </a:lvl3pPr>
            <a:lvl4pPr marL="2302387" indent="-538858">
              <a:defRPr sz="2100">
                <a:latin typeface="Trebuchet MS" pitchFamily="34" charset="0"/>
              </a:defRPr>
            </a:lvl4pPr>
            <a:lvl5pPr marL="2694282" indent="-391897">
              <a:defRPr sz="2100">
                <a:latin typeface="Trebuchet MS" pitchFamily="34" charset="0"/>
              </a:defRPr>
            </a:lvl5pPr>
          </a:lstStyle>
          <a:p>
            <a:pPr lvl="0"/>
            <a:r>
              <a:rPr lang="en-US" dirty="0"/>
              <a:t>Type in or paste your text here</a:t>
            </a:r>
          </a:p>
        </p:txBody>
      </p:sp>
      <p:sp>
        <p:nvSpPr>
          <p:cNvPr id="77" name="Text Placeholder 5"/>
          <p:cNvSpPr>
            <a:spLocks noGrp="1"/>
          </p:cNvSpPr>
          <p:nvPr>
            <p:ph type="body" sz="quarter" idx="137" hasCustomPrompt="1"/>
          </p:nvPr>
        </p:nvSpPr>
        <p:spPr>
          <a:xfrm>
            <a:off x="26472562" y="5377028"/>
            <a:ext cx="8274927"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RESULTS</a:t>
            </a:r>
          </a:p>
        </p:txBody>
      </p:sp>
      <p:sp>
        <p:nvSpPr>
          <p:cNvPr id="57" name="Text Placeholder 76"/>
          <p:cNvSpPr>
            <a:spLocks noGrp="1"/>
          </p:cNvSpPr>
          <p:nvPr>
            <p:ph type="body" sz="quarter" idx="161" hasCustomPrompt="1"/>
          </p:nvPr>
        </p:nvSpPr>
        <p:spPr>
          <a:xfrm>
            <a:off x="5225143" y="2197252"/>
            <a:ext cx="33440915" cy="1445984"/>
          </a:xfrm>
          <a:prstGeom prst="rect">
            <a:avLst/>
          </a:prstGeom>
        </p:spPr>
        <p:txBody>
          <a:bodyPr>
            <a:normAutofit/>
          </a:bodyPr>
          <a:lstStyle>
            <a:lvl1pPr marL="0" indent="0" algn="ctr">
              <a:buFontTx/>
              <a:buNone/>
              <a:defRPr sz="48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58" name="Text Placeholder 76"/>
          <p:cNvSpPr>
            <a:spLocks noGrp="1"/>
          </p:cNvSpPr>
          <p:nvPr>
            <p:ph type="body" sz="quarter" idx="195" hasCustomPrompt="1"/>
          </p:nvPr>
        </p:nvSpPr>
        <p:spPr>
          <a:xfrm>
            <a:off x="5225143" y="3643233"/>
            <a:ext cx="33440915" cy="951833"/>
          </a:xfrm>
          <a:prstGeom prst="rect">
            <a:avLst/>
          </a:prstGeom>
        </p:spPr>
        <p:txBody>
          <a:bodyPr>
            <a:normAutofit/>
          </a:bodyPr>
          <a:lstStyle>
            <a:lvl1pPr marL="0" indent="0" algn="ctr">
              <a:buFontTx/>
              <a:buNone/>
              <a:defRPr sz="36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59" name="Text Placeholder 76"/>
          <p:cNvSpPr>
            <a:spLocks noGrp="1"/>
          </p:cNvSpPr>
          <p:nvPr>
            <p:ph type="body" sz="quarter" idx="196" hasCustomPrompt="1"/>
          </p:nvPr>
        </p:nvSpPr>
        <p:spPr>
          <a:xfrm>
            <a:off x="5225143" y="270201"/>
            <a:ext cx="33440915" cy="1927044"/>
          </a:xfrm>
          <a:prstGeom prst="rect">
            <a:avLst/>
          </a:prstGeom>
        </p:spPr>
        <p:txBody>
          <a:bodyPr>
            <a:normAutofit/>
          </a:bodyPr>
          <a:lstStyle>
            <a:lvl1pPr marL="0" indent="0" algn="ctr">
              <a:buFontTx/>
              <a:buNone/>
              <a:defRPr sz="6600" b="1">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290351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C2C311D-F86B-69BA-1FCE-A5D22828813C}"/>
              </a:ext>
            </a:extLst>
          </p:cNvPr>
          <p:cNvSpPr/>
          <p:nvPr userDrawn="1"/>
        </p:nvSpPr>
        <p:spPr>
          <a:xfrm>
            <a:off x="1" y="31877877"/>
            <a:ext cx="43891199" cy="98575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400"/>
          </a:p>
        </p:txBody>
      </p:sp>
      <p:sp>
        <p:nvSpPr>
          <p:cNvPr id="10" name="Text Box 14"/>
          <p:cNvSpPr txBox="1">
            <a:spLocks noChangeArrowheads="1"/>
          </p:cNvSpPr>
          <p:nvPr/>
        </p:nvSpPr>
        <p:spPr bwMode="auto">
          <a:xfrm>
            <a:off x="819153" y="32232607"/>
            <a:ext cx="2514600" cy="291981"/>
          </a:xfrm>
          <a:prstGeom prst="rect">
            <a:avLst/>
          </a:prstGeom>
          <a:noFill/>
          <a:ln w="9525">
            <a:noFill/>
            <a:miter lim="800000"/>
            <a:headEnd/>
            <a:tailEnd/>
          </a:ln>
          <a:effectLst/>
        </p:spPr>
        <p:txBody>
          <a:bodyPr lIns="78225" tIns="39105" rIns="78225" bIns="39105">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900" b="1" dirty="0">
                <a:solidFill>
                  <a:schemeClr val="bg1">
                    <a:lumMod val="75000"/>
                  </a:schemeClr>
                </a:solidFill>
                <a:latin typeface="Arial" charset="0"/>
              </a:rPr>
              <a:t>www.PosterPresentations.com</a:t>
            </a:r>
          </a:p>
        </p:txBody>
      </p:sp>
      <p:graphicFrame>
        <p:nvGraphicFramePr>
          <p:cNvPr id="33" name="Table 32">
            <a:extLst>
              <a:ext uri="{FF2B5EF4-FFF2-40B4-BE49-F238E27FC236}">
                <a16:creationId xmlns:a16="http://schemas.microsoft.com/office/drawing/2014/main" id="{51F6E1DE-3038-D348-B243-6638F96B5BD2}"/>
              </a:ext>
            </a:extLst>
          </p:cNvPr>
          <p:cNvGraphicFramePr>
            <a:graphicFrameLocks noGrp="1"/>
          </p:cNvGraphicFramePr>
          <p:nvPr userDrawn="1">
            <p:extLst>
              <p:ext uri="{D42A27DB-BD31-4B8C-83A1-F6EECF244321}">
                <p14:modId xmlns:p14="http://schemas.microsoft.com/office/powerpoint/2010/main" val="3081578541"/>
              </p:ext>
            </p:extLst>
          </p:nvPr>
        </p:nvGraphicFramePr>
        <p:xfrm>
          <a:off x="-6404643" y="35169"/>
          <a:ext cx="6099844" cy="42626085"/>
        </p:xfrm>
        <a:graphic>
          <a:graphicData uri="http://schemas.openxmlformats.org/drawingml/2006/table">
            <a:tbl>
              <a:tblPr firstRow="1" bandRow="1">
                <a:tableStyleId>{5C22544A-7EE6-4342-B048-85BDC9FD1C3A}</a:tableStyleId>
              </a:tblPr>
              <a:tblGrid>
                <a:gridCol w="2615564">
                  <a:extLst>
                    <a:ext uri="{9D8B030D-6E8A-4147-A177-3AD203B41FA5}">
                      <a16:colId xmlns:a16="http://schemas.microsoft.com/office/drawing/2014/main" val="20000"/>
                    </a:ext>
                  </a:extLst>
                </a:gridCol>
                <a:gridCol w="3484280">
                  <a:extLst>
                    <a:ext uri="{9D8B030D-6E8A-4147-A177-3AD203B41FA5}">
                      <a16:colId xmlns:a16="http://schemas.microsoft.com/office/drawing/2014/main" val="20001"/>
                    </a:ext>
                  </a:extLst>
                </a:gridCol>
              </a:tblGrid>
              <a:tr h="1783080">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7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205740" marB="6858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5394960">
                <a:tc gridSpan="2">
                  <a:txBody>
                    <a:bodyPr/>
                    <a:lstStyle/>
                    <a:p>
                      <a:pPr defTabSz="3765639"/>
                      <a:r>
                        <a:rPr lang="en-US" sz="2100" i="0" dirty="0">
                          <a:solidFill>
                            <a:srgbClr val="D9D9D9"/>
                          </a:solidFill>
                          <a:latin typeface="Arial"/>
                          <a:cs typeface="Arial"/>
                        </a:rPr>
                        <a:t>This PowerPoint template produces a </a:t>
                      </a:r>
                      <a:r>
                        <a:rPr lang="en-US" sz="2100" b="1" i="0" dirty="0">
                          <a:solidFill>
                            <a:srgbClr val="FFC000"/>
                          </a:solidFill>
                          <a:latin typeface="Arial"/>
                          <a:cs typeface="Arial"/>
                        </a:rPr>
                        <a:t>48x96”</a:t>
                      </a:r>
                      <a:r>
                        <a:rPr lang="en-US" sz="2100" i="0" dirty="0">
                          <a:solidFill>
                            <a:srgbClr val="FFC000"/>
                          </a:solidFill>
                          <a:latin typeface="Arial"/>
                          <a:cs typeface="Arial"/>
                        </a:rPr>
                        <a:t> </a:t>
                      </a:r>
                      <a:r>
                        <a:rPr lang="en-US" sz="21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100" i="0" dirty="0">
                        <a:solidFill>
                          <a:srgbClr val="D9D9D9"/>
                        </a:solidFill>
                        <a:latin typeface="Arial"/>
                        <a:cs typeface="Arial"/>
                      </a:endParaRPr>
                    </a:p>
                    <a:p>
                      <a:pPr defTabSz="3765639"/>
                      <a:r>
                        <a:rPr lang="en-US" sz="21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100" i="0" dirty="0" err="1">
                          <a:solidFill>
                            <a:srgbClr val="FFC000"/>
                          </a:solidFill>
                          <a:latin typeface="Arial"/>
                          <a:cs typeface="Arial"/>
                        </a:rPr>
                        <a:t>PosterPresentations.com</a:t>
                      </a:r>
                      <a:r>
                        <a:rPr lang="en-US" sz="2100" i="0" dirty="0">
                          <a:solidFill>
                            <a:srgbClr val="D9D9D9"/>
                          </a:solidFill>
                          <a:latin typeface="Arial"/>
                          <a:cs typeface="Arial"/>
                        </a:rPr>
                        <a:t> and click on the  </a:t>
                      </a:r>
                      <a:r>
                        <a:rPr lang="en-US" sz="2100" i="0" dirty="0">
                          <a:solidFill>
                            <a:srgbClr val="FFC000"/>
                          </a:solidFill>
                          <a:latin typeface="Arial"/>
                          <a:cs typeface="Arial"/>
                        </a:rPr>
                        <a:t>HELP DESK</a:t>
                      </a:r>
                      <a:r>
                        <a:rPr lang="en-US" sz="2100" i="0" baseline="0" dirty="0">
                          <a:solidFill>
                            <a:srgbClr val="D9D9D9"/>
                          </a:solidFill>
                          <a:latin typeface="Arial"/>
                          <a:cs typeface="Arial"/>
                        </a:rPr>
                        <a:t> </a:t>
                      </a:r>
                      <a:r>
                        <a:rPr lang="en-US" sz="2100" i="0" dirty="0">
                          <a:solidFill>
                            <a:srgbClr val="D9D9D9"/>
                          </a:solidFill>
                          <a:latin typeface="Arial"/>
                          <a:cs typeface="Arial"/>
                        </a:rPr>
                        <a:t>tab.</a:t>
                      </a:r>
                    </a:p>
                    <a:p>
                      <a:pPr defTabSz="3765639"/>
                      <a:endParaRPr lang="en-US" sz="2100" i="0" dirty="0">
                        <a:solidFill>
                          <a:srgbClr val="D9D9D9"/>
                        </a:solidFill>
                        <a:latin typeface="Arial"/>
                        <a:cs typeface="Arial"/>
                      </a:endParaRPr>
                    </a:p>
                    <a:p>
                      <a:pPr defTabSz="3765639"/>
                      <a:r>
                        <a:rPr lang="en-US" sz="2100" i="0" dirty="0">
                          <a:solidFill>
                            <a:srgbClr val="D9D9D9"/>
                          </a:solidFill>
                          <a:latin typeface="Arial"/>
                          <a:cs typeface="Arial"/>
                        </a:rPr>
                        <a:t>To print your poster using our same-day professional printing service, go online to </a:t>
                      </a:r>
                      <a:r>
                        <a:rPr lang="en-US" sz="2100" i="0" dirty="0" err="1">
                          <a:solidFill>
                            <a:srgbClr val="FFC000"/>
                          </a:solidFill>
                          <a:latin typeface="Arial"/>
                          <a:cs typeface="Arial"/>
                        </a:rPr>
                        <a:t>PosterPresentations.com</a:t>
                      </a:r>
                      <a:r>
                        <a:rPr lang="en-US" sz="2100" i="0" dirty="0">
                          <a:solidFill>
                            <a:srgbClr val="D9D9D9"/>
                          </a:solidFill>
                          <a:latin typeface="Arial"/>
                          <a:cs typeface="Arial"/>
                        </a:rPr>
                        <a:t> and click on "</a:t>
                      </a:r>
                      <a:r>
                        <a:rPr lang="en-US" sz="2100" i="0" dirty="0">
                          <a:solidFill>
                            <a:srgbClr val="FFC000"/>
                          </a:solidFill>
                          <a:latin typeface="Arial"/>
                          <a:cs typeface="Arial"/>
                        </a:rPr>
                        <a:t>Order your poster</a:t>
                      </a:r>
                      <a:r>
                        <a:rPr lang="en-US" sz="2100" i="0" dirty="0">
                          <a:solidFill>
                            <a:srgbClr val="D9D9D9"/>
                          </a:solidFill>
                          <a:latin typeface="Arial"/>
                          <a:cs typeface="Arial"/>
                        </a:rPr>
                        <a:t>".</a:t>
                      </a:r>
                      <a:endParaRPr lang="en-US" sz="2100" b="1" dirty="0">
                        <a:solidFill>
                          <a:srgbClr val="D9D9D9"/>
                        </a:solidFill>
                        <a:latin typeface="Arial"/>
                        <a:cs typeface="Arial"/>
                      </a:endParaRPr>
                    </a:p>
                  </a:txBody>
                  <a:tcPr marL="182880" marT="205740" marB="6858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6492240">
                <a:tc>
                  <a:txBody>
                    <a:bodyPr/>
                    <a:lstStyle/>
                    <a:p>
                      <a:pPr algn="ctr"/>
                      <a:endParaRPr lang="en-US" sz="2100" dirty="0">
                        <a:solidFill>
                          <a:srgbClr val="1F3A4E"/>
                        </a:solidFill>
                      </a:endParaRPr>
                    </a:p>
                    <a:p>
                      <a:pPr algn="ctr"/>
                      <a:endParaRPr lang="en-US" sz="2100" dirty="0">
                        <a:solidFill>
                          <a:srgbClr val="1F3A4E"/>
                        </a:solidFill>
                      </a:endParaRPr>
                    </a:p>
                    <a:p>
                      <a:pPr algn="ctr"/>
                      <a:r>
                        <a:rPr lang="en-US" sz="2100" dirty="0">
                          <a:solidFill>
                            <a:schemeClr val="bg1"/>
                          </a:solidFill>
                          <a:latin typeface="Arial" panose="020B0604020202020204" pitchFamily="34" charset="0"/>
                          <a:cs typeface="Arial" panose="020B0604020202020204" pitchFamily="34" charset="0"/>
                        </a:rPr>
                        <a:t>This is a template for a</a:t>
                      </a:r>
                    </a:p>
                    <a:p>
                      <a:pPr algn="ctr"/>
                      <a:r>
                        <a:rPr lang="en-US" sz="2100" dirty="0">
                          <a:solidFill>
                            <a:schemeClr val="bg1"/>
                          </a:solidFill>
                          <a:latin typeface="Arial" panose="020B0604020202020204" pitchFamily="34" charset="0"/>
                          <a:cs typeface="Arial" panose="020B0604020202020204" pitchFamily="34" charset="0"/>
                        </a:rPr>
                        <a:t>presentation poster </a:t>
                      </a:r>
                      <a:br>
                        <a:rPr lang="en-US" sz="21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48 inches tall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by</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96 inches wide</a:t>
                      </a:r>
                      <a:br>
                        <a:rPr lang="en-US" sz="2100" dirty="0">
                          <a:solidFill>
                            <a:schemeClr val="bg1"/>
                          </a:solidFill>
                          <a:latin typeface="Arial" panose="020B0604020202020204" pitchFamily="34" charset="0"/>
                          <a:cs typeface="Arial" panose="020B0604020202020204" pitchFamily="34" charset="0"/>
                        </a:rPr>
                      </a:br>
                      <a:endParaRPr lang="en-US" sz="2100" dirty="0">
                        <a:solidFill>
                          <a:srgbClr val="1F3A4E"/>
                        </a:solidFill>
                      </a:endParaRPr>
                    </a:p>
                  </a:txBody>
                  <a:tcPr marT="68580" marB="6858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a:t>
                      </a:r>
                      <a:br>
                        <a:rPr lang="en-US" sz="2400" b="1" baseline="0" dirty="0">
                          <a:solidFill>
                            <a:srgbClr val="FFC000"/>
                          </a:solidFill>
                          <a:latin typeface="Arial" panose="020B0604020202020204" pitchFamily="34" charset="0"/>
                          <a:cs typeface="Arial" panose="020B0604020202020204" pitchFamily="34" charset="0"/>
                        </a:rPr>
                      </a:br>
                      <a:r>
                        <a:rPr lang="en-US" sz="2400" b="1" baseline="0" dirty="0">
                          <a:solidFill>
                            <a:srgbClr val="FFC000"/>
                          </a:solidFill>
                          <a:latin typeface="Arial" panose="020B0604020202020204" pitchFamily="34" charset="0"/>
                          <a:cs typeface="Arial" panose="020B0604020202020204" pitchFamily="34" charset="0"/>
                        </a:rPr>
                        <a:t>Check the template size</a:t>
                      </a:r>
                      <a:br>
                        <a:rPr lang="en-US" sz="2100" b="0" baseline="0" dirty="0">
                          <a:solidFill>
                            <a:srgbClr val="FFC000"/>
                          </a:solidFill>
                          <a:latin typeface="Arial" panose="020B0604020202020204" pitchFamily="34" charset="0"/>
                          <a:cs typeface="Arial" panose="020B0604020202020204" pitchFamily="34" charset="0"/>
                        </a:rPr>
                      </a:br>
                      <a:r>
                        <a:rPr lang="en-US" sz="21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100" b="0" baseline="0" dirty="0">
                          <a:solidFill>
                            <a:srgbClr val="D9D9D9"/>
                          </a:solidFill>
                          <a:latin typeface="Arial" panose="020B0604020202020204" pitchFamily="34" charset="0"/>
                          <a:cs typeface="Arial" panose="020B0604020202020204" pitchFamily="34" charset="0"/>
                        </a:rPr>
                      </a:br>
                      <a:r>
                        <a:rPr lang="en-US" sz="21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100" b="0" baseline="0" dirty="0">
                          <a:solidFill>
                            <a:srgbClr val="D9D9D9"/>
                          </a:solidFill>
                          <a:latin typeface="Arial" panose="020B0604020202020204" pitchFamily="34" charset="0"/>
                          <a:cs typeface="Arial" panose="020B0604020202020204" pitchFamily="34" charset="0"/>
                        </a:rPr>
                      </a:br>
                      <a:r>
                        <a:rPr lang="en-US" sz="2100" b="0" baseline="0" dirty="0">
                          <a:solidFill>
                            <a:srgbClr val="FFC000"/>
                          </a:solidFill>
                          <a:latin typeface="Arial" panose="020B0604020202020204" pitchFamily="34" charset="0"/>
                          <a:cs typeface="Arial" panose="020B0604020202020204" pitchFamily="34" charset="0"/>
                        </a:rPr>
                        <a:t>24 tall x 48 wide</a:t>
                      </a:r>
                      <a:br>
                        <a:rPr lang="en-US" sz="2100" b="0" baseline="0" dirty="0">
                          <a:solidFill>
                            <a:srgbClr val="FFC000"/>
                          </a:solidFill>
                          <a:latin typeface="Arial" panose="020B0604020202020204" pitchFamily="34" charset="0"/>
                          <a:cs typeface="Arial" panose="020B0604020202020204" pitchFamily="34" charset="0"/>
                        </a:rPr>
                      </a:br>
                      <a:r>
                        <a:rPr lang="en-US" sz="2100" b="0" baseline="0" dirty="0">
                          <a:solidFill>
                            <a:srgbClr val="FFC000"/>
                          </a:solidFill>
                          <a:latin typeface="Arial" panose="020B0604020202020204" pitchFamily="34" charset="0"/>
                          <a:cs typeface="Arial" panose="020B0604020202020204" pitchFamily="34" charset="0"/>
                        </a:rPr>
                        <a:t>42 tall x 84 wide</a:t>
                      </a:r>
                      <a:br>
                        <a:rPr lang="en-US" sz="2100" b="0" baseline="0" dirty="0">
                          <a:solidFill>
                            <a:srgbClr val="FFC000"/>
                          </a:solidFill>
                          <a:latin typeface="Arial" panose="020B0604020202020204" pitchFamily="34" charset="0"/>
                          <a:cs typeface="Arial" panose="020B0604020202020204" pitchFamily="34" charset="0"/>
                        </a:rPr>
                      </a:br>
                      <a:r>
                        <a:rPr lang="en-US" sz="2100" b="0" baseline="0" dirty="0">
                          <a:solidFill>
                            <a:srgbClr val="FFC000"/>
                          </a:solidFill>
                          <a:latin typeface="Arial" panose="020B0604020202020204" pitchFamily="34" charset="0"/>
                          <a:cs typeface="Arial" panose="020B0604020202020204" pitchFamily="34" charset="0"/>
                        </a:rPr>
                        <a:t>36 tall x 72 wide</a:t>
                      </a:r>
                    </a:p>
                  </a:txBody>
                  <a:tcPr marL="182880" marT="205740" marB="68580">
                    <a:solidFill>
                      <a:srgbClr val="010101"/>
                    </a:solidFill>
                  </a:tcPr>
                </a:tc>
                <a:extLst>
                  <a:ext uri="{0D108BD9-81ED-4DB2-BD59-A6C34878D82A}">
                    <a16:rowId xmlns:a16="http://schemas.microsoft.com/office/drawing/2014/main" val="10008"/>
                  </a:ext>
                </a:extLst>
              </a:tr>
              <a:tr h="6080760">
                <a:tc>
                  <a:txBody>
                    <a:bodyPr/>
                    <a:lstStyle/>
                    <a:p>
                      <a:endParaRPr lang="en-US" sz="2100" dirty="0">
                        <a:solidFill>
                          <a:srgbClr val="1F3A4E"/>
                        </a:solidFill>
                      </a:endParaRPr>
                    </a:p>
                  </a:txBody>
                  <a:tcPr marT="68580" marB="68580">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2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1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100" b="0" baseline="0" dirty="0">
                          <a:solidFill>
                            <a:srgbClr val="D9D9D9"/>
                          </a:solidFill>
                          <a:latin typeface="Arial" panose="020B0604020202020204" pitchFamily="34" charset="0"/>
                          <a:cs typeface="Arial" panose="020B0604020202020204" pitchFamily="34" charset="0"/>
                        </a:rPr>
                      </a:br>
                      <a:r>
                        <a:rPr lang="en-US" sz="2100" b="0" baseline="0" dirty="0">
                          <a:solidFill>
                            <a:srgbClr val="FFC000"/>
                          </a:solidFill>
                          <a:latin typeface="Arial" panose="020B0604020202020204" pitchFamily="34" charset="0"/>
                          <a:cs typeface="Arial" panose="020B0604020202020204" pitchFamily="34" charset="0"/>
                        </a:rPr>
                        <a:t>1. </a:t>
                      </a:r>
                      <a:r>
                        <a:rPr lang="en-US" sz="21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100" b="0" baseline="0" dirty="0">
                          <a:solidFill>
                            <a:srgbClr val="D9D9D9"/>
                          </a:solidFill>
                          <a:latin typeface="Arial" panose="020B0604020202020204" pitchFamily="34" charset="0"/>
                          <a:cs typeface="Arial" panose="020B0604020202020204" pitchFamily="34" charset="0"/>
                        </a:rPr>
                      </a:br>
                      <a:r>
                        <a:rPr lang="en-US" sz="2100" b="0" baseline="0" dirty="0">
                          <a:solidFill>
                            <a:srgbClr val="FFC000"/>
                          </a:solidFill>
                          <a:latin typeface="Arial" panose="020B0604020202020204" pitchFamily="34" charset="0"/>
                          <a:cs typeface="Arial" panose="020B0604020202020204" pitchFamily="34" charset="0"/>
                        </a:rPr>
                        <a:t>2. </a:t>
                      </a:r>
                      <a:r>
                        <a:rPr lang="en-US" sz="21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205740" marB="68580">
                    <a:solidFill>
                      <a:srgbClr val="010101"/>
                    </a:solidFill>
                  </a:tcPr>
                </a:tc>
                <a:extLst>
                  <a:ext uri="{0D108BD9-81ED-4DB2-BD59-A6C34878D82A}">
                    <a16:rowId xmlns:a16="http://schemas.microsoft.com/office/drawing/2014/main" val="10001"/>
                  </a:ext>
                </a:extLst>
              </a:tr>
              <a:tr h="2743200">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100" b="0" baseline="0" dirty="0">
                          <a:solidFill>
                            <a:srgbClr val="FFC000"/>
                          </a:solidFill>
                          <a:latin typeface="Arial" panose="020B0604020202020204" pitchFamily="34" charset="0"/>
                          <a:cs typeface="Arial" panose="020B0604020202020204" pitchFamily="34" charset="0"/>
                        </a:rPr>
                      </a:br>
                      <a:r>
                        <a:rPr lang="en-US" sz="21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T="68580" marB="68580">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6126480">
                <a:tc>
                  <a:txBody>
                    <a:bodyPr/>
                    <a:lstStyle/>
                    <a:p>
                      <a:endParaRPr lang="en-US" sz="2100" dirty="0">
                        <a:solidFill>
                          <a:srgbClr val="1F3A4E"/>
                        </a:solidFill>
                      </a:endParaRPr>
                    </a:p>
                  </a:txBody>
                  <a:tcPr marT="68580" marB="68580">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100" b="0" baseline="0" dirty="0">
                          <a:solidFill>
                            <a:schemeClr val="bg1"/>
                          </a:solidFill>
                          <a:latin typeface="Arial" panose="020B0604020202020204" pitchFamily="34" charset="0"/>
                          <a:cs typeface="Arial" panose="020B0604020202020204" pitchFamily="34" charset="0"/>
                        </a:rPr>
                      </a:br>
                      <a:r>
                        <a:rPr lang="en-US" sz="21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100" b="0" baseline="0" dirty="0">
                          <a:solidFill>
                            <a:schemeClr val="bg1"/>
                          </a:solidFill>
                          <a:latin typeface="Arial" panose="020B0604020202020204" pitchFamily="34" charset="0"/>
                          <a:cs typeface="Arial" panose="020B0604020202020204" pitchFamily="34" charset="0"/>
                        </a:rPr>
                      </a:br>
                      <a:r>
                        <a:rPr lang="en-US" sz="2100" b="0" baseline="0" dirty="0">
                          <a:solidFill>
                            <a:srgbClr val="FFC000"/>
                          </a:solidFill>
                          <a:latin typeface="Arial" panose="020B0604020202020204" pitchFamily="34" charset="0"/>
                          <a:cs typeface="Arial" panose="020B0604020202020204" pitchFamily="34" charset="0"/>
                        </a:rPr>
                        <a:t>-</a:t>
                      </a:r>
                      <a:r>
                        <a:rPr lang="en-US" sz="2100" b="0" baseline="0" dirty="0">
                          <a:solidFill>
                            <a:schemeClr val="bg1"/>
                          </a:solidFill>
                          <a:latin typeface="Arial" panose="020B0604020202020204" pitchFamily="34" charset="0"/>
                          <a:cs typeface="Arial" panose="020B0604020202020204" pitchFamily="34" charset="0"/>
                        </a:rPr>
                        <a:t> </a:t>
                      </a:r>
                      <a:r>
                        <a:rPr lang="en-US" sz="21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100" b="0" baseline="0" dirty="0">
                          <a:solidFill>
                            <a:schemeClr val="bg1"/>
                          </a:solidFill>
                          <a:latin typeface="Arial" panose="020B0604020202020204" pitchFamily="34" charset="0"/>
                          <a:cs typeface="Arial" panose="020B0604020202020204" pitchFamily="34" charset="0"/>
                        </a:rPr>
                      </a:br>
                      <a:r>
                        <a:rPr lang="en-US" sz="2100" b="0" baseline="0" dirty="0">
                          <a:solidFill>
                            <a:srgbClr val="FFC000"/>
                          </a:solidFill>
                          <a:latin typeface="Arial" panose="020B0604020202020204" pitchFamily="34" charset="0"/>
                          <a:cs typeface="Arial" panose="020B0604020202020204" pitchFamily="34" charset="0"/>
                        </a:rPr>
                        <a:t>-</a:t>
                      </a:r>
                      <a:r>
                        <a:rPr lang="en-US" sz="2100" b="0" baseline="0" dirty="0">
                          <a:solidFill>
                            <a:schemeClr val="bg1"/>
                          </a:solidFill>
                          <a:latin typeface="Arial" panose="020B0604020202020204" pitchFamily="34" charset="0"/>
                          <a:cs typeface="Arial" panose="020B0604020202020204" pitchFamily="34" charset="0"/>
                        </a:rPr>
                        <a:t> </a:t>
                      </a:r>
                      <a:r>
                        <a:rPr lang="en-US" sz="21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100" b="0" baseline="0" dirty="0">
                          <a:solidFill>
                            <a:schemeClr val="bg1"/>
                          </a:solidFill>
                          <a:latin typeface="Arial" panose="020B0604020202020204" pitchFamily="34" charset="0"/>
                          <a:cs typeface="Arial" panose="020B0604020202020204" pitchFamily="34" charset="0"/>
                        </a:rPr>
                      </a:br>
                      <a:r>
                        <a:rPr lang="en-US" sz="2100" b="0" baseline="0" dirty="0">
                          <a:solidFill>
                            <a:srgbClr val="FFC000"/>
                          </a:solidFill>
                          <a:latin typeface="Arial" panose="020B0604020202020204" pitchFamily="34" charset="0"/>
                          <a:cs typeface="Arial" panose="020B0604020202020204" pitchFamily="34" charset="0"/>
                        </a:rPr>
                        <a:t>-</a:t>
                      </a:r>
                      <a:r>
                        <a:rPr lang="en-US" sz="2100" b="0" baseline="0" dirty="0">
                          <a:solidFill>
                            <a:schemeClr val="bg1"/>
                          </a:solidFill>
                          <a:latin typeface="Arial" panose="020B0604020202020204" pitchFamily="34" charset="0"/>
                          <a:cs typeface="Arial" panose="020B0604020202020204" pitchFamily="34" charset="0"/>
                        </a:rPr>
                        <a:t> </a:t>
                      </a:r>
                      <a:r>
                        <a:rPr lang="en-US" sz="21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205740" marB="68580">
                    <a:solidFill>
                      <a:srgbClr val="010101"/>
                    </a:solidFill>
                  </a:tcPr>
                </a:tc>
                <a:extLst>
                  <a:ext uri="{0D108BD9-81ED-4DB2-BD59-A6C34878D82A}">
                    <a16:rowId xmlns:a16="http://schemas.microsoft.com/office/drawing/2014/main" val="10003"/>
                  </a:ext>
                </a:extLst>
              </a:tr>
              <a:tr h="4343400">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1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1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100" dirty="0">
                        <a:solidFill>
                          <a:srgbClr val="D9D9D9"/>
                        </a:solidFill>
                        <a:latin typeface="Arial" panose="020B0604020202020204" pitchFamily="34" charset="0"/>
                        <a:cs typeface="Arial" panose="020B0604020202020204" pitchFamily="34" charset="0"/>
                      </a:endParaRPr>
                    </a:p>
                  </a:txBody>
                  <a:tcPr marT="68580" marB="68580">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320040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205740" marB="6858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034132">
                <a:tc gridSpan="2">
                  <a:txBody>
                    <a:bodyPr/>
                    <a:lstStyle/>
                    <a:p>
                      <a:endParaRPr lang="en-US" sz="2100" dirty="0">
                        <a:solidFill>
                          <a:schemeClr val="bg1"/>
                        </a:solidFill>
                        <a:latin typeface="Arial" panose="020B0604020202020204" pitchFamily="34" charset="0"/>
                        <a:cs typeface="Arial" panose="020B0604020202020204" pitchFamily="34" charset="0"/>
                      </a:endParaRPr>
                    </a:p>
                  </a:txBody>
                  <a:tcPr marL="182880" marT="205740" marB="6858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60020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100" noProof="0" dirty="0">
                          <a:solidFill>
                            <a:srgbClr val="D9D9D9"/>
                          </a:solidFill>
                          <a:latin typeface="Arial"/>
                          <a:cs typeface="Arial"/>
                        </a:rPr>
                        <a:t>Zoom in and look at your images at 100%-200% magnification. If they look clear, they will print well. </a:t>
                      </a:r>
                    </a:p>
                  </a:txBody>
                  <a:tcPr marL="182880" marT="205740" marB="6858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282723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100" noProof="0" dirty="0">
                        <a:solidFill>
                          <a:schemeClr val="bg1"/>
                        </a:solidFill>
                        <a:latin typeface="Arial"/>
                        <a:cs typeface="Arial"/>
                      </a:endParaRPr>
                    </a:p>
                  </a:txBody>
                  <a:tcPr marL="182880" marT="205740" marB="6858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34" name="Table 33">
            <a:extLst>
              <a:ext uri="{FF2B5EF4-FFF2-40B4-BE49-F238E27FC236}">
                <a16:creationId xmlns:a16="http://schemas.microsoft.com/office/drawing/2014/main" id="{74E59F75-101F-E64C-9D73-208C5745B1FA}"/>
              </a:ext>
            </a:extLst>
          </p:cNvPr>
          <p:cNvGraphicFramePr>
            <a:graphicFrameLocks noGrp="1"/>
          </p:cNvGraphicFramePr>
          <p:nvPr userDrawn="1">
            <p:extLst>
              <p:ext uri="{D42A27DB-BD31-4B8C-83A1-F6EECF244321}">
                <p14:modId xmlns:p14="http://schemas.microsoft.com/office/powerpoint/2010/main" val="2080183401"/>
              </p:ext>
            </p:extLst>
          </p:nvPr>
        </p:nvGraphicFramePr>
        <p:xfrm>
          <a:off x="44086274" y="5"/>
          <a:ext cx="6111801" cy="40973003"/>
        </p:xfrm>
        <a:graphic>
          <a:graphicData uri="http://schemas.openxmlformats.org/drawingml/2006/table">
            <a:tbl>
              <a:tblPr firstRow="1" bandRow="1">
                <a:tableStyleId>{5C22544A-7EE6-4342-B048-85BDC9FD1C3A}</a:tableStyleId>
              </a:tblPr>
              <a:tblGrid>
                <a:gridCol w="2906147">
                  <a:extLst>
                    <a:ext uri="{9D8B030D-6E8A-4147-A177-3AD203B41FA5}">
                      <a16:colId xmlns:a16="http://schemas.microsoft.com/office/drawing/2014/main" val="20000"/>
                    </a:ext>
                  </a:extLst>
                </a:gridCol>
                <a:gridCol w="216747">
                  <a:extLst>
                    <a:ext uri="{9D8B030D-6E8A-4147-A177-3AD203B41FA5}">
                      <a16:colId xmlns:a16="http://schemas.microsoft.com/office/drawing/2014/main" val="764104496"/>
                    </a:ext>
                  </a:extLst>
                </a:gridCol>
                <a:gridCol w="2988907">
                  <a:extLst>
                    <a:ext uri="{9D8B030D-6E8A-4147-A177-3AD203B41FA5}">
                      <a16:colId xmlns:a16="http://schemas.microsoft.com/office/drawing/2014/main" val="4164475170"/>
                    </a:ext>
                  </a:extLst>
                </a:gridCol>
              </a:tblGrid>
              <a:tr h="2011680">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200" b="0" spc="600" dirty="0">
                          <a:solidFill>
                            <a:srgbClr val="1F3A4E"/>
                          </a:solidFill>
                          <a:latin typeface="Arial Black" panose="020B0A04020102020204" pitchFamily="34" charset="0"/>
                        </a:rPr>
                        <a:t>QUICK START GUIDE</a:t>
                      </a:r>
                      <a:br>
                        <a:rPr lang="en-US" sz="4200" b="0" spc="600" dirty="0">
                          <a:solidFill>
                            <a:srgbClr val="1F3A4E"/>
                          </a:solidFill>
                          <a:latin typeface="Arial Black" panose="020B0A04020102020204" pitchFamily="34" charset="0"/>
                        </a:rPr>
                      </a:br>
                      <a:r>
                        <a:rPr lang="en-US" sz="3000" b="1" spc="0" dirty="0">
                          <a:solidFill>
                            <a:srgbClr val="FF0000"/>
                          </a:solidFill>
                          <a:latin typeface="Trebuchet MS" pitchFamily="34" charset="0"/>
                        </a:rPr>
                        <a:t>(THIS SIDEBAR WILL NOT PRINT)</a:t>
                      </a:r>
                      <a:endParaRPr lang="en-US" sz="4200" b="1" spc="600" dirty="0">
                        <a:solidFill>
                          <a:schemeClr val="bg1"/>
                        </a:solidFill>
                        <a:latin typeface="Trebuchet MS" pitchFamily="34" charset="0"/>
                      </a:endParaRPr>
                    </a:p>
                  </a:txBody>
                  <a:tcPr marL="182880" marT="205740" marB="6858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7635240">
                <a:tc gridSpan="3">
                  <a:txBody>
                    <a:bodyPr/>
                    <a:lstStyle/>
                    <a:p>
                      <a:pPr algn="l"/>
                      <a:r>
                        <a:rPr lang="en-US" sz="27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205740" marB="6858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052832">
                <a:tc gridSpan="3">
                  <a:txBody>
                    <a:bodyPr/>
                    <a:lstStyle/>
                    <a:p>
                      <a:r>
                        <a:rPr lang="en-US" sz="27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6000" u="sng" dirty="0">
                        <a:solidFill>
                          <a:srgbClr val="FFC000"/>
                        </a:solidFill>
                      </a:endParaRPr>
                    </a:p>
                  </a:txBody>
                  <a:tcPr marL="182880" marT="205740" marB="6858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19727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205740" marB="6858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7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205740" marB="6858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7815407">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205740" marB="6858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6056481">
                <a:tc>
                  <a:txBody>
                    <a:bodyPr/>
                    <a:lstStyle/>
                    <a:p>
                      <a:pPr rtl="0"/>
                      <a:r>
                        <a:rPr lang="en-US" sz="2700" b="1" dirty="0">
                          <a:solidFill>
                            <a:srgbClr val="FFC000"/>
                          </a:solidFill>
                          <a:latin typeface="Arial" panose="020B0604020202020204" pitchFamily="34" charset="0"/>
                          <a:cs typeface="Arial" panose="020B0604020202020204" pitchFamily="34" charset="0"/>
                        </a:rPr>
                        <a:t>How to</a:t>
                      </a:r>
                      <a:r>
                        <a:rPr lang="en-US" sz="2700" b="1" baseline="0" dirty="0">
                          <a:solidFill>
                            <a:srgbClr val="FFC000"/>
                          </a:solidFill>
                          <a:latin typeface="Arial" panose="020B0604020202020204" pitchFamily="34" charset="0"/>
                          <a:cs typeface="Arial" panose="020B0604020202020204" pitchFamily="34" charset="0"/>
                        </a:rPr>
                        <a:t> preview your poster prior to printing</a:t>
                      </a:r>
                      <a:endParaRPr lang="en-US" sz="27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205740" marB="68580">
                    <a:solidFill>
                      <a:srgbClr val="010101"/>
                    </a:solidFill>
                  </a:tcPr>
                </a:tc>
                <a:tc gridSpan="2">
                  <a:txBody>
                    <a:bodyPr/>
                    <a:lstStyle/>
                    <a:p>
                      <a:pPr rtl="0"/>
                      <a:r>
                        <a:rPr lang="en-US" sz="120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205740" marB="6858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7269480">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7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205740" marB="6858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70732">
                <a:tc gridSpan="3">
                  <a:txBody>
                    <a:bodyPr/>
                    <a:lstStyle/>
                    <a:p>
                      <a:endParaRPr lang="en-US" sz="2400" dirty="0">
                        <a:solidFill>
                          <a:srgbClr val="1F3A4E"/>
                        </a:solidFill>
                      </a:endParaRPr>
                    </a:p>
                  </a:txBody>
                  <a:tcPr marL="182880" marT="205740" marB="6858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2563877">
                <a:tc gridSpan="2">
                  <a:txBody>
                    <a:bodyPr/>
                    <a:lstStyle/>
                    <a:p>
                      <a:pPr>
                        <a:lnSpc>
                          <a:spcPts val="2600"/>
                        </a:lnSpc>
                      </a:pPr>
                      <a:r>
                        <a:rPr lang="en-US" sz="2100" dirty="0">
                          <a:solidFill>
                            <a:schemeClr val="bg1">
                              <a:lumMod val="85000"/>
                            </a:schemeClr>
                          </a:solidFill>
                          <a:latin typeface="Arial"/>
                          <a:cs typeface="Arial"/>
                        </a:rPr>
                        <a:t>© 2022</a:t>
                      </a:r>
                      <a:r>
                        <a:rPr lang="en-US" sz="2100" baseline="0" dirty="0">
                          <a:solidFill>
                            <a:schemeClr val="bg1">
                              <a:lumMod val="85000"/>
                            </a:schemeClr>
                          </a:solidFill>
                          <a:latin typeface="Arial"/>
                          <a:cs typeface="Arial"/>
                        </a:rPr>
                        <a:t> </a:t>
                      </a:r>
                      <a:r>
                        <a:rPr lang="en-US" sz="2100" dirty="0" err="1">
                          <a:solidFill>
                            <a:schemeClr val="bg1">
                              <a:lumMod val="85000"/>
                            </a:schemeClr>
                          </a:solidFill>
                          <a:latin typeface="Arial"/>
                          <a:cs typeface="Arial"/>
                        </a:rPr>
                        <a:t>PosterPresentations.com</a:t>
                      </a:r>
                      <a:br>
                        <a:rPr lang="en-US" sz="2100" dirty="0">
                          <a:solidFill>
                            <a:schemeClr val="bg1">
                              <a:lumMod val="85000"/>
                            </a:schemeClr>
                          </a:solidFill>
                          <a:latin typeface="Arial"/>
                          <a:cs typeface="Arial"/>
                        </a:rPr>
                      </a:br>
                      <a:r>
                        <a:rPr lang="en-US" sz="2100" dirty="0">
                          <a:solidFill>
                            <a:schemeClr val="bg1">
                              <a:lumMod val="85000"/>
                            </a:schemeClr>
                          </a:solidFill>
                          <a:latin typeface="Arial"/>
                          <a:cs typeface="Arial"/>
                        </a:rPr>
                        <a:t>2117 Fourth Street ,</a:t>
                      </a:r>
                      <a:r>
                        <a:rPr lang="en-US" sz="2100" baseline="0" dirty="0">
                          <a:solidFill>
                            <a:schemeClr val="bg1">
                              <a:lumMod val="85000"/>
                            </a:schemeClr>
                          </a:solidFill>
                          <a:latin typeface="Arial"/>
                          <a:cs typeface="Arial"/>
                        </a:rPr>
                        <a:t> STE C        </a:t>
                      </a:r>
                    </a:p>
                    <a:p>
                      <a:pPr>
                        <a:lnSpc>
                          <a:spcPts val="2600"/>
                        </a:lnSpc>
                      </a:pPr>
                      <a:r>
                        <a:rPr lang="en-US" sz="2100" baseline="0" dirty="0">
                          <a:solidFill>
                            <a:schemeClr val="bg1">
                              <a:lumMod val="85000"/>
                            </a:schemeClr>
                          </a:solidFill>
                          <a:latin typeface="Arial"/>
                          <a:cs typeface="Arial"/>
                        </a:rPr>
                        <a:t>Berkeley CA 94710 USA</a:t>
                      </a:r>
                      <a:endParaRPr lang="en-US" sz="2100" dirty="0">
                        <a:solidFill>
                          <a:schemeClr val="bg1">
                            <a:lumMod val="85000"/>
                          </a:schemeClr>
                        </a:solidFill>
                        <a:latin typeface="Arial"/>
                        <a:cs typeface="Arial"/>
                      </a:endParaRPr>
                    </a:p>
                  </a:txBody>
                  <a:tcPr marL="182880" marT="205740" marB="6858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200" dirty="0"/>
                    </a:p>
                  </a:txBody>
                  <a:tcPr marL="182880" marT="205740" marB="68580">
                    <a:solidFill>
                      <a:srgbClr val="010101"/>
                    </a:solidFill>
                  </a:tcPr>
                </a:tc>
                <a:extLst>
                  <a:ext uri="{0D108BD9-81ED-4DB2-BD59-A6C34878D82A}">
                    <a16:rowId xmlns:a16="http://schemas.microsoft.com/office/drawing/2014/main" val="10009"/>
                  </a:ext>
                </a:extLst>
              </a:tr>
            </a:tbl>
          </a:graphicData>
        </a:graphic>
      </p:graphicFrame>
      <p:grpSp>
        <p:nvGrpSpPr>
          <p:cNvPr id="5" name="Group 4">
            <a:extLst>
              <a:ext uri="{FF2B5EF4-FFF2-40B4-BE49-F238E27FC236}">
                <a16:creationId xmlns:a16="http://schemas.microsoft.com/office/drawing/2014/main" id="{FC11E86C-1BAE-D328-3FC1-49F4093F775A}"/>
              </a:ext>
            </a:extLst>
          </p:cNvPr>
          <p:cNvGrpSpPr/>
          <p:nvPr userDrawn="1"/>
        </p:nvGrpSpPr>
        <p:grpSpPr>
          <a:xfrm>
            <a:off x="0" y="7"/>
            <a:ext cx="43891200" cy="5344511"/>
            <a:chOff x="0" y="-1"/>
            <a:chExt cx="12192000" cy="1219223"/>
          </a:xfrm>
        </p:grpSpPr>
        <p:sp>
          <p:nvSpPr>
            <p:cNvPr id="6" name="Document 5">
              <a:extLst>
                <a:ext uri="{FF2B5EF4-FFF2-40B4-BE49-F238E27FC236}">
                  <a16:creationId xmlns:a16="http://schemas.microsoft.com/office/drawing/2014/main" id="{FDA6D10E-D6C0-B267-8CA2-C9EBCD9D32A1}"/>
                </a:ext>
              </a:extLst>
            </p:cNvPr>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400"/>
            </a:p>
          </p:txBody>
        </p:sp>
        <p:sp>
          <p:nvSpPr>
            <p:cNvPr id="7" name="Document 6">
              <a:extLst>
                <a:ext uri="{FF2B5EF4-FFF2-40B4-BE49-F238E27FC236}">
                  <a16:creationId xmlns:a16="http://schemas.microsoft.com/office/drawing/2014/main" id="{8C340A78-2859-CB97-13FD-79477E762739}"/>
                </a:ext>
              </a:extLst>
            </p:cNvPr>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400" dirty="0"/>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3762197" rtl="0" eaLnBrk="1" latinLnBrk="0" hangingPunct="1">
        <a:spcBef>
          <a:spcPct val="0"/>
        </a:spcBef>
        <a:buNone/>
        <a:defRPr sz="7500" kern="1200">
          <a:solidFill>
            <a:schemeClr val="bg1"/>
          </a:solidFill>
          <a:latin typeface="Trebuchet MS" pitchFamily="34" charset="0"/>
          <a:ea typeface="+mj-ea"/>
          <a:cs typeface="+mj-cs"/>
        </a:defRPr>
      </a:lvl1pPr>
    </p:titleStyle>
    <p:bodyStyle>
      <a:lvl1pPr marL="1410826" indent="-1410826" algn="l" defTabSz="3762197" rtl="0" eaLnBrk="1" latinLnBrk="0" hangingPunct="1">
        <a:spcBef>
          <a:spcPct val="20000"/>
        </a:spcBef>
        <a:buFont typeface="Arial" pitchFamily="34" charset="0"/>
        <a:buChar char="•"/>
        <a:defRPr sz="13202" kern="1200">
          <a:solidFill>
            <a:schemeClr val="tx1"/>
          </a:solidFill>
          <a:latin typeface="+mn-lt"/>
          <a:ea typeface="+mn-ea"/>
          <a:cs typeface="+mn-cs"/>
        </a:defRPr>
      </a:lvl1pPr>
      <a:lvl2pPr marL="3056786" indent="-1175687" algn="l" defTabSz="3762197" rtl="0" eaLnBrk="1" latinLnBrk="0" hangingPunct="1">
        <a:spcBef>
          <a:spcPct val="20000"/>
        </a:spcBef>
        <a:buFont typeface="Arial" pitchFamily="34" charset="0"/>
        <a:buChar char="–"/>
        <a:defRPr sz="11602" kern="1200">
          <a:solidFill>
            <a:schemeClr val="tx1"/>
          </a:solidFill>
          <a:latin typeface="+mn-lt"/>
          <a:ea typeface="+mn-ea"/>
          <a:cs typeface="+mn-cs"/>
        </a:defRPr>
      </a:lvl2pPr>
      <a:lvl3pPr marL="4702747" indent="-940550" algn="l" defTabSz="3762197"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847"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943"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6041"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7141"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8239"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9337"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9pPr>
    </p:bodyStyle>
    <p:otherStyle>
      <a:defPPr>
        <a:defRPr lang="en-US"/>
      </a:defPPr>
      <a:lvl1pPr marL="0" algn="l" defTabSz="3762197" rtl="0" eaLnBrk="1" latinLnBrk="0" hangingPunct="1">
        <a:defRPr sz="7400" kern="1200">
          <a:solidFill>
            <a:schemeClr val="tx1"/>
          </a:solidFill>
          <a:latin typeface="+mn-lt"/>
          <a:ea typeface="+mn-ea"/>
          <a:cs typeface="+mn-cs"/>
        </a:defRPr>
      </a:lvl1pPr>
      <a:lvl2pPr marL="1881099" algn="l" defTabSz="3762197" rtl="0" eaLnBrk="1" latinLnBrk="0" hangingPunct="1">
        <a:defRPr sz="7400" kern="1200">
          <a:solidFill>
            <a:schemeClr val="tx1"/>
          </a:solidFill>
          <a:latin typeface="+mn-lt"/>
          <a:ea typeface="+mn-ea"/>
          <a:cs typeface="+mn-cs"/>
        </a:defRPr>
      </a:lvl2pPr>
      <a:lvl3pPr marL="3762197" algn="l" defTabSz="3762197" rtl="0" eaLnBrk="1" latinLnBrk="0" hangingPunct="1">
        <a:defRPr sz="7400" kern="1200">
          <a:solidFill>
            <a:schemeClr val="tx1"/>
          </a:solidFill>
          <a:latin typeface="+mn-lt"/>
          <a:ea typeface="+mn-ea"/>
          <a:cs typeface="+mn-cs"/>
        </a:defRPr>
      </a:lvl3pPr>
      <a:lvl4pPr marL="5643296" algn="l" defTabSz="3762197" rtl="0" eaLnBrk="1" latinLnBrk="0" hangingPunct="1">
        <a:defRPr sz="7400" kern="1200">
          <a:solidFill>
            <a:schemeClr val="tx1"/>
          </a:solidFill>
          <a:latin typeface="+mn-lt"/>
          <a:ea typeface="+mn-ea"/>
          <a:cs typeface="+mn-cs"/>
        </a:defRPr>
      </a:lvl4pPr>
      <a:lvl5pPr marL="7524396" algn="l" defTabSz="3762197" rtl="0" eaLnBrk="1" latinLnBrk="0" hangingPunct="1">
        <a:defRPr sz="7400" kern="1200">
          <a:solidFill>
            <a:schemeClr val="tx1"/>
          </a:solidFill>
          <a:latin typeface="+mn-lt"/>
          <a:ea typeface="+mn-ea"/>
          <a:cs typeface="+mn-cs"/>
        </a:defRPr>
      </a:lvl5pPr>
      <a:lvl6pPr marL="9405494" algn="l" defTabSz="3762197" rtl="0" eaLnBrk="1" latinLnBrk="0" hangingPunct="1">
        <a:defRPr sz="7400" kern="1200">
          <a:solidFill>
            <a:schemeClr val="tx1"/>
          </a:solidFill>
          <a:latin typeface="+mn-lt"/>
          <a:ea typeface="+mn-ea"/>
          <a:cs typeface="+mn-cs"/>
        </a:defRPr>
      </a:lvl6pPr>
      <a:lvl7pPr marL="11286594" algn="l" defTabSz="3762197" rtl="0" eaLnBrk="1" latinLnBrk="0" hangingPunct="1">
        <a:defRPr sz="7400" kern="1200">
          <a:solidFill>
            <a:schemeClr val="tx1"/>
          </a:solidFill>
          <a:latin typeface="+mn-lt"/>
          <a:ea typeface="+mn-ea"/>
          <a:cs typeface="+mn-cs"/>
        </a:defRPr>
      </a:lvl7pPr>
      <a:lvl8pPr marL="13167690" algn="l" defTabSz="3762197" rtl="0" eaLnBrk="1" latinLnBrk="0" hangingPunct="1">
        <a:defRPr sz="7400" kern="1200">
          <a:solidFill>
            <a:schemeClr val="tx1"/>
          </a:solidFill>
          <a:latin typeface="+mn-lt"/>
          <a:ea typeface="+mn-ea"/>
          <a:cs typeface="+mn-cs"/>
        </a:defRPr>
      </a:lvl8pPr>
      <a:lvl9pPr marL="15048788" algn="l" defTabSz="3762197" rtl="0" eaLnBrk="1" latinLnBrk="0" hangingPunct="1">
        <a:defRPr sz="7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819153" y="32232607"/>
            <a:ext cx="2514600" cy="291981"/>
          </a:xfrm>
          <a:prstGeom prst="rect">
            <a:avLst/>
          </a:prstGeom>
          <a:noFill/>
          <a:ln w="9525">
            <a:noFill/>
            <a:miter lim="800000"/>
            <a:headEnd/>
            <a:tailEnd/>
          </a:ln>
          <a:effectLst/>
        </p:spPr>
        <p:txBody>
          <a:bodyPr lIns="78225" tIns="39105" rIns="78225" bIns="39105">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9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1960005640"/>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3762197" rtl="0" eaLnBrk="1" latinLnBrk="0" hangingPunct="1">
        <a:spcBef>
          <a:spcPct val="0"/>
        </a:spcBef>
        <a:buNone/>
        <a:defRPr sz="7500" kern="1200">
          <a:solidFill>
            <a:schemeClr val="bg1"/>
          </a:solidFill>
          <a:latin typeface="Trebuchet MS" pitchFamily="34" charset="0"/>
          <a:ea typeface="+mj-ea"/>
          <a:cs typeface="+mj-cs"/>
        </a:defRPr>
      </a:lvl1pPr>
    </p:titleStyle>
    <p:bodyStyle>
      <a:lvl1pPr marL="1410826" indent="-1410826" algn="l" defTabSz="3762197" rtl="0" eaLnBrk="1" latinLnBrk="0" hangingPunct="1">
        <a:spcBef>
          <a:spcPct val="20000"/>
        </a:spcBef>
        <a:buFont typeface="Arial" pitchFamily="34" charset="0"/>
        <a:buChar char="•"/>
        <a:defRPr sz="13202" kern="1200">
          <a:solidFill>
            <a:schemeClr val="tx1"/>
          </a:solidFill>
          <a:latin typeface="+mn-lt"/>
          <a:ea typeface="+mn-ea"/>
          <a:cs typeface="+mn-cs"/>
        </a:defRPr>
      </a:lvl1pPr>
      <a:lvl2pPr marL="3056786" indent="-1175687" algn="l" defTabSz="3762197" rtl="0" eaLnBrk="1" latinLnBrk="0" hangingPunct="1">
        <a:spcBef>
          <a:spcPct val="20000"/>
        </a:spcBef>
        <a:buFont typeface="Arial" pitchFamily="34" charset="0"/>
        <a:buChar char="–"/>
        <a:defRPr sz="11602" kern="1200">
          <a:solidFill>
            <a:schemeClr val="tx1"/>
          </a:solidFill>
          <a:latin typeface="+mn-lt"/>
          <a:ea typeface="+mn-ea"/>
          <a:cs typeface="+mn-cs"/>
        </a:defRPr>
      </a:lvl2pPr>
      <a:lvl3pPr marL="4702747" indent="-940550" algn="l" defTabSz="3762197"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847"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943"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6041"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7141"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8239"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9337"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9pPr>
    </p:bodyStyle>
    <p:otherStyle>
      <a:defPPr>
        <a:defRPr lang="en-US"/>
      </a:defPPr>
      <a:lvl1pPr marL="0" algn="l" defTabSz="3762197" rtl="0" eaLnBrk="1" latinLnBrk="0" hangingPunct="1">
        <a:defRPr sz="7400" kern="1200">
          <a:solidFill>
            <a:schemeClr val="tx1"/>
          </a:solidFill>
          <a:latin typeface="+mn-lt"/>
          <a:ea typeface="+mn-ea"/>
          <a:cs typeface="+mn-cs"/>
        </a:defRPr>
      </a:lvl1pPr>
      <a:lvl2pPr marL="1881099" algn="l" defTabSz="3762197" rtl="0" eaLnBrk="1" latinLnBrk="0" hangingPunct="1">
        <a:defRPr sz="7400" kern="1200">
          <a:solidFill>
            <a:schemeClr val="tx1"/>
          </a:solidFill>
          <a:latin typeface="+mn-lt"/>
          <a:ea typeface="+mn-ea"/>
          <a:cs typeface="+mn-cs"/>
        </a:defRPr>
      </a:lvl2pPr>
      <a:lvl3pPr marL="3762197" algn="l" defTabSz="3762197" rtl="0" eaLnBrk="1" latinLnBrk="0" hangingPunct="1">
        <a:defRPr sz="7400" kern="1200">
          <a:solidFill>
            <a:schemeClr val="tx1"/>
          </a:solidFill>
          <a:latin typeface="+mn-lt"/>
          <a:ea typeface="+mn-ea"/>
          <a:cs typeface="+mn-cs"/>
        </a:defRPr>
      </a:lvl3pPr>
      <a:lvl4pPr marL="5643296" algn="l" defTabSz="3762197" rtl="0" eaLnBrk="1" latinLnBrk="0" hangingPunct="1">
        <a:defRPr sz="7400" kern="1200">
          <a:solidFill>
            <a:schemeClr val="tx1"/>
          </a:solidFill>
          <a:latin typeface="+mn-lt"/>
          <a:ea typeface="+mn-ea"/>
          <a:cs typeface="+mn-cs"/>
        </a:defRPr>
      </a:lvl4pPr>
      <a:lvl5pPr marL="7524396" algn="l" defTabSz="3762197" rtl="0" eaLnBrk="1" latinLnBrk="0" hangingPunct="1">
        <a:defRPr sz="7400" kern="1200">
          <a:solidFill>
            <a:schemeClr val="tx1"/>
          </a:solidFill>
          <a:latin typeface="+mn-lt"/>
          <a:ea typeface="+mn-ea"/>
          <a:cs typeface="+mn-cs"/>
        </a:defRPr>
      </a:lvl5pPr>
      <a:lvl6pPr marL="9405494" algn="l" defTabSz="3762197" rtl="0" eaLnBrk="1" latinLnBrk="0" hangingPunct="1">
        <a:defRPr sz="7400" kern="1200">
          <a:solidFill>
            <a:schemeClr val="tx1"/>
          </a:solidFill>
          <a:latin typeface="+mn-lt"/>
          <a:ea typeface="+mn-ea"/>
          <a:cs typeface="+mn-cs"/>
        </a:defRPr>
      </a:lvl6pPr>
      <a:lvl7pPr marL="11286594" algn="l" defTabSz="3762197" rtl="0" eaLnBrk="1" latinLnBrk="0" hangingPunct="1">
        <a:defRPr sz="7400" kern="1200">
          <a:solidFill>
            <a:schemeClr val="tx1"/>
          </a:solidFill>
          <a:latin typeface="+mn-lt"/>
          <a:ea typeface="+mn-ea"/>
          <a:cs typeface="+mn-cs"/>
        </a:defRPr>
      </a:lvl7pPr>
      <a:lvl8pPr marL="13167690" algn="l" defTabSz="3762197" rtl="0" eaLnBrk="1" latinLnBrk="0" hangingPunct="1">
        <a:defRPr sz="7400" kern="1200">
          <a:solidFill>
            <a:schemeClr val="tx1"/>
          </a:solidFill>
          <a:latin typeface="+mn-lt"/>
          <a:ea typeface="+mn-ea"/>
          <a:cs typeface="+mn-cs"/>
        </a:defRPr>
      </a:lvl8pPr>
      <a:lvl9pPr marL="15048788" algn="l" defTabSz="3762197" rtl="0" eaLnBrk="1" latinLnBrk="0" hangingPunct="1">
        <a:defRPr sz="7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gif"/><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4B5B85C-55A0-958B-8B02-2FB809607B81}"/>
              </a:ext>
            </a:extLst>
          </p:cNvPr>
          <p:cNvSpPr>
            <a:spLocks noGrp="1"/>
          </p:cNvSpPr>
          <p:nvPr>
            <p:ph type="body" sz="quarter" idx="11"/>
          </p:nvPr>
        </p:nvSpPr>
        <p:spPr>
          <a:xfrm>
            <a:off x="438092" y="5780019"/>
            <a:ext cx="10199128" cy="712277"/>
          </a:xfrm>
        </p:spPr>
        <p:txBody>
          <a:bodyPr/>
          <a:lstStyle/>
          <a:p>
            <a:r>
              <a:rPr lang="en-US" sz="3600" dirty="0"/>
              <a:t>Main Objective</a:t>
            </a:r>
          </a:p>
        </p:txBody>
      </p:sp>
      <p:sp>
        <p:nvSpPr>
          <p:cNvPr id="5" name="Text Placeholder 4">
            <a:extLst>
              <a:ext uri="{FF2B5EF4-FFF2-40B4-BE49-F238E27FC236}">
                <a16:creationId xmlns:a16="http://schemas.microsoft.com/office/drawing/2014/main" id="{34C83E54-546A-F1B2-002B-84EE36B786F8}"/>
              </a:ext>
            </a:extLst>
          </p:cNvPr>
          <p:cNvSpPr>
            <a:spLocks noGrp="1"/>
          </p:cNvSpPr>
          <p:nvPr>
            <p:ph type="body" sz="quarter" idx="21"/>
          </p:nvPr>
        </p:nvSpPr>
        <p:spPr>
          <a:xfrm>
            <a:off x="384511" y="10411098"/>
            <a:ext cx="10252709" cy="8162234"/>
          </a:xfrm>
          <a:ln>
            <a:solidFill>
              <a:schemeClr val="tx1"/>
            </a:solidFill>
          </a:ln>
        </p:spPr>
        <p:txBody>
          <a:bodyPr/>
          <a:lstStyle/>
          <a:p>
            <a:r>
              <a:rPr lang="en-US" sz="3600" dirty="0"/>
              <a:t>A stratified RCT was conducted to compare deep </a:t>
            </a:r>
            <a:r>
              <a:rPr lang="en-US" sz="3600" dirty="0" err="1"/>
              <a:t>v.s</a:t>
            </a:r>
            <a:r>
              <a:rPr lang="en-US" sz="3600" dirty="0"/>
              <a:t>. moderate </a:t>
            </a:r>
            <a:r>
              <a:rPr lang="en-US" sz="3600" b="1" dirty="0"/>
              <a:t>neuromuscular blockade </a:t>
            </a:r>
            <a:r>
              <a:rPr lang="en-US" sz="3600" dirty="0"/>
              <a:t>(NMB) for reducing average </a:t>
            </a:r>
            <a:r>
              <a:rPr lang="en-US" sz="3600" b="1" dirty="0"/>
              <a:t>postoperative pain in minimally-invasive prostatectomies</a:t>
            </a:r>
            <a:r>
              <a:rPr lang="en-US" sz="3600" dirty="0"/>
              <a:t>. The prognostic factor (BMI) was measured inconsistently, and these values were used for stratified randomization. Later, corrected values were discovered, which makes it </a:t>
            </a:r>
            <a:r>
              <a:rPr lang="en-US" sz="3600" b="1" dirty="0"/>
              <a:t>unclear which BMI data should be used for the statistical analysis</a:t>
            </a:r>
          </a:p>
          <a:p>
            <a:endParaRPr lang="en-US" sz="3600" b="1" dirty="0"/>
          </a:p>
          <a:p>
            <a:r>
              <a:rPr lang="en-US" sz="3600" dirty="0"/>
              <a:t>Existing literature doesn’t cover our scenario, which means that we need to do all this work for us to be sure.</a:t>
            </a:r>
          </a:p>
        </p:txBody>
      </p:sp>
      <p:sp>
        <p:nvSpPr>
          <p:cNvPr id="7" name="Text Placeholder 6">
            <a:extLst>
              <a:ext uri="{FF2B5EF4-FFF2-40B4-BE49-F238E27FC236}">
                <a16:creationId xmlns:a16="http://schemas.microsoft.com/office/drawing/2014/main" id="{C215B88C-A231-B28D-EA25-CE849FC66B7B}"/>
              </a:ext>
            </a:extLst>
          </p:cNvPr>
          <p:cNvSpPr>
            <a:spLocks noGrp="1"/>
          </p:cNvSpPr>
          <p:nvPr>
            <p:ph type="body" sz="quarter" idx="23"/>
          </p:nvPr>
        </p:nvSpPr>
        <p:spPr>
          <a:xfrm>
            <a:off x="11560304" y="27797576"/>
            <a:ext cx="10199128" cy="3595138"/>
          </a:xfrm>
          <a:ln>
            <a:solidFill>
              <a:schemeClr val="tx1"/>
            </a:solidFill>
          </a:ln>
        </p:spPr>
        <p:txBody>
          <a:bodyPr/>
          <a:lstStyle/>
          <a:p>
            <a:r>
              <a:rPr lang="en-US" sz="3600" b="1" dirty="0"/>
              <a:t>Relative Bias, Coverage Rate, Power: </a:t>
            </a:r>
            <a:r>
              <a:rPr lang="en-US" sz="3600" dirty="0"/>
              <a:t>With larger sample sizes, the relative bias increased, and the coverage rate and power decreased as measurement error and the covariate effect increased. Smaller sample results were inconclusive (MCSE)</a:t>
            </a:r>
          </a:p>
        </p:txBody>
      </p:sp>
      <p:sp>
        <p:nvSpPr>
          <p:cNvPr id="8" name="Text Placeholder 7">
            <a:extLst>
              <a:ext uri="{FF2B5EF4-FFF2-40B4-BE49-F238E27FC236}">
                <a16:creationId xmlns:a16="http://schemas.microsoft.com/office/drawing/2014/main" id="{CFE982BF-9E4B-03EB-134F-B1A8CB6A0DA8}"/>
              </a:ext>
            </a:extLst>
          </p:cNvPr>
          <p:cNvSpPr>
            <a:spLocks noGrp="1"/>
          </p:cNvSpPr>
          <p:nvPr>
            <p:ph type="body" sz="quarter" idx="24"/>
          </p:nvPr>
        </p:nvSpPr>
        <p:spPr>
          <a:xfrm>
            <a:off x="11560304" y="26864160"/>
            <a:ext cx="10193562" cy="712277"/>
          </a:xfrm>
        </p:spPr>
        <p:txBody>
          <a:bodyPr/>
          <a:lstStyle/>
          <a:p>
            <a:r>
              <a:rPr lang="en-US" sz="3600" dirty="0"/>
              <a:t>Results</a:t>
            </a:r>
          </a:p>
        </p:txBody>
      </p:sp>
      <p:sp>
        <p:nvSpPr>
          <p:cNvPr id="11" name="Text Placeholder 10">
            <a:extLst>
              <a:ext uri="{FF2B5EF4-FFF2-40B4-BE49-F238E27FC236}">
                <a16:creationId xmlns:a16="http://schemas.microsoft.com/office/drawing/2014/main" id="{858FF131-AD4E-B363-95F8-46DC3BE64395}"/>
              </a:ext>
            </a:extLst>
          </p:cNvPr>
          <p:cNvSpPr>
            <a:spLocks noGrp="1"/>
          </p:cNvSpPr>
          <p:nvPr>
            <p:ph type="body" sz="quarter" idx="27"/>
          </p:nvPr>
        </p:nvSpPr>
        <p:spPr>
          <a:xfrm>
            <a:off x="33507430" y="22597690"/>
            <a:ext cx="9907757" cy="712277"/>
          </a:xfrm>
        </p:spPr>
        <p:txBody>
          <a:bodyPr/>
          <a:lstStyle/>
          <a:p>
            <a:r>
              <a:rPr lang="en-US" sz="3600" dirty="0"/>
              <a:t>References</a:t>
            </a:r>
          </a:p>
        </p:txBody>
      </p:sp>
      <p:sp>
        <p:nvSpPr>
          <p:cNvPr id="12" name="Text Placeholder 11">
            <a:extLst>
              <a:ext uri="{FF2B5EF4-FFF2-40B4-BE49-F238E27FC236}">
                <a16:creationId xmlns:a16="http://schemas.microsoft.com/office/drawing/2014/main" id="{2A7A40C7-2E64-BC2E-8F6F-275ACE7B5700}"/>
              </a:ext>
            </a:extLst>
          </p:cNvPr>
          <p:cNvSpPr>
            <a:spLocks noGrp="1"/>
          </p:cNvSpPr>
          <p:nvPr>
            <p:ph type="body" sz="quarter" idx="28"/>
          </p:nvPr>
        </p:nvSpPr>
        <p:spPr>
          <a:xfrm>
            <a:off x="33507429" y="23545438"/>
            <a:ext cx="9907757" cy="5527667"/>
          </a:xfrm>
          <a:ln>
            <a:solidFill>
              <a:schemeClr val="tx1"/>
            </a:solidFill>
          </a:ln>
        </p:spPr>
        <p:txBody>
          <a:bodyPr/>
          <a:lstStyle/>
          <a:p>
            <a:r>
              <a:rPr lang="en-US" sz="2800" dirty="0">
                <a:solidFill>
                  <a:srgbClr val="272524"/>
                </a:solidFill>
              </a:rPr>
              <a:t>1. Kahan, B. C., &amp; Morris, T. P. (2012). Improper analysis of trials </a:t>
            </a:r>
            <a:r>
              <a:rPr lang="en-US" sz="2800" dirty="0" err="1">
                <a:solidFill>
                  <a:srgbClr val="272524"/>
                </a:solidFill>
              </a:rPr>
              <a:t>randomised</a:t>
            </a:r>
            <a:r>
              <a:rPr lang="en-US" sz="2800" dirty="0">
                <a:solidFill>
                  <a:srgbClr val="272524"/>
                </a:solidFill>
              </a:rPr>
              <a:t> using stratified blocks or </a:t>
            </a:r>
            <a:r>
              <a:rPr lang="en-US" sz="2800" dirty="0" err="1">
                <a:solidFill>
                  <a:srgbClr val="272524"/>
                </a:solidFill>
              </a:rPr>
              <a:t>minimisation</a:t>
            </a:r>
            <a:r>
              <a:rPr lang="en-US" sz="2800" dirty="0">
                <a:solidFill>
                  <a:srgbClr val="272524"/>
                </a:solidFill>
              </a:rPr>
              <a:t>. </a:t>
            </a:r>
            <a:r>
              <a:rPr lang="en-US" sz="2800" i="1" dirty="0">
                <a:solidFill>
                  <a:srgbClr val="272524"/>
                </a:solidFill>
              </a:rPr>
              <a:t>Stat in med</a:t>
            </a:r>
            <a:r>
              <a:rPr lang="en-US" sz="2800" dirty="0">
                <a:solidFill>
                  <a:srgbClr val="272524"/>
                </a:solidFill>
              </a:rPr>
              <a:t>, </a:t>
            </a:r>
            <a:r>
              <a:rPr lang="en-US" sz="2800" i="1" dirty="0">
                <a:solidFill>
                  <a:srgbClr val="272524"/>
                </a:solidFill>
              </a:rPr>
              <a:t>31</a:t>
            </a:r>
            <a:r>
              <a:rPr lang="en-US" sz="2800" dirty="0">
                <a:solidFill>
                  <a:srgbClr val="272524"/>
                </a:solidFill>
              </a:rPr>
              <a:t>(4), 328–340. https://doi.org/10.1002/sim.4431</a:t>
            </a:r>
          </a:p>
          <a:p>
            <a:r>
              <a:rPr lang="en-US" sz="2800" dirty="0">
                <a:solidFill>
                  <a:srgbClr val="272524"/>
                </a:solidFill>
              </a:rPr>
              <a:t>2. Gerbershagen, H. J., et al. (2011). Determination of moderate-to-severe postoperative pain on the numeric rating scale: a cut-off point analysis applying four different methods. </a:t>
            </a:r>
            <a:r>
              <a:rPr lang="en-US" sz="2800" i="1" dirty="0">
                <a:solidFill>
                  <a:srgbClr val="272524"/>
                </a:solidFill>
              </a:rPr>
              <a:t>Br J Anaesth.,107</a:t>
            </a:r>
            <a:r>
              <a:rPr lang="en-US" sz="2800" dirty="0">
                <a:solidFill>
                  <a:srgbClr val="272524"/>
                </a:solidFill>
              </a:rPr>
              <a:t>(4), 619–626. </a:t>
            </a:r>
          </a:p>
          <a:p>
            <a:r>
              <a:rPr lang="en-US" altLang="en-US" sz="2800" dirty="0">
                <a:solidFill>
                  <a:srgbClr val="272524"/>
                </a:solidFill>
              </a:rPr>
              <a:t>3. Robinson, L. D., &amp; Jewell, N. P. (1991). Some Surprising Results about Covariate Adjustment in Logistic Regression Models. </a:t>
            </a:r>
            <a:r>
              <a:rPr lang="en-US" altLang="en-US" sz="2800" i="1" dirty="0">
                <a:solidFill>
                  <a:srgbClr val="272524"/>
                </a:solidFill>
              </a:rPr>
              <a:t>Int Stat Rev.,</a:t>
            </a:r>
            <a:r>
              <a:rPr lang="en-US" altLang="en-US" sz="2800" dirty="0">
                <a:solidFill>
                  <a:srgbClr val="272524"/>
                </a:solidFill>
              </a:rPr>
              <a:t> </a:t>
            </a:r>
            <a:r>
              <a:rPr lang="en-US" altLang="en-US" sz="2800" i="1" dirty="0">
                <a:solidFill>
                  <a:srgbClr val="272524"/>
                </a:solidFill>
              </a:rPr>
              <a:t>59</a:t>
            </a:r>
            <a:r>
              <a:rPr lang="en-US" altLang="en-US" sz="2800" dirty="0">
                <a:solidFill>
                  <a:srgbClr val="272524"/>
                </a:solidFill>
              </a:rPr>
              <a:t>(2), 227–240. https://doi.org/10.2307/1403444</a:t>
            </a:r>
          </a:p>
        </p:txBody>
      </p:sp>
      <p:sp>
        <p:nvSpPr>
          <p:cNvPr id="13" name="Text Placeholder 12">
            <a:extLst>
              <a:ext uri="{FF2B5EF4-FFF2-40B4-BE49-F238E27FC236}">
                <a16:creationId xmlns:a16="http://schemas.microsoft.com/office/drawing/2014/main" id="{82F12360-9112-8A62-C99C-756549DD1B68}"/>
              </a:ext>
            </a:extLst>
          </p:cNvPr>
          <p:cNvSpPr>
            <a:spLocks noGrp="1"/>
          </p:cNvSpPr>
          <p:nvPr>
            <p:ph type="body" sz="quarter" idx="29"/>
          </p:nvPr>
        </p:nvSpPr>
        <p:spPr>
          <a:xfrm>
            <a:off x="33545352" y="29274918"/>
            <a:ext cx="9907757" cy="619944"/>
          </a:xfrm>
        </p:spPr>
        <p:txBody>
          <a:bodyPr/>
          <a:lstStyle/>
          <a:p>
            <a:r>
              <a:rPr lang="en-US" sz="3000" dirty="0"/>
              <a:t>Acknowledgements</a:t>
            </a:r>
          </a:p>
        </p:txBody>
      </p:sp>
      <p:sp>
        <p:nvSpPr>
          <p:cNvPr id="14" name="Text Placeholder 13">
            <a:extLst>
              <a:ext uri="{FF2B5EF4-FFF2-40B4-BE49-F238E27FC236}">
                <a16:creationId xmlns:a16="http://schemas.microsoft.com/office/drawing/2014/main" id="{6A649161-1233-2C83-5C46-9BC157533990}"/>
              </a:ext>
            </a:extLst>
          </p:cNvPr>
          <p:cNvSpPr>
            <a:spLocks noGrp="1"/>
          </p:cNvSpPr>
          <p:nvPr>
            <p:ph type="body" sz="quarter" idx="30"/>
          </p:nvPr>
        </p:nvSpPr>
        <p:spPr>
          <a:xfrm>
            <a:off x="33545352" y="30129277"/>
            <a:ext cx="9907756" cy="1169551"/>
          </a:xfrm>
          <a:ln>
            <a:solidFill>
              <a:schemeClr val="tx1"/>
            </a:solidFill>
          </a:ln>
        </p:spPr>
        <p:txBody>
          <a:bodyPr/>
          <a:lstStyle/>
          <a:p>
            <a:pPr algn="ctr"/>
            <a:r>
              <a:rPr lang="en-US" dirty="0">
                <a:solidFill>
                  <a:srgbClr val="272524"/>
                </a:solidFill>
              </a:rPr>
              <a:t>QSURE is funded by NCI (R25 CA214255) and MSK Society. </a:t>
            </a:r>
          </a:p>
          <a:p>
            <a:pPr algn="ctr"/>
            <a:r>
              <a:rPr lang="en-US" dirty="0">
                <a:solidFill>
                  <a:srgbClr val="272524"/>
                </a:solidFill>
              </a:rPr>
              <a:t>Special thanks to Dr. Margaret Du, Dr. Colin Begg, and Richard Koppenaal for making this project possible</a:t>
            </a:r>
          </a:p>
        </p:txBody>
      </p:sp>
      <p:sp>
        <p:nvSpPr>
          <p:cNvPr id="15" name="Text Placeholder 14">
            <a:extLst>
              <a:ext uri="{FF2B5EF4-FFF2-40B4-BE49-F238E27FC236}">
                <a16:creationId xmlns:a16="http://schemas.microsoft.com/office/drawing/2014/main" id="{DE62F441-B419-E0BE-6016-0B2BCD4DA30A}"/>
              </a:ext>
            </a:extLst>
          </p:cNvPr>
          <p:cNvSpPr>
            <a:spLocks noGrp="1"/>
          </p:cNvSpPr>
          <p:nvPr>
            <p:ph type="body" sz="quarter" idx="96"/>
          </p:nvPr>
        </p:nvSpPr>
        <p:spPr>
          <a:xfrm>
            <a:off x="11509774" y="6719025"/>
            <a:ext cx="10199129" cy="13788390"/>
          </a:xfrm>
          <a:ln>
            <a:solidFill>
              <a:schemeClr val="tx1"/>
            </a:solidFill>
          </a:ln>
        </p:spPr>
        <p:txBody>
          <a:bodyPr/>
          <a:lstStyle/>
          <a:p>
            <a:r>
              <a:rPr lang="en-US" sz="3600" dirty="0"/>
              <a:t>A </a:t>
            </a:r>
            <a:r>
              <a:rPr lang="en-US" sz="3600" b="1" dirty="0"/>
              <a:t>simulation study </a:t>
            </a:r>
            <a:r>
              <a:rPr lang="en-US" sz="3600" dirty="0"/>
              <a:t>was performed using </a:t>
            </a:r>
            <a:r>
              <a:rPr lang="en-US" sz="3600" b="1" dirty="0"/>
              <a:t>Ordinal Logistic Regression </a:t>
            </a:r>
            <a:r>
              <a:rPr lang="en-US" sz="3600" dirty="0"/>
              <a:t>as our model to evaluate the performance of the treatment effect estimator under different degrees of measurement error. </a:t>
            </a:r>
          </a:p>
          <a:p>
            <a:endParaRPr lang="en-US" sz="3600" dirty="0"/>
          </a:p>
          <a:p>
            <a:pPr marL="457234" indent="-457234">
              <a:buFont typeface="Wingdings" panose="05000000000000000000" pitchFamily="2" charset="2"/>
              <a:buChar char="Ø"/>
            </a:pPr>
            <a:r>
              <a:rPr lang="en-US" sz="3600" b="1" dirty="0"/>
              <a:t>Outcome</a:t>
            </a:r>
            <a:r>
              <a:rPr lang="en-US" sz="3600" dirty="0"/>
              <a:t>: Validated categorization</a:t>
            </a:r>
            <a:r>
              <a:rPr lang="en-US" sz="3600" baseline="30000" dirty="0"/>
              <a:t>2 </a:t>
            </a:r>
            <a:r>
              <a:rPr lang="en-US" sz="3600" dirty="0"/>
              <a:t>of average postoperative pain: 0-2 (no/mild), 3-4 (moderate), 5+ (severe)</a:t>
            </a:r>
          </a:p>
          <a:p>
            <a:pPr marL="457234" indent="-457234">
              <a:buFont typeface="Wingdings" panose="05000000000000000000" pitchFamily="2" charset="2"/>
              <a:buChar char="Ø"/>
            </a:pPr>
            <a:r>
              <a:rPr lang="en-US" sz="3600" b="1" dirty="0"/>
              <a:t>Errors</a:t>
            </a:r>
            <a:r>
              <a:rPr lang="en-US" sz="3600" dirty="0"/>
              <a:t>: The distribution of the difference between corrected and per-randomized BMI data approximately matched a Laplace distribution</a:t>
            </a:r>
          </a:p>
          <a:p>
            <a:pPr marL="457234" indent="-457234">
              <a:buFont typeface="Wingdings" panose="05000000000000000000" pitchFamily="2" charset="2"/>
              <a:buChar char="Ø"/>
            </a:pPr>
            <a:r>
              <a:rPr lang="en-US" sz="3600" b="1" dirty="0"/>
              <a:t>Stratification</a:t>
            </a:r>
            <a:r>
              <a:rPr lang="en-US" sz="3600" dirty="0"/>
              <a:t>: (BMI + error) data were stratified into BMI &gt;= 30 and BMI &lt; 30 groups, then randomized 50/50 to each treatment arm</a:t>
            </a:r>
          </a:p>
          <a:p>
            <a:pPr marL="457234" indent="-457234">
              <a:buFont typeface="Wingdings" panose="05000000000000000000" pitchFamily="2" charset="2"/>
              <a:buChar char="Ø"/>
            </a:pPr>
            <a:r>
              <a:rPr lang="en-US" sz="3600" b="1" dirty="0"/>
              <a:t>Performance</a:t>
            </a:r>
            <a:r>
              <a:rPr lang="en-US" sz="3600" dirty="0"/>
              <a:t>: Relative Bias, Coverage, Power, and Empirical/Model-Based Standard Errors were used</a:t>
            </a:r>
          </a:p>
          <a:p>
            <a:pPr marL="457234" indent="-457234">
              <a:buFont typeface="Wingdings" panose="05000000000000000000" pitchFamily="2" charset="2"/>
              <a:buChar char="Ø"/>
            </a:pPr>
            <a:endParaRPr lang="en-US" sz="3600" dirty="0"/>
          </a:p>
          <a:p>
            <a:r>
              <a:rPr lang="en-US" sz="3600" dirty="0"/>
              <a:t>The simulation results informed which model to interpret</a:t>
            </a:r>
          </a:p>
        </p:txBody>
      </p:sp>
      <p:sp>
        <p:nvSpPr>
          <p:cNvPr id="18" name="Text Placeholder 17">
            <a:extLst>
              <a:ext uri="{FF2B5EF4-FFF2-40B4-BE49-F238E27FC236}">
                <a16:creationId xmlns:a16="http://schemas.microsoft.com/office/drawing/2014/main" id="{1DFA2C35-6ADB-BF10-54FE-08BB18A1955A}"/>
              </a:ext>
            </a:extLst>
          </p:cNvPr>
          <p:cNvSpPr>
            <a:spLocks noGrp="1"/>
          </p:cNvSpPr>
          <p:nvPr>
            <p:ph type="body" sz="quarter" idx="161"/>
          </p:nvPr>
        </p:nvSpPr>
        <p:spPr>
          <a:xfrm>
            <a:off x="5302881" y="2635387"/>
            <a:ext cx="33440915" cy="707886"/>
          </a:xfrm>
        </p:spPr>
        <p:txBody>
          <a:bodyPr/>
          <a:lstStyle/>
          <a:p>
            <a:r>
              <a:rPr lang="en-US" sz="4000" dirty="0"/>
              <a:t>Daniel Jang</a:t>
            </a:r>
            <a:fld id="{32DAD8AD-20E6-4F71-B89D-05492188377E}" type="slidenum">
              <a:rPr lang="en-US" sz="4000" baseline="30000" smtClean="0"/>
              <a:t>1</a:t>
            </a:fld>
            <a:r>
              <a:rPr lang="en-US" sz="4000" dirty="0"/>
              <a:t>, Kay See Tan</a:t>
            </a:r>
            <a:r>
              <a:rPr lang="en-US" sz="4000" baseline="30000" dirty="0"/>
              <a:t>2</a:t>
            </a:r>
            <a:endParaRPr lang="en-US" sz="4000" dirty="0"/>
          </a:p>
        </p:txBody>
      </p:sp>
      <p:sp>
        <p:nvSpPr>
          <p:cNvPr id="19" name="Text Placeholder 18">
            <a:extLst>
              <a:ext uri="{FF2B5EF4-FFF2-40B4-BE49-F238E27FC236}">
                <a16:creationId xmlns:a16="http://schemas.microsoft.com/office/drawing/2014/main" id="{A75FABC5-AFB2-6741-EFF4-D0CE14D1D0D4}"/>
              </a:ext>
            </a:extLst>
          </p:cNvPr>
          <p:cNvSpPr>
            <a:spLocks noGrp="1"/>
          </p:cNvSpPr>
          <p:nvPr>
            <p:ph type="body" sz="quarter" idx="195"/>
          </p:nvPr>
        </p:nvSpPr>
        <p:spPr>
          <a:xfrm>
            <a:off x="5249112" y="3526687"/>
            <a:ext cx="33440915" cy="400110"/>
          </a:xfrm>
        </p:spPr>
        <p:txBody>
          <a:bodyPr/>
          <a:lstStyle/>
          <a:p>
            <a:r>
              <a:rPr lang="en-US" dirty="0"/>
              <a:t>Amherst College</a:t>
            </a:r>
            <a:r>
              <a:rPr lang="en-US" baseline="30000" dirty="0"/>
              <a:t>1</a:t>
            </a:r>
            <a:r>
              <a:rPr lang="en-US" dirty="0"/>
              <a:t>, Memorial Sloan Kettering Cancer Center</a:t>
            </a:r>
            <a:r>
              <a:rPr lang="en-US" baseline="30000" dirty="0"/>
              <a:t>2</a:t>
            </a:r>
            <a:endParaRPr lang="en-US" dirty="0"/>
          </a:p>
        </p:txBody>
      </p:sp>
      <p:sp>
        <p:nvSpPr>
          <p:cNvPr id="20" name="Text Placeholder 19">
            <a:extLst>
              <a:ext uri="{FF2B5EF4-FFF2-40B4-BE49-F238E27FC236}">
                <a16:creationId xmlns:a16="http://schemas.microsoft.com/office/drawing/2014/main" id="{3BACED76-9DD7-97AA-2044-90954A1D9417}"/>
              </a:ext>
            </a:extLst>
          </p:cNvPr>
          <p:cNvSpPr>
            <a:spLocks noGrp="1"/>
          </p:cNvSpPr>
          <p:nvPr>
            <p:ph type="body" sz="quarter" idx="196"/>
          </p:nvPr>
        </p:nvSpPr>
        <p:spPr>
          <a:xfrm>
            <a:off x="942978" y="439923"/>
            <a:ext cx="41805225" cy="1988237"/>
          </a:xfrm>
        </p:spPr>
        <p:txBody>
          <a:bodyPr/>
          <a:lstStyle/>
          <a:p>
            <a:r>
              <a:rPr lang="en-US" sz="5600" dirty="0"/>
              <a:t>Errors in Stratified Randomization with a Continuous Prognostic Factor and an Ordinal Outcome: </a:t>
            </a:r>
          </a:p>
          <a:p>
            <a:r>
              <a:rPr lang="en-US" sz="5600" dirty="0"/>
              <a:t>A Simulation Study Motivated by a Prostatectomy Trial</a:t>
            </a:r>
          </a:p>
        </p:txBody>
      </p:sp>
      <p:sp>
        <p:nvSpPr>
          <p:cNvPr id="33" name="Text Placeholder 6">
            <a:extLst>
              <a:ext uri="{FF2B5EF4-FFF2-40B4-BE49-F238E27FC236}">
                <a16:creationId xmlns:a16="http://schemas.microsoft.com/office/drawing/2014/main" id="{A5DCAAD7-66DD-194A-7C42-8332DA9B5A16}"/>
              </a:ext>
            </a:extLst>
          </p:cNvPr>
          <p:cNvSpPr txBox="1">
            <a:spLocks/>
          </p:cNvSpPr>
          <p:nvPr/>
        </p:nvSpPr>
        <p:spPr>
          <a:xfrm>
            <a:off x="22581457" y="6799232"/>
            <a:ext cx="10199128" cy="5170646"/>
          </a:xfrm>
          <a:prstGeom prst="rect">
            <a:avLst/>
          </a:prstGeom>
          <a:ln>
            <a:solidFill>
              <a:schemeClr val="tx1"/>
            </a:solidFill>
          </a:ln>
        </p:spPr>
        <p:txBody>
          <a:bodyPr wrap="square" lIns="91440" tIns="91440" rIns="91440" bIns="91440" anchor="t" anchorCtr="0">
            <a:spAutoFit/>
          </a:bodyPr>
          <a:lstStyle>
            <a:lvl1pPr marL="0" indent="0" algn="l" defTabSz="3761915" rtl="0" eaLnBrk="1" latinLnBrk="0" hangingPunct="1">
              <a:spcBef>
                <a:spcPct val="20000"/>
              </a:spcBef>
              <a:buFont typeface="Arial" pitchFamily="34" charset="0"/>
              <a:buNone/>
              <a:defRPr sz="20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273565"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2pPr>
            <a:lvl3pPr marL="1763397"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3pPr>
            <a:lvl4pPr marL="2302214" indent="-538817"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4pPr>
            <a:lvl5pPr marL="2694080" indent="-391866"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sz="3600" b="1" dirty="0"/>
              <a:t>Standard Error: </a:t>
            </a:r>
            <a:r>
              <a:rPr lang="en-US" sz="3600" dirty="0"/>
              <a:t>We discovered a </a:t>
            </a:r>
            <a:r>
              <a:rPr lang="en-US" sz="3600" b="1" dirty="0"/>
              <a:t>counterintuitive</a:t>
            </a:r>
            <a:r>
              <a:rPr lang="en-US" sz="3600" dirty="0"/>
              <a:t> result with ordinal logistic regression and measurement error. Both Empirical and Model-Based Standard Error decreased as measurement error on the covariate (BMI) increased. This result was consistent with the clinical data. Previous work has hinted at the </a:t>
            </a:r>
            <a:r>
              <a:rPr lang="en-US" sz="3600" b="1" dirty="0"/>
              <a:t>non-collapsibility</a:t>
            </a:r>
            <a:r>
              <a:rPr lang="en-US" sz="3600" dirty="0"/>
              <a:t> issue with (ordinal) logistic regression</a:t>
            </a:r>
            <a:r>
              <a:rPr lang="en-US" sz="3600" baseline="30000" dirty="0"/>
              <a:t>3</a:t>
            </a:r>
            <a:endParaRPr lang="en-US" sz="3600" dirty="0"/>
          </a:p>
        </p:txBody>
      </p:sp>
      <p:sp>
        <p:nvSpPr>
          <p:cNvPr id="36" name="Rectangle: Rounded Corners 35">
            <a:extLst>
              <a:ext uri="{FF2B5EF4-FFF2-40B4-BE49-F238E27FC236}">
                <a16:creationId xmlns:a16="http://schemas.microsoft.com/office/drawing/2014/main" id="{6DF09F77-1A25-4797-A444-45BF6C1A46A2}"/>
              </a:ext>
            </a:extLst>
          </p:cNvPr>
          <p:cNvSpPr/>
          <p:nvPr/>
        </p:nvSpPr>
        <p:spPr>
          <a:xfrm>
            <a:off x="589131" y="31957205"/>
            <a:ext cx="2836674" cy="762393"/>
          </a:xfrm>
          <a:prstGeom prst="roundRect">
            <a:avLst/>
          </a:prstGeom>
          <a:solidFill>
            <a:srgbClr val="203864"/>
          </a:solidFill>
          <a:ln>
            <a:solidFill>
              <a:srgbClr val="2038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E77F99DF-E102-4F1A-DFAB-4616417F4877}"/>
              </a:ext>
            </a:extLst>
          </p:cNvPr>
          <p:cNvSpPr/>
          <p:nvPr/>
        </p:nvSpPr>
        <p:spPr>
          <a:xfrm>
            <a:off x="587354" y="757362"/>
            <a:ext cx="2381251" cy="2381251"/>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Mission of Amherst College | President &amp; College Leadership | Amherst  College">
            <a:extLst>
              <a:ext uri="{FF2B5EF4-FFF2-40B4-BE49-F238E27FC236}">
                <a16:creationId xmlns:a16="http://schemas.microsoft.com/office/drawing/2014/main" id="{C8F102FA-C4EB-ACE2-BB36-46D84CDD62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354" y="757362"/>
            <a:ext cx="2381251" cy="23812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emorial Sloan-Kettering Cancer Center Employer Profile - AUTM">
            <a:extLst>
              <a:ext uri="{FF2B5EF4-FFF2-40B4-BE49-F238E27FC236}">
                <a16:creationId xmlns:a16="http://schemas.microsoft.com/office/drawing/2014/main" id="{39A29678-9F31-74CE-1C39-14F5CF9468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22646" y="970234"/>
            <a:ext cx="1781177" cy="1995777"/>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4">
            <a:extLst>
              <a:ext uri="{FF2B5EF4-FFF2-40B4-BE49-F238E27FC236}">
                <a16:creationId xmlns:a16="http://schemas.microsoft.com/office/drawing/2014/main" id="{646177B4-B276-4007-35CB-79A4B83CF8FC}"/>
              </a:ext>
            </a:extLst>
          </p:cNvPr>
          <p:cNvSpPr txBox="1">
            <a:spLocks/>
          </p:cNvSpPr>
          <p:nvPr/>
        </p:nvSpPr>
        <p:spPr>
          <a:xfrm>
            <a:off x="438092" y="6678855"/>
            <a:ext cx="10199128" cy="2400657"/>
          </a:xfrm>
          <a:prstGeom prst="rect">
            <a:avLst/>
          </a:prstGeom>
          <a:ln>
            <a:solidFill>
              <a:schemeClr val="tx1"/>
            </a:solidFill>
          </a:ln>
        </p:spPr>
        <p:txBody>
          <a:bodyPr wrap="square" lIns="91440" tIns="91440" rIns="91440" bIns="91440" anchor="t" anchorCtr="0">
            <a:spAutoFit/>
          </a:bodyPr>
          <a:lstStyle>
            <a:lvl1pPr marL="0" indent="0" algn="l" defTabSz="3761915" rtl="0" eaLnBrk="1" latinLnBrk="0" hangingPunct="1">
              <a:spcBef>
                <a:spcPct val="20000"/>
              </a:spcBef>
              <a:buFont typeface="Arial" pitchFamily="34" charset="0"/>
              <a:buNone/>
              <a:defRPr sz="20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273565"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2pPr>
            <a:lvl3pPr marL="1763397"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3pPr>
            <a:lvl4pPr marL="2302214" indent="-538817"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4pPr>
            <a:lvl5pPr marL="2694080" indent="-391866"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sz="3600" dirty="0"/>
              <a:t>Assess how </a:t>
            </a:r>
            <a:r>
              <a:rPr lang="en-US" sz="3600" b="1" dirty="0"/>
              <a:t>errors in stratified randomization </a:t>
            </a:r>
            <a:r>
              <a:rPr lang="en-US" sz="3600" dirty="0"/>
              <a:t>with a dichotomized prognostic factor affect the performance of the treatment effect estimator under an ordinal outcome</a:t>
            </a:r>
          </a:p>
        </p:txBody>
      </p:sp>
      <p:sp>
        <p:nvSpPr>
          <p:cNvPr id="21" name="Text Placeholder 2">
            <a:extLst>
              <a:ext uri="{FF2B5EF4-FFF2-40B4-BE49-F238E27FC236}">
                <a16:creationId xmlns:a16="http://schemas.microsoft.com/office/drawing/2014/main" id="{0F062F27-D61C-5FC1-7D87-BD7B35E58BEA}"/>
              </a:ext>
            </a:extLst>
          </p:cNvPr>
          <p:cNvSpPr txBox="1">
            <a:spLocks/>
          </p:cNvSpPr>
          <p:nvPr/>
        </p:nvSpPr>
        <p:spPr>
          <a:xfrm>
            <a:off x="384511" y="9511742"/>
            <a:ext cx="10252709" cy="712279"/>
          </a:xfrm>
          <a:prstGeom prst="rect">
            <a:avLst/>
          </a:prstGeom>
          <a:solidFill>
            <a:schemeClr val="accent5">
              <a:lumMod val="50000"/>
            </a:schemeClr>
          </a:solidFill>
        </p:spPr>
        <p:txBody>
          <a:bodyPr wrap="square" lIns="78375" tIns="78375" rIns="78375" bIns="78375" anchor="t" anchorCtr="0">
            <a:spAutoFit/>
          </a:bodyPr>
          <a:lstStyle>
            <a:lvl1pPr marL="0" indent="0" algn="ctr" defTabSz="3761915" rtl="0" eaLnBrk="1" latinLnBrk="0" hangingPunct="1">
              <a:spcBef>
                <a:spcPct val="20000"/>
              </a:spcBef>
              <a:buFont typeface="Arial" pitchFamily="34" charset="0"/>
              <a:buNone/>
              <a:defRPr sz="2400" b="1" u="none" kern="1200" baseline="0">
                <a:solidFill>
                  <a:schemeClr val="bg1"/>
                </a:solidFill>
                <a:latin typeface="Century Gothic" panose="020B0502020202020204" pitchFamily="34" charset="0"/>
                <a:ea typeface="+mn-ea"/>
                <a:cs typeface="+mn-cs"/>
              </a:defRPr>
            </a:lvl1pPr>
            <a:lvl2pPr marL="3056556" indent="-1175598" algn="l" defTabSz="3761915"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2394" indent="-940479" algn="l" defTabSz="3761915"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352"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308"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sz="3600" dirty="0">
                <a:highlight>
                  <a:srgbClr val="203864"/>
                </a:highlight>
              </a:rPr>
              <a:t>Motivation</a:t>
            </a:r>
          </a:p>
        </p:txBody>
      </p:sp>
      <p:sp>
        <p:nvSpPr>
          <p:cNvPr id="29" name="TextBox 28">
            <a:extLst>
              <a:ext uri="{FF2B5EF4-FFF2-40B4-BE49-F238E27FC236}">
                <a16:creationId xmlns:a16="http://schemas.microsoft.com/office/drawing/2014/main" id="{C9F98EE3-626C-888B-1EE3-AEC3F30DCBF9}"/>
              </a:ext>
            </a:extLst>
          </p:cNvPr>
          <p:cNvSpPr txBox="1"/>
          <p:nvPr/>
        </p:nvSpPr>
        <p:spPr>
          <a:xfrm>
            <a:off x="12258023" y="26212660"/>
            <a:ext cx="8787983"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Table 1: All Simulation Settings for the Simulation Study loosely based on trial data</a:t>
            </a:r>
          </a:p>
        </p:txBody>
      </p:sp>
      <p:sp>
        <p:nvSpPr>
          <p:cNvPr id="30" name="TextBox 29">
            <a:extLst>
              <a:ext uri="{FF2B5EF4-FFF2-40B4-BE49-F238E27FC236}">
                <a16:creationId xmlns:a16="http://schemas.microsoft.com/office/drawing/2014/main" id="{41332163-8DD6-A85A-C526-B868B31E0E21}"/>
              </a:ext>
            </a:extLst>
          </p:cNvPr>
          <p:cNvSpPr txBox="1"/>
          <p:nvPr/>
        </p:nvSpPr>
        <p:spPr>
          <a:xfrm>
            <a:off x="23568432" y="19279499"/>
            <a:ext cx="8621271"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Figure 1: Simulation </a:t>
            </a:r>
            <a:r>
              <a:rPr lang="en-US" sz="2000" b="1" dirty="0">
                <a:latin typeface="Times New Roman" panose="02020603050405020304" pitchFamily="18" charset="0"/>
                <a:cs typeface="Times New Roman" panose="02020603050405020304" pitchFamily="18" charset="0"/>
              </a:rPr>
              <a:t>SE Ratios </a:t>
            </a:r>
            <a:r>
              <a:rPr lang="en-US" sz="2000" dirty="0">
                <a:latin typeface="Times New Roman" panose="02020603050405020304" pitchFamily="18" charset="0"/>
                <a:cs typeface="Times New Roman" panose="02020603050405020304" pitchFamily="18" charset="0"/>
              </a:rPr>
              <a:t>with Corrected and Continuous BMI as a baseline</a:t>
            </a:r>
          </a:p>
        </p:txBody>
      </p:sp>
      <p:sp>
        <p:nvSpPr>
          <p:cNvPr id="16" name="TextBox 15">
            <a:extLst>
              <a:ext uri="{FF2B5EF4-FFF2-40B4-BE49-F238E27FC236}">
                <a16:creationId xmlns:a16="http://schemas.microsoft.com/office/drawing/2014/main" id="{1F7CBA4D-8D32-F538-738F-302863D99ADC}"/>
              </a:ext>
            </a:extLst>
          </p:cNvPr>
          <p:cNvSpPr txBox="1"/>
          <p:nvPr/>
        </p:nvSpPr>
        <p:spPr>
          <a:xfrm>
            <a:off x="24073155" y="27504244"/>
            <a:ext cx="8125942"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Figure 2: </a:t>
            </a:r>
            <a:r>
              <a:rPr lang="en-US" sz="2000" b="1" dirty="0">
                <a:latin typeface="Times New Roman" panose="02020603050405020304" pitchFamily="18" charset="0"/>
                <a:cs typeface="Times New Roman" panose="02020603050405020304" pitchFamily="18" charset="0"/>
              </a:rPr>
              <a:t>Relative Bias </a:t>
            </a:r>
            <a:r>
              <a:rPr lang="en-US" sz="2000" dirty="0">
                <a:latin typeface="Times New Roman" panose="02020603050405020304" pitchFamily="18" charset="0"/>
                <a:cs typeface="Times New Roman" panose="02020603050405020304" pitchFamily="18" charset="0"/>
              </a:rPr>
              <a:t>with varying measurement error and dichotomization</a:t>
            </a:r>
          </a:p>
        </p:txBody>
      </p:sp>
      <p:pic>
        <p:nvPicPr>
          <p:cNvPr id="55" name="Picture 54">
            <a:extLst>
              <a:ext uri="{FF2B5EF4-FFF2-40B4-BE49-F238E27FC236}">
                <a16:creationId xmlns:a16="http://schemas.microsoft.com/office/drawing/2014/main" id="{01BD3C81-DFE7-F696-4495-C39E195772D4}"/>
              </a:ext>
            </a:extLst>
          </p:cNvPr>
          <p:cNvPicPr>
            <a:picLocks noChangeAspect="1"/>
          </p:cNvPicPr>
          <p:nvPr/>
        </p:nvPicPr>
        <p:blipFill>
          <a:blip r:embed="rId4"/>
          <a:stretch>
            <a:fillRect/>
          </a:stretch>
        </p:blipFill>
        <p:spPr>
          <a:xfrm>
            <a:off x="11520907" y="20807847"/>
            <a:ext cx="10193562" cy="5197690"/>
          </a:xfrm>
          <a:prstGeom prst="rect">
            <a:avLst/>
          </a:prstGeom>
        </p:spPr>
      </p:pic>
      <p:sp>
        <p:nvSpPr>
          <p:cNvPr id="56" name="Text Placeholder 10">
            <a:extLst>
              <a:ext uri="{FF2B5EF4-FFF2-40B4-BE49-F238E27FC236}">
                <a16:creationId xmlns:a16="http://schemas.microsoft.com/office/drawing/2014/main" id="{D8C2E0B8-E402-5ED5-229A-0D38D19DD48B}"/>
              </a:ext>
            </a:extLst>
          </p:cNvPr>
          <p:cNvSpPr txBox="1">
            <a:spLocks/>
          </p:cNvSpPr>
          <p:nvPr/>
        </p:nvSpPr>
        <p:spPr>
          <a:xfrm>
            <a:off x="23028852" y="29595145"/>
            <a:ext cx="6927631" cy="619946"/>
          </a:xfrm>
          <a:prstGeom prst="rect">
            <a:avLst/>
          </a:prstGeom>
          <a:solidFill>
            <a:schemeClr val="accent5">
              <a:lumMod val="50000"/>
            </a:schemeClr>
          </a:solidFill>
        </p:spPr>
        <p:txBody>
          <a:bodyPr wrap="square" lIns="78375" tIns="78375" rIns="78375" bIns="78375" anchor="t" anchorCtr="0">
            <a:spAutoFit/>
          </a:bodyPr>
          <a:lstStyle>
            <a:lvl1pPr marL="0" indent="0" algn="ctr" defTabSz="3761915" rtl="0" eaLnBrk="1" latinLnBrk="0" hangingPunct="1">
              <a:spcBef>
                <a:spcPct val="20000"/>
              </a:spcBef>
              <a:buFont typeface="Arial" pitchFamily="34" charset="0"/>
              <a:buNone/>
              <a:defRPr sz="2400" b="1" u="none" kern="1200" baseline="0">
                <a:solidFill>
                  <a:schemeClr val="bg1"/>
                </a:solidFill>
                <a:latin typeface="Century Gothic" panose="020B0502020202020204" pitchFamily="34" charset="0"/>
                <a:ea typeface="+mn-ea"/>
                <a:cs typeface="+mn-cs"/>
              </a:defRPr>
            </a:lvl1pPr>
            <a:lvl2pPr marL="3056556" indent="-1175598" algn="l" defTabSz="3761915"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2394" indent="-940479" algn="l" defTabSz="3761915"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352"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308"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sz="3000" dirty="0"/>
              <a:t>GitHub QR Code for more details</a:t>
            </a:r>
          </a:p>
        </p:txBody>
      </p:sp>
      <p:sp>
        <p:nvSpPr>
          <p:cNvPr id="59" name="TextBox 58">
            <a:extLst>
              <a:ext uri="{FF2B5EF4-FFF2-40B4-BE49-F238E27FC236}">
                <a16:creationId xmlns:a16="http://schemas.microsoft.com/office/drawing/2014/main" id="{637990CB-DC49-0FD4-0318-A71DA78449E0}"/>
              </a:ext>
            </a:extLst>
          </p:cNvPr>
          <p:cNvSpPr txBox="1"/>
          <p:nvPr/>
        </p:nvSpPr>
        <p:spPr>
          <a:xfrm rot="16200000">
            <a:off x="21422911" y="15377182"/>
            <a:ext cx="2611805"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Strong Covariate Effect</a:t>
            </a:r>
          </a:p>
        </p:txBody>
      </p:sp>
      <p:pic>
        <p:nvPicPr>
          <p:cNvPr id="61" name="Picture 60">
            <a:extLst>
              <a:ext uri="{FF2B5EF4-FFF2-40B4-BE49-F238E27FC236}">
                <a16:creationId xmlns:a16="http://schemas.microsoft.com/office/drawing/2014/main" id="{2B32E662-542F-0CF7-EF95-EA99283EA347}"/>
              </a:ext>
            </a:extLst>
          </p:cNvPr>
          <p:cNvPicPr>
            <a:picLocks noChangeAspect="1"/>
          </p:cNvPicPr>
          <p:nvPr/>
        </p:nvPicPr>
        <p:blipFill>
          <a:blip r:embed="rId5"/>
          <a:stretch>
            <a:fillRect/>
          </a:stretch>
        </p:blipFill>
        <p:spPr>
          <a:xfrm>
            <a:off x="30373984" y="15225634"/>
            <a:ext cx="2476847" cy="1409897"/>
          </a:xfrm>
          <a:prstGeom prst="rect">
            <a:avLst/>
          </a:prstGeom>
        </p:spPr>
      </p:pic>
      <p:pic>
        <p:nvPicPr>
          <p:cNvPr id="1029" name="Picture 1028">
            <a:extLst>
              <a:ext uri="{FF2B5EF4-FFF2-40B4-BE49-F238E27FC236}">
                <a16:creationId xmlns:a16="http://schemas.microsoft.com/office/drawing/2014/main" id="{2B3AC1E7-C5CE-99BC-408B-2FC484EA9EA7}"/>
              </a:ext>
            </a:extLst>
          </p:cNvPr>
          <p:cNvPicPr>
            <a:picLocks noChangeAspect="1"/>
          </p:cNvPicPr>
          <p:nvPr/>
        </p:nvPicPr>
        <p:blipFill>
          <a:blip r:embed="rId6"/>
          <a:stretch>
            <a:fillRect/>
          </a:stretch>
        </p:blipFill>
        <p:spPr>
          <a:xfrm>
            <a:off x="23071547" y="13034592"/>
            <a:ext cx="7066717" cy="6001697"/>
          </a:xfrm>
          <a:prstGeom prst="rect">
            <a:avLst/>
          </a:prstGeom>
        </p:spPr>
      </p:pic>
      <mc:AlternateContent xmlns:mc="http://schemas.openxmlformats.org/markup-compatibility/2006">
        <mc:Choice xmlns:a14="http://schemas.microsoft.com/office/drawing/2010/main" Requires="a14">
          <p:sp>
            <p:nvSpPr>
              <p:cNvPr id="1030" name="TextBox 1029">
                <a:extLst>
                  <a:ext uri="{FF2B5EF4-FFF2-40B4-BE49-F238E27FC236}">
                    <a16:creationId xmlns:a16="http://schemas.microsoft.com/office/drawing/2014/main" id="{3875EF0A-583B-5CF7-5C4E-162067CD76C6}"/>
                  </a:ext>
                </a:extLst>
              </p:cNvPr>
              <p:cNvSpPr txBox="1"/>
              <p:nvPr/>
            </p:nvSpPr>
            <p:spPr>
              <a:xfrm>
                <a:off x="24753367" y="12624653"/>
                <a:ext cx="116346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cs typeface="Times New Roman" panose="02020603050405020304" pitchFamily="18" charset="0"/>
                        </a:rPr>
                        <m:t>𝑛</m:t>
                      </m:r>
                      <m:r>
                        <a:rPr lang="en-US" sz="2000" i="1">
                          <a:latin typeface="Cambria Math" panose="02040503050406030204" pitchFamily="18" charset="0"/>
                          <a:cs typeface="Times New Roman" panose="02020603050405020304" pitchFamily="18" charset="0"/>
                        </a:rPr>
                        <m:t>=120</m:t>
                      </m:r>
                    </m:oMath>
                  </m:oMathPara>
                </a14:m>
                <a:endParaRPr lang="en-US" sz="2000" dirty="0">
                  <a:latin typeface="Times New Roman" panose="02020603050405020304" pitchFamily="18" charset="0"/>
                  <a:cs typeface="Times New Roman" panose="02020603050405020304" pitchFamily="18" charset="0"/>
                </a:endParaRPr>
              </a:p>
            </p:txBody>
          </p:sp>
        </mc:Choice>
        <mc:Fallback>
          <p:sp>
            <p:nvSpPr>
              <p:cNvPr id="1030" name="TextBox 1029">
                <a:extLst>
                  <a:ext uri="{FF2B5EF4-FFF2-40B4-BE49-F238E27FC236}">
                    <a16:creationId xmlns:a16="http://schemas.microsoft.com/office/drawing/2014/main" id="{3875EF0A-583B-5CF7-5C4E-162067CD76C6}"/>
                  </a:ext>
                </a:extLst>
              </p:cNvPr>
              <p:cNvSpPr txBox="1">
                <a:spLocks noRot="1" noChangeAspect="1" noMove="1" noResize="1" noEditPoints="1" noAdjustHandles="1" noChangeArrowheads="1" noChangeShapeType="1" noTextEdit="1"/>
              </p:cNvSpPr>
              <p:nvPr/>
            </p:nvSpPr>
            <p:spPr>
              <a:xfrm>
                <a:off x="24753367" y="12624653"/>
                <a:ext cx="1163460" cy="40011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31" name="TextBox 1030">
                <a:extLst>
                  <a:ext uri="{FF2B5EF4-FFF2-40B4-BE49-F238E27FC236}">
                    <a16:creationId xmlns:a16="http://schemas.microsoft.com/office/drawing/2014/main" id="{6070CD93-C5CD-A255-311F-D4D8B1FA71CC}"/>
                  </a:ext>
                </a:extLst>
              </p:cNvPr>
              <p:cNvSpPr txBox="1"/>
              <p:nvPr/>
            </p:nvSpPr>
            <p:spPr>
              <a:xfrm>
                <a:off x="27976757" y="12580614"/>
                <a:ext cx="116346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cs typeface="Times New Roman" panose="02020603050405020304" pitchFamily="18" charset="0"/>
                        </a:rPr>
                        <m:t>𝑛</m:t>
                      </m:r>
                      <m:r>
                        <a:rPr lang="en-US" sz="2000" i="1">
                          <a:latin typeface="Cambria Math" panose="02040503050406030204" pitchFamily="18" charset="0"/>
                          <a:cs typeface="Times New Roman" panose="02020603050405020304" pitchFamily="18" charset="0"/>
                        </a:rPr>
                        <m:t>=400</m:t>
                      </m:r>
                    </m:oMath>
                  </m:oMathPara>
                </a14:m>
                <a:endParaRPr lang="en-US" sz="2000" dirty="0">
                  <a:latin typeface="Times New Roman" panose="02020603050405020304" pitchFamily="18" charset="0"/>
                  <a:cs typeface="Times New Roman" panose="02020603050405020304" pitchFamily="18" charset="0"/>
                </a:endParaRPr>
              </a:p>
            </p:txBody>
          </p:sp>
        </mc:Choice>
        <mc:Fallback>
          <p:sp>
            <p:nvSpPr>
              <p:cNvPr id="1031" name="TextBox 1030">
                <a:extLst>
                  <a:ext uri="{FF2B5EF4-FFF2-40B4-BE49-F238E27FC236}">
                    <a16:creationId xmlns:a16="http://schemas.microsoft.com/office/drawing/2014/main" id="{6070CD93-C5CD-A255-311F-D4D8B1FA71CC}"/>
                  </a:ext>
                </a:extLst>
              </p:cNvPr>
              <p:cNvSpPr txBox="1">
                <a:spLocks noRot="1" noChangeAspect="1" noMove="1" noResize="1" noEditPoints="1" noAdjustHandles="1" noChangeArrowheads="1" noChangeShapeType="1" noTextEdit="1"/>
              </p:cNvSpPr>
              <p:nvPr/>
            </p:nvSpPr>
            <p:spPr>
              <a:xfrm>
                <a:off x="27976757" y="12580614"/>
                <a:ext cx="1163460" cy="400110"/>
              </a:xfrm>
              <a:prstGeom prst="rect">
                <a:avLst/>
              </a:prstGeom>
              <a:blipFill>
                <a:blip r:embed="rId8"/>
                <a:stretch>
                  <a:fillRect/>
                </a:stretch>
              </a:blipFill>
            </p:spPr>
            <p:txBody>
              <a:bodyPr/>
              <a:lstStyle/>
              <a:p>
                <a:r>
                  <a:rPr lang="en-US">
                    <a:noFill/>
                  </a:rPr>
                  <a:t> </a:t>
                </a:r>
              </a:p>
            </p:txBody>
          </p:sp>
        </mc:Fallback>
      </mc:AlternateContent>
      <p:pic>
        <p:nvPicPr>
          <p:cNvPr id="1033" name="Picture 1032">
            <a:extLst>
              <a:ext uri="{FF2B5EF4-FFF2-40B4-BE49-F238E27FC236}">
                <a16:creationId xmlns:a16="http://schemas.microsoft.com/office/drawing/2014/main" id="{0EA28491-CFEB-8B7A-8D3E-5A40B8E88DDB}"/>
              </a:ext>
            </a:extLst>
          </p:cNvPr>
          <p:cNvPicPr>
            <a:picLocks noChangeAspect="1"/>
          </p:cNvPicPr>
          <p:nvPr/>
        </p:nvPicPr>
        <p:blipFill>
          <a:blip r:embed="rId9"/>
          <a:stretch>
            <a:fillRect/>
          </a:stretch>
        </p:blipFill>
        <p:spPr>
          <a:xfrm>
            <a:off x="22659185" y="20962597"/>
            <a:ext cx="10635668" cy="6257702"/>
          </a:xfrm>
          <a:prstGeom prst="rect">
            <a:avLst/>
          </a:prstGeom>
        </p:spPr>
      </p:pic>
      <p:sp>
        <p:nvSpPr>
          <p:cNvPr id="1034" name="TextBox 1033">
            <a:extLst>
              <a:ext uri="{FF2B5EF4-FFF2-40B4-BE49-F238E27FC236}">
                <a16:creationId xmlns:a16="http://schemas.microsoft.com/office/drawing/2014/main" id="{1BD5EDCE-DE86-E0E4-827A-807A15E50F44}"/>
              </a:ext>
            </a:extLst>
          </p:cNvPr>
          <p:cNvSpPr txBox="1"/>
          <p:nvPr/>
        </p:nvSpPr>
        <p:spPr>
          <a:xfrm rot="16200000">
            <a:off x="21153228" y="23522724"/>
            <a:ext cx="2611805"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Strong Covariate Effect</a:t>
            </a:r>
          </a:p>
        </p:txBody>
      </p:sp>
      <mc:AlternateContent xmlns:mc="http://schemas.openxmlformats.org/markup-compatibility/2006">
        <mc:Choice xmlns:a14="http://schemas.microsoft.com/office/drawing/2010/main" Requires="a14">
          <p:sp>
            <p:nvSpPr>
              <p:cNvPr id="1040" name="TextBox 1039">
                <a:extLst>
                  <a:ext uri="{FF2B5EF4-FFF2-40B4-BE49-F238E27FC236}">
                    <a16:creationId xmlns:a16="http://schemas.microsoft.com/office/drawing/2014/main" id="{A12705C9-3064-B082-F81A-8D81E9FDD004}"/>
                  </a:ext>
                </a:extLst>
              </p:cNvPr>
              <p:cNvSpPr txBox="1"/>
              <p:nvPr/>
            </p:nvSpPr>
            <p:spPr>
              <a:xfrm>
                <a:off x="24063761" y="20607792"/>
                <a:ext cx="116346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cs typeface="Times New Roman" panose="02020603050405020304" pitchFamily="18" charset="0"/>
                        </a:rPr>
                        <m:t>𝑛</m:t>
                      </m:r>
                      <m:r>
                        <a:rPr lang="en-US" sz="2000" i="1">
                          <a:latin typeface="Cambria Math" panose="02040503050406030204" pitchFamily="18" charset="0"/>
                          <a:cs typeface="Times New Roman" panose="02020603050405020304" pitchFamily="18" charset="0"/>
                        </a:rPr>
                        <m:t>=120</m:t>
                      </m:r>
                    </m:oMath>
                  </m:oMathPara>
                </a14:m>
                <a:endParaRPr lang="en-US" sz="2000" dirty="0">
                  <a:latin typeface="Times New Roman" panose="02020603050405020304" pitchFamily="18" charset="0"/>
                  <a:cs typeface="Times New Roman" panose="02020603050405020304" pitchFamily="18" charset="0"/>
                </a:endParaRPr>
              </a:p>
            </p:txBody>
          </p:sp>
        </mc:Choice>
        <mc:Fallback>
          <p:sp>
            <p:nvSpPr>
              <p:cNvPr id="1040" name="TextBox 1039">
                <a:extLst>
                  <a:ext uri="{FF2B5EF4-FFF2-40B4-BE49-F238E27FC236}">
                    <a16:creationId xmlns:a16="http://schemas.microsoft.com/office/drawing/2014/main" id="{A12705C9-3064-B082-F81A-8D81E9FDD004}"/>
                  </a:ext>
                </a:extLst>
              </p:cNvPr>
              <p:cNvSpPr txBox="1">
                <a:spLocks noRot="1" noChangeAspect="1" noMove="1" noResize="1" noEditPoints="1" noAdjustHandles="1" noChangeArrowheads="1" noChangeShapeType="1" noTextEdit="1"/>
              </p:cNvSpPr>
              <p:nvPr/>
            </p:nvSpPr>
            <p:spPr>
              <a:xfrm>
                <a:off x="24063761" y="20607792"/>
                <a:ext cx="1163460" cy="40011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42" name="TextBox 1041">
                <a:extLst>
                  <a:ext uri="{FF2B5EF4-FFF2-40B4-BE49-F238E27FC236}">
                    <a16:creationId xmlns:a16="http://schemas.microsoft.com/office/drawing/2014/main" id="{EC7ED0CC-A121-0AFB-719E-DCC9583966F9}"/>
                  </a:ext>
                </a:extLst>
              </p:cNvPr>
              <p:cNvSpPr txBox="1"/>
              <p:nvPr/>
            </p:nvSpPr>
            <p:spPr>
              <a:xfrm>
                <a:off x="27554396" y="20607792"/>
                <a:ext cx="116346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cs typeface="Times New Roman" panose="02020603050405020304" pitchFamily="18" charset="0"/>
                        </a:rPr>
                        <m:t>𝑛</m:t>
                      </m:r>
                      <m:r>
                        <a:rPr lang="en-US" sz="2000" i="1">
                          <a:latin typeface="Cambria Math" panose="02040503050406030204" pitchFamily="18" charset="0"/>
                          <a:cs typeface="Times New Roman" panose="02020603050405020304" pitchFamily="18" charset="0"/>
                        </a:rPr>
                        <m:t>=400</m:t>
                      </m:r>
                    </m:oMath>
                  </m:oMathPara>
                </a14:m>
                <a:endParaRPr lang="en-US" sz="2000" dirty="0">
                  <a:latin typeface="Times New Roman" panose="02020603050405020304" pitchFamily="18" charset="0"/>
                  <a:cs typeface="Times New Roman" panose="02020603050405020304" pitchFamily="18" charset="0"/>
                </a:endParaRPr>
              </a:p>
            </p:txBody>
          </p:sp>
        </mc:Choice>
        <mc:Fallback>
          <p:sp>
            <p:nvSpPr>
              <p:cNvPr id="1042" name="TextBox 1041">
                <a:extLst>
                  <a:ext uri="{FF2B5EF4-FFF2-40B4-BE49-F238E27FC236}">
                    <a16:creationId xmlns:a16="http://schemas.microsoft.com/office/drawing/2014/main" id="{EC7ED0CC-A121-0AFB-719E-DCC9583966F9}"/>
                  </a:ext>
                </a:extLst>
              </p:cNvPr>
              <p:cNvSpPr txBox="1">
                <a:spLocks noRot="1" noChangeAspect="1" noMove="1" noResize="1" noEditPoints="1" noAdjustHandles="1" noChangeArrowheads="1" noChangeShapeType="1" noTextEdit="1"/>
              </p:cNvSpPr>
              <p:nvPr/>
            </p:nvSpPr>
            <p:spPr>
              <a:xfrm>
                <a:off x="27554396" y="20607792"/>
                <a:ext cx="1163460" cy="40011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43" name="TextBox 1042">
                <a:extLst>
                  <a:ext uri="{FF2B5EF4-FFF2-40B4-BE49-F238E27FC236}">
                    <a16:creationId xmlns:a16="http://schemas.microsoft.com/office/drawing/2014/main" id="{B3C44A33-23E2-58D3-881E-1AE8AA90474C}"/>
                  </a:ext>
                </a:extLst>
              </p:cNvPr>
              <p:cNvSpPr txBox="1"/>
              <p:nvPr/>
            </p:nvSpPr>
            <p:spPr>
              <a:xfrm>
                <a:off x="30883576" y="20583883"/>
                <a:ext cx="130612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cs typeface="Times New Roman" panose="02020603050405020304" pitchFamily="18" charset="0"/>
                        </a:rPr>
                        <m:t>𝑛</m:t>
                      </m:r>
                      <m:r>
                        <a:rPr lang="en-US" sz="2000" i="1">
                          <a:latin typeface="Cambria Math" panose="02040503050406030204" pitchFamily="18" charset="0"/>
                          <a:cs typeface="Times New Roman" panose="02020603050405020304" pitchFamily="18" charset="0"/>
                        </a:rPr>
                        <m:t>=1000</m:t>
                      </m:r>
                    </m:oMath>
                  </m:oMathPara>
                </a14:m>
                <a:endParaRPr lang="en-US" sz="2000" dirty="0">
                  <a:latin typeface="Times New Roman" panose="02020603050405020304" pitchFamily="18" charset="0"/>
                  <a:cs typeface="Times New Roman" panose="02020603050405020304" pitchFamily="18" charset="0"/>
                </a:endParaRPr>
              </a:p>
            </p:txBody>
          </p:sp>
        </mc:Choice>
        <mc:Fallback>
          <p:sp>
            <p:nvSpPr>
              <p:cNvPr id="1043" name="TextBox 1042">
                <a:extLst>
                  <a:ext uri="{FF2B5EF4-FFF2-40B4-BE49-F238E27FC236}">
                    <a16:creationId xmlns:a16="http://schemas.microsoft.com/office/drawing/2014/main" id="{B3C44A33-23E2-58D3-881E-1AE8AA90474C}"/>
                  </a:ext>
                </a:extLst>
              </p:cNvPr>
              <p:cNvSpPr txBox="1">
                <a:spLocks noRot="1" noChangeAspect="1" noMove="1" noResize="1" noEditPoints="1" noAdjustHandles="1" noChangeArrowheads="1" noChangeShapeType="1" noTextEdit="1"/>
              </p:cNvSpPr>
              <p:nvPr/>
            </p:nvSpPr>
            <p:spPr>
              <a:xfrm>
                <a:off x="30883576" y="20583883"/>
                <a:ext cx="1306127" cy="400110"/>
              </a:xfrm>
              <a:prstGeom prst="rect">
                <a:avLst/>
              </a:prstGeom>
              <a:blipFill>
                <a:blip r:embed="rId12"/>
                <a:stretch>
                  <a:fillRect/>
                </a:stretch>
              </a:blipFill>
            </p:spPr>
            <p:txBody>
              <a:bodyPr/>
              <a:lstStyle/>
              <a:p>
                <a:r>
                  <a:rPr lang="en-US">
                    <a:noFill/>
                  </a:rPr>
                  <a:t> </a:t>
                </a:r>
              </a:p>
            </p:txBody>
          </p:sp>
        </mc:Fallback>
      </mc:AlternateContent>
      <p:pic>
        <p:nvPicPr>
          <p:cNvPr id="1048" name="Picture 1047">
            <a:extLst>
              <a:ext uri="{FF2B5EF4-FFF2-40B4-BE49-F238E27FC236}">
                <a16:creationId xmlns:a16="http://schemas.microsoft.com/office/drawing/2014/main" id="{3F88B347-9EC4-A822-1B91-B06C40557010}"/>
              </a:ext>
            </a:extLst>
          </p:cNvPr>
          <p:cNvPicPr>
            <a:picLocks noChangeAspect="1"/>
          </p:cNvPicPr>
          <p:nvPr/>
        </p:nvPicPr>
        <p:blipFill>
          <a:blip r:embed="rId13"/>
          <a:stretch>
            <a:fillRect/>
          </a:stretch>
        </p:blipFill>
        <p:spPr>
          <a:xfrm>
            <a:off x="30672708" y="29000262"/>
            <a:ext cx="2010056" cy="1952899"/>
          </a:xfrm>
          <a:prstGeom prst="rect">
            <a:avLst/>
          </a:prstGeom>
        </p:spPr>
      </p:pic>
      <p:sp>
        <p:nvSpPr>
          <p:cNvPr id="39" name="Text Placeholder 2">
            <a:extLst>
              <a:ext uri="{FF2B5EF4-FFF2-40B4-BE49-F238E27FC236}">
                <a16:creationId xmlns:a16="http://schemas.microsoft.com/office/drawing/2014/main" id="{E4069DEA-CB48-1A9A-D0DC-83A26B61C19C}"/>
              </a:ext>
            </a:extLst>
          </p:cNvPr>
          <p:cNvSpPr txBox="1">
            <a:spLocks/>
          </p:cNvSpPr>
          <p:nvPr/>
        </p:nvSpPr>
        <p:spPr>
          <a:xfrm>
            <a:off x="11515341" y="5780019"/>
            <a:ext cx="10199128" cy="712277"/>
          </a:xfrm>
          <a:prstGeom prst="rect">
            <a:avLst/>
          </a:prstGeom>
          <a:solidFill>
            <a:schemeClr val="accent5">
              <a:lumMod val="50000"/>
            </a:schemeClr>
          </a:solidFill>
        </p:spPr>
        <p:txBody>
          <a:bodyPr wrap="square" lIns="78374" tIns="78374" rIns="78374" bIns="78374" anchor="t" anchorCtr="0">
            <a:spAutoFit/>
          </a:bodyPr>
          <a:lstStyle>
            <a:lvl1pPr marL="0" indent="0" algn="ctr" defTabSz="3762197" rtl="0" eaLnBrk="1" latinLnBrk="0" hangingPunct="1">
              <a:spcBef>
                <a:spcPct val="20000"/>
              </a:spcBef>
              <a:buFont typeface="Arial" pitchFamily="34" charset="0"/>
              <a:buNone/>
              <a:defRPr sz="2400" b="1" u="none" kern="1200" baseline="0">
                <a:solidFill>
                  <a:schemeClr val="bg1"/>
                </a:solidFill>
                <a:latin typeface="Century Gothic" panose="020B0502020202020204" pitchFamily="34" charset="0"/>
                <a:ea typeface="+mn-ea"/>
                <a:cs typeface="+mn-cs"/>
              </a:defRPr>
            </a:lvl1pPr>
            <a:lvl2pPr marL="3056786" indent="-1175687" algn="l" defTabSz="3762197" rtl="0" eaLnBrk="1" latinLnBrk="0" hangingPunct="1">
              <a:spcBef>
                <a:spcPct val="20000"/>
              </a:spcBef>
              <a:buFont typeface="Arial" pitchFamily="34" charset="0"/>
              <a:buChar char="–"/>
              <a:defRPr sz="11602" kern="1200">
                <a:solidFill>
                  <a:schemeClr val="tx1"/>
                </a:solidFill>
                <a:latin typeface="+mn-lt"/>
                <a:ea typeface="+mn-ea"/>
                <a:cs typeface="+mn-cs"/>
              </a:defRPr>
            </a:lvl2pPr>
            <a:lvl3pPr marL="4702747" indent="-940550" algn="l" defTabSz="3762197"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847"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943"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6041"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7141"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8239"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9337"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sz="3600" dirty="0"/>
              <a:t>Methods</a:t>
            </a:r>
          </a:p>
        </p:txBody>
      </p:sp>
      <p:sp>
        <p:nvSpPr>
          <p:cNvPr id="47" name="Text Placeholder 2">
            <a:extLst>
              <a:ext uri="{FF2B5EF4-FFF2-40B4-BE49-F238E27FC236}">
                <a16:creationId xmlns:a16="http://schemas.microsoft.com/office/drawing/2014/main" id="{4468A515-40BF-DCAC-F150-B926D5A56B49}"/>
              </a:ext>
            </a:extLst>
          </p:cNvPr>
          <p:cNvSpPr txBox="1">
            <a:spLocks/>
          </p:cNvSpPr>
          <p:nvPr/>
        </p:nvSpPr>
        <p:spPr>
          <a:xfrm>
            <a:off x="22603501" y="5768152"/>
            <a:ext cx="10199128" cy="712277"/>
          </a:xfrm>
          <a:prstGeom prst="rect">
            <a:avLst/>
          </a:prstGeom>
          <a:solidFill>
            <a:schemeClr val="accent5">
              <a:lumMod val="50000"/>
            </a:schemeClr>
          </a:solidFill>
        </p:spPr>
        <p:txBody>
          <a:bodyPr wrap="square" lIns="78374" tIns="78374" rIns="78374" bIns="78374" anchor="t" anchorCtr="0">
            <a:spAutoFit/>
          </a:bodyPr>
          <a:lstStyle>
            <a:lvl1pPr marL="0" indent="0" algn="ctr" defTabSz="3762197" rtl="0" eaLnBrk="1" latinLnBrk="0" hangingPunct="1">
              <a:spcBef>
                <a:spcPct val="20000"/>
              </a:spcBef>
              <a:buFont typeface="Arial" pitchFamily="34" charset="0"/>
              <a:buNone/>
              <a:defRPr sz="2400" b="1" u="none" kern="1200" baseline="0">
                <a:solidFill>
                  <a:schemeClr val="bg1"/>
                </a:solidFill>
                <a:latin typeface="Century Gothic" panose="020B0502020202020204" pitchFamily="34" charset="0"/>
                <a:ea typeface="+mn-ea"/>
                <a:cs typeface="+mn-cs"/>
              </a:defRPr>
            </a:lvl1pPr>
            <a:lvl2pPr marL="3056786" indent="-1175687" algn="l" defTabSz="3762197" rtl="0" eaLnBrk="1" latinLnBrk="0" hangingPunct="1">
              <a:spcBef>
                <a:spcPct val="20000"/>
              </a:spcBef>
              <a:buFont typeface="Arial" pitchFamily="34" charset="0"/>
              <a:buChar char="–"/>
              <a:defRPr sz="11602" kern="1200">
                <a:solidFill>
                  <a:schemeClr val="tx1"/>
                </a:solidFill>
                <a:latin typeface="+mn-lt"/>
                <a:ea typeface="+mn-ea"/>
                <a:cs typeface="+mn-cs"/>
              </a:defRPr>
            </a:lvl2pPr>
            <a:lvl3pPr marL="4702747" indent="-940550" algn="l" defTabSz="3762197"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847"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943"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6041"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7141"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8239"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9337"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sz="3600" dirty="0"/>
              <a:t>Results</a:t>
            </a:r>
          </a:p>
        </p:txBody>
      </p:sp>
      <p:sp>
        <p:nvSpPr>
          <p:cNvPr id="48" name="Text Placeholder 2">
            <a:extLst>
              <a:ext uri="{FF2B5EF4-FFF2-40B4-BE49-F238E27FC236}">
                <a16:creationId xmlns:a16="http://schemas.microsoft.com/office/drawing/2014/main" id="{3CE8DFB0-E850-2995-2198-DBEF13DC063A}"/>
              </a:ext>
            </a:extLst>
          </p:cNvPr>
          <p:cNvSpPr txBox="1">
            <a:spLocks/>
          </p:cNvSpPr>
          <p:nvPr/>
        </p:nvSpPr>
        <p:spPr>
          <a:xfrm>
            <a:off x="33511959" y="12264547"/>
            <a:ext cx="10199128" cy="712277"/>
          </a:xfrm>
          <a:prstGeom prst="rect">
            <a:avLst/>
          </a:prstGeom>
          <a:solidFill>
            <a:schemeClr val="accent5">
              <a:lumMod val="50000"/>
            </a:schemeClr>
          </a:solidFill>
        </p:spPr>
        <p:txBody>
          <a:bodyPr wrap="square" lIns="78374" tIns="78374" rIns="78374" bIns="78374" anchor="t" anchorCtr="0">
            <a:spAutoFit/>
          </a:bodyPr>
          <a:lstStyle>
            <a:lvl1pPr marL="0" indent="0" algn="ctr" defTabSz="3762197" rtl="0" eaLnBrk="1" latinLnBrk="0" hangingPunct="1">
              <a:spcBef>
                <a:spcPct val="20000"/>
              </a:spcBef>
              <a:buFont typeface="Arial" pitchFamily="34" charset="0"/>
              <a:buNone/>
              <a:defRPr sz="2400" b="1" u="none" kern="1200" baseline="0">
                <a:solidFill>
                  <a:schemeClr val="bg1"/>
                </a:solidFill>
                <a:latin typeface="Century Gothic" panose="020B0502020202020204" pitchFamily="34" charset="0"/>
                <a:ea typeface="+mn-ea"/>
                <a:cs typeface="+mn-cs"/>
              </a:defRPr>
            </a:lvl1pPr>
            <a:lvl2pPr marL="3056786" indent="-1175687" algn="l" defTabSz="3762197" rtl="0" eaLnBrk="1" latinLnBrk="0" hangingPunct="1">
              <a:spcBef>
                <a:spcPct val="20000"/>
              </a:spcBef>
              <a:buFont typeface="Arial" pitchFamily="34" charset="0"/>
              <a:buChar char="–"/>
              <a:defRPr sz="11602" kern="1200">
                <a:solidFill>
                  <a:schemeClr val="tx1"/>
                </a:solidFill>
                <a:latin typeface="+mn-lt"/>
                <a:ea typeface="+mn-ea"/>
                <a:cs typeface="+mn-cs"/>
              </a:defRPr>
            </a:lvl2pPr>
            <a:lvl3pPr marL="4702747" indent="-940550" algn="l" defTabSz="3762197"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847"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943"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6041"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7141"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8239"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9337"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sz="3600" dirty="0"/>
              <a:t>Conclusion</a:t>
            </a:r>
          </a:p>
        </p:txBody>
      </p:sp>
      <p:sp>
        <p:nvSpPr>
          <p:cNvPr id="49" name="Text Placeholder 2">
            <a:extLst>
              <a:ext uri="{FF2B5EF4-FFF2-40B4-BE49-F238E27FC236}">
                <a16:creationId xmlns:a16="http://schemas.microsoft.com/office/drawing/2014/main" id="{4E68F096-820E-BE4D-974C-C08D23F03851}"/>
              </a:ext>
            </a:extLst>
          </p:cNvPr>
          <p:cNvSpPr txBox="1">
            <a:spLocks/>
          </p:cNvSpPr>
          <p:nvPr/>
        </p:nvSpPr>
        <p:spPr>
          <a:xfrm>
            <a:off x="384510" y="19085908"/>
            <a:ext cx="10252709" cy="712279"/>
          </a:xfrm>
          <a:prstGeom prst="rect">
            <a:avLst/>
          </a:prstGeom>
          <a:solidFill>
            <a:schemeClr val="accent5">
              <a:lumMod val="50000"/>
            </a:schemeClr>
          </a:solidFill>
        </p:spPr>
        <p:txBody>
          <a:bodyPr wrap="square" lIns="78375" tIns="78375" rIns="78375" bIns="78375" anchor="t" anchorCtr="0">
            <a:spAutoFit/>
          </a:bodyPr>
          <a:lstStyle>
            <a:lvl1pPr marL="0" indent="0" algn="ctr" defTabSz="3761915" rtl="0" eaLnBrk="1" latinLnBrk="0" hangingPunct="1">
              <a:spcBef>
                <a:spcPct val="20000"/>
              </a:spcBef>
              <a:buFont typeface="Arial" pitchFamily="34" charset="0"/>
              <a:buNone/>
              <a:defRPr sz="2400" b="1" u="none" kern="1200" baseline="0">
                <a:solidFill>
                  <a:schemeClr val="bg1"/>
                </a:solidFill>
                <a:latin typeface="Century Gothic" panose="020B0502020202020204" pitchFamily="34" charset="0"/>
                <a:ea typeface="+mn-ea"/>
                <a:cs typeface="+mn-cs"/>
              </a:defRPr>
            </a:lvl1pPr>
            <a:lvl2pPr marL="3056556" indent="-1175598" algn="l" defTabSz="3761915"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2394" indent="-940479" algn="l" defTabSz="3761915"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352"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308"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sz="3600" dirty="0">
                <a:highlight>
                  <a:srgbClr val="203864"/>
                </a:highlight>
              </a:rPr>
              <a:t>Consort Diagram</a:t>
            </a:r>
          </a:p>
        </p:txBody>
      </p:sp>
      <p:sp>
        <p:nvSpPr>
          <p:cNvPr id="50" name="Text Placeholder 6">
            <a:extLst>
              <a:ext uri="{FF2B5EF4-FFF2-40B4-BE49-F238E27FC236}">
                <a16:creationId xmlns:a16="http://schemas.microsoft.com/office/drawing/2014/main" id="{7651C22F-89A2-4FE2-953A-29608D8B96AF}"/>
              </a:ext>
            </a:extLst>
          </p:cNvPr>
          <p:cNvSpPr txBox="1">
            <a:spLocks/>
          </p:cNvSpPr>
          <p:nvPr/>
        </p:nvSpPr>
        <p:spPr>
          <a:xfrm>
            <a:off x="33511959" y="13260972"/>
            <a:ext cx="10199128" cy="8716232"/>
          </a:xfrm>
          <a:prstGeom prst="rect">
            <a:avLst/>
          </a:prstGeom>
          <a:ln>
            <a:solidFill>
              <a:schemeClr val="tx1"/>
            </a:solidFill>
          </a:ln>
        </p:spPr>
        <p:txBody>
          <a:bodyPr wrap="square" lIns="91440" tIns="91440" rIns="91440" bIns="91440" anchor="t" anchorCtr="0">
            <a:spAutoFit/>
          </a:bodyPr>
          <a:lstStyle>
            <a:lvl1pPr marL="0" indent="0" algn="l" defTabSz="3761915" rtl="0" eaLnBrk="1" latinLnBrk="0" hangingPunct="1">
              <a:spcBef>
                <a:spcPct val="20000"/>
              </a:spcBef>
              <a:buFont typeface="Arial" pitchFamily="34" charset="0"/>
              <a:buNone/>
              <a:defRPr sz="20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273565"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2pPr>
            <a:lvl3pPr marL="1763397"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3pPr>
            <a:lvl4pPr marL="2302214" indent="-538817"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4pPr>
            <a:lvl5pPr marL="2694080" indent="-391866"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sz="3600" dirty="0"/>
              <a:t>Clinical Trials that use stratified randomization on dichotomized factors should report models with continuous covariates and </a:t>
            </a:r>
            <a:r>
              <a:rPr lang="en-US" sz="3600" b="1" dirty="0"/>
              <a:t>provide both unadjusted and adjusted analyses for transparency</a:t>
            </a:r>
            <a:r>
              <a:rPr lang="en-US" sz="3600" dirty="0"/>
              <a:t>. Furthermore, the reduction of standard errors when using the per-randomized data is not indicative of an issue with the corrected data</a:t>
            </a:r>
          </a:p>
          <a:p>
            <a:endParaRPr lang="en-US" sz="3600" dirty="0"/>
          </a:p>
          <a:p>
            <a:r>
              <a:rPr lang="en-US" sz="3600" dirty="0"/>
              <a:t>Following this advice, our data showed that patients who received Deep NMB had 1.5 (95% CI: 0.79, 2.90) to 1.6 (95% CI: 0.83, 3.11) the odds of lower categories of postoperative pain compared to moderate NMB</a:t>
            </a:r>
          </a:p>
        </p:txBody>
      </p:sp>
      <p:sp>
        <p:nvSpPr>
          <p:cNvPr id="54" name="Text Placeholder 2">
            <a:extLst>
              <a:ext uri="{FF2B5EF4-FFF2-40B4-BE49-F238E27FC236}">
                <a16:creationId xmlns:a16="http://schemas.microsoft.com/office/drawing/2014/main" id="{9EFA3538-3AE5-1BDF-E254-6A4A742AE5CD}"/>
              </a:ext>
            </a:extLst>
          </p:cNvPr>
          <p:cNvSpPr txBox="1">
            <a:spLocks/>
          </p:cNvSpPr>
          <p:nvPr/>
        </p:nvSpPr>
        <p:spPr>
          <a:xfrm>
            <a:off x="33511959" y="5780019"/>
            <a:ext cx="10199128" cy="712277"/>
          </a:xfrm>
          <a:prstGeom prst="rect">
            <a:avLst/>
          </a:prstGeom>
          <a:solidFill>
            <a:schemeClr val="accent5">
              <a:lumMod val="50000"/>
            </a:schemeClr>
          </a:solidFill>
        </p:spPr>
        <p:txBody>
          <a:bodyPr wrap="square" lIns="78374" tIns="78374" rIns="78374" bIns="78374" anchor="t" anchorCtr="0">
            <a:spAutoFit/>
          </a:bodyPr>
          <a:lstStyle>
            <a:lvl1pPr marL="0" indent="0" algn="ctr" defTabSz="3762197" rtl="0" eaLnBrk="1" latinLnBrk="0" hangingPunct="1">
              <a:spcBef>
                <a:spcPct val="20000"/>
              </a:spcBef>
              <a:buFont typeface="Arial" pitchFamily="34" charset="0"/>
              <a:buNone/>
              <a:defRPr sz="2400" b="1" u="none" kern="1200" baseline="0">
                <a:solidFill>
                  <a:schemeClr val="bg1"/>
                </a:solidFill>
                <a:latin typeface="Century Gothic" panose="020B0502020202020204" pitchFamily="34" charset="0"/>
                <a:ea typeface="+mn-ea"/>
                <a:cs typeface="+mn-cs"/>
              </a:defRPr>
            </a:lvl1pPr>
            <a:lvl2pPr marL="3056786" indent="-1175687" algn="l" defTabSz="3762197" rtl="0" eaLnBrk="1" latinLnBrk="0" hangingPunct="1">
              <a:spcBef>
                <a:spcPct val="20000"/>
              </a:spcBef>
              <a:buFont typeface="Arial" pitchFamily="34" charset="0"/>
              <a:buChar char="–"/>
              <a:defRPr sz="11602" kern="1200">
                <a:solidFill>
                  <a:schemeClr val="tx1"/>
                </a:solidFill>
                <a:latin typeface="+mn-lt"/>
                <a:ea typeface="+mn-ea"/>
                <a:cs typeface="+mn-cs"/>
              </a:defRPr>
            </a:lvl2pPr>
            <a:lvl3pPr marL="4702747" indent="-940550" algn="l" defTabSz="3762197"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3847"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4943"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6041"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7141"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8239"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9337" indent="-940550" algn="l" defTabSz="3762197"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sz="3600" dirty="0"/>
              <a:t>Results</a:t>
            </a:r>
          </a:p>
        </p:txBody>
      </p:sp>
      <p:sp>
        <p:nvSpPr>
          <p:cNvPr id="57" name="TextBox 56">
            <a:extLst>
              <a:ext uri="{FF2B5EF4-FFF2-40B4-BE49-F238E27FC236}">
                <a16:creationId xmlns:a16="http://schemas.microsoft.com/office/drawing/2014/main" id="{64B6C398-0404-FAB2-6CA2-26CC61957A55}"/>
              </a:ext>
            </a:extLst>
          </p:cNvPr>
          <p:cNvSpPr txBox="1"/>
          <p:nvPr/>
        </p:nvSpPr>
        <p:spPr>
          <a:xfrm>
            <a:off x="34723899" y="11172851"/>
            <a:ext cx="7503849"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Table 2: Treatment Effect Estimates with Different BMI Variable Types</a:t>
            </a:r>
          </a:p>
        </p:txBody>
      </p:sp>
      <p:pic>
        <p:nvPicPr>
          <p:cNvPr id="62" name="Picture 61">
            <a:extLst>
              <a:ext uri="{FF2B5EF4-FFF2-40B4-BE49-F238E27FC236}">
                <a16:creationId xmlns:a16="http://schemas.microsoft.com/office/drawing/2014/main" id="{1B29AC12-1D02-B84E-F2D6-42693E11DA9C}"/>
              </a:ext>
            </a:extLst>
          </p:cNvPr>
          <p:cNvPicPr>
            <a:picLocks noChangeAspect="1"/>
          </p:cNvPicPr>
          <p:nvPr/>
        </p:nvPicPr>
        <p:blipFill>
          <a:blip r:embed="rId14"/>
          <a:stretch>
            <a:fillRect/>
          </a:stretch>
        </p:blipFill>
        <p:spPr>
          <a:xfrm>
            <a:off x="33512015" y="7147542"/>
            <a:ext cx="9941094" cy="3628499"/>
          </a:xfrm>
          <a:prstGeom prst="rect">
            <a:avLst/>
          </a:prstGeom>
        </p:spPr>
      </p:pic>
      <p:pic>
        <p:nvPicPr>
          <p:cNvPr id="1035" name="Picture 1034">
            <a:extLst>
              <a:ext uri="{FF2B5EF4-FFF2-40B4-BE49-F238E27FC236}">
                <a16:creationId xmlns:a16="http://schemas.microsoft.com/office/drawing/2014/main" id="{EF4198B4-BF3B-D1C0-4F11-F50A20DF0D1B}"/>
              </a:ext>
            </a:extLst>
          </p:cNvPr>
          <p:cNvPicPr>
            <a:picLocks noChangeAspect="1"/>
          </p:cNvPicPr>
          <p:nvPr/>
        </p:nvPicPr>
        <p:blipFill>
          <a:blip r:embed="rId15"/>
          <a:stretch>
            <a:fillRect/>
          </a:stretch>
        </p:blipFill>
        <p:spPr>
          <a:xfrm>
            <a:off x="438092" y="19998278"/>
            <a:ext cx="10177496" cy="10091453"/>
          </a:xfrm>
          <a:prstGeom prst="rect">
            <a:avLst/>
          </a:prstGeom>
        </p:spPr>
      </p:pic>
      <p:sp>
        <p:nvSpPr>
          <p:cNvPr id="1037" name="TextBox 1036">
            <a:extLst>
              <a:ext uri="{FF2B5EF4-FFF2-40B4-BE49-F238E27FC236}">
                <a16:creationId xmlns:a16="http://schemas.microsoft.com/office/drawing/2014/main" id="{F121E410-2A62-BD47-E06F-BC2E2E60EEFB}"/>
              </a:ext>
            </a:extLst>
          </p:cNvPr>
          <p:cNvSpPr txBox="1"/>
          <p:nvPr/>
        </p:nvSpPr>
        <p:spPr>
          <a:xfrm>
            <a:off x="1156652" y="30681404"/>
            <a:ext cx="9134232"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Table 1: Consort Diagram and Four types of BMI data to be used in Statistical Analysis</a:t>
            </a:r>
          </a:p>
        </p:txBody>
      </p:sp>
    </p:spTree>
    <p:extLst>
      <p:ext uri="{BB962C8B-B14F-4D97-AF65-F5344CB8AC3E}">
        <p14:creationId xmlns:p14="http://schemas.microsoft.com/office/powerpoint/2010/main" val="1394695677"/>
      </p:ext>
    </p:extLst>
  </p:cSld>
  <p:clrMapOvr>
    <a:masterClrMapping/>
  </p:clrMapOvr>
</p:sld>
</file>

<file path=ppt/theme/theme1.xml><?xml version="1.0" encoding="utf-8"?>
<a:theme xmlns:a="http://schemas.openxmlformats.org/drawingml/2006/main" name="48x96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PosterPresentations.com-48x96-Template</Template>
  <TotalTime>3569</TotalTime>
  <Words>739</Words>
  <Application>Microsoft Office PowerPoint</Application>
  <PresentationFormat>Custom</PresentationFormat>
  <Paragraphs>49</Paragraphs>
  <Slides>1</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vt:i4>
      </vt:variant>
    </vt:vector>
  </HeadingPairs>
  <TitlesOfParts>
    <vt:vector size="11" baseType="lpstr">
      <vt:lpstr>Arial</vt:lpstr>
      <vt:lpstr>Arial Black</vt:lpstr>
      <vt:lpstr>Calibri</vt:lpstr>
      <vt:lpstr>Cambria Math</vt:lpstr>
      <vt:lpstr>Century Gothic</vt:lpstr>
      <vt:lpstr>Times New Roman</vt:lpstr>
      <vt:lpstr>Trebuchet MS</vt:lpstr>
      <vt:lpstr>Wingdings</vt:lpstr>
      <vt:lpstr>48x96 Template</vt:lpstr>
      <vt:lpstr>Without Guides</vt:lpstr>
      <vt:lpstr>PowerPoint Presentation</vt:lpstr>
    </vt:vector>
  </TitlesOfParts>
  <Manager>A. Kotoulas </Manager>
  <Company>Canterbury Media Services, Inc. </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48x96 PowerPoint Presentation</dc:title>
  <dc:subject>Research poster presentation template </dc:subject>
  <dc:creator>PosterPresentations.com </dc:creator>
  <cp:keywords>48x96 Powerpoint poster template, scientific poster template, research poster template </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
</dc:description>
  <cp:lastModifiedBy>Daniel Jang</cp:lastModifiedBy>
  <cp:revision>84</cp:revision>
  <dcterms:created xsi:type="dcterms:W3CDTF">2012-02-09T21:25:37Z</dcterms:created>
  <dcterms:modified xsi:type="dcterms:W3CDTF">2026-03-13T17:59:09Z</dcterms:modified>
  <cp:category>Research poster templates </cp:category>
</cp:coreProperties>
</file>