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8"/>
  </p:notesMasterIdLst>
  <p:sldIdLst>
    <p:sldId id="11056" r:id="rId2"/>
    <p:sldId id="11062" r:id="rId3"/>
    <p:sldId id="10985" r:id="rId4"/>
    <p:sldId id="11037" r:id="rId5"/>
    <p:sldId id="11063" r:id="rId6"/>
    <p:sldId id="11073" r:id="rId7"/>
    <p:sldId id="11072" r:id="rId8"/>
    <p:sldId id="11078" r:id="rId9"/>
    <p:sldId id="11079" r:id="rId10"/>
    <p:sldId id="11000" r:id="rId11"/>
    <p:sldId id="11047" r:id="rId12"/>
    <p:sldId id="11077" r:id="rId13"/>
    <p:sldId id="11069" r:id="rId14"/>
    <p:sldId id="11070" r:id="rId15"/>
    <p:sldId id="11061" r:id="rId16"/>
    <p:sldId id="11057" r:id="rId17"/>
    <p:sldId id="11068" r:id="rId18"/>
    <p:sldId id="11081" r:id="rId19"/>
    <p:sldId id="11065" r:id="rId20"/>
    <p:sldId id="11067" r:id="rId21"/>
    <p:sldId id="11071" r:id="rId22"/>
    <p:sldId id="11074" r:id="rId23"/>
    <p:sldId id="11066" r:id="rId24"/>
    <p:sldId id="11076" r:id="rId25"/>
    <p:sldId id="11080" r:id="rId26"/>
    <p:sldId id="1108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A7F72B-019B-4D98-B330-548FE51FDCC4}" v="10" dt="2025-07-21T17:40:10.2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351" autoAdjust="0"/>
  </p:normalViewPr>
  <p:slideViewPr>
    <p:cSldViewPr snapToGrid="0" snapToObjects="1">
      <p:cViewPr>
        <p:scale>
          <a:sx n="96" d="100"/>
          <a:sy n="96" d="100"/>
        </p:scale>
        <p:origin x="178" y="-32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g, Daniel" userId="bcb24f72-8373-4e07-b9a5-29075d152da9" providerId="ADAL" clId="{B6A7F72B-019B-4D98-B330-548FE51FDCC4}"/>
    <pc:docChg chg="undo custSel addSld delSld modSld">
      <pc:chgData name="Jang, Daniel" userId="bcb24f72-8373-4e07-b9a5-29075d152da9" providerId="ADAL" clId="{B6A7F72B-019B-4D98-B330-548FE51FDCC4}" dt="2025-07-21T17:45:06.357" v="1308" actId="20577"/>
      <pc:docMkLst>
        <pc:docMk/>
      </pc:docMkLst>
      <pc:sldChg chg="del">
        <pc:chgData name="Jang, Daniel" userId="bcb24f72-8373-4e07-b9a5-29075d152da9" providerId="ADAL" clId="{B6A7F72B-019B-4D98-B330-548FE51FDCC4}" dt="2025-07-21T17:26:50.226" v="22" actId="47"/>
        <pc:sldMkLst>
          <pc:docMk/>
          <pc:sldMk cId="2417970205" sldId="10966"/>
        </pc:sldMkLst>
      </pc:sldChg>
      <pc:sldChg chg="del">
        <pc:chgData name="Jang, Daniel" userId="bcb24f72-8373-4e07-b9a5-29075d152da9" providerId="ADAL" clId="{B6A7F72B-019B-4D98-B330-548FE51FDCC4}" dt="2025-07-21T17:26:50.033" v="17" actId="47"/>
        <pc:sldMkLst>
          <pc:docMk/>
          <pc:sldMk cId="3404229914" sldId="10970"/>
        </pc:sldMkLst>
      </pc:sldChg>
      <pc:sldChg chg="del">
        <pc:chgData name="Jang, Daniel" userId="bcb24f72-8373-4e07-b9a5-29075d152da9" providerId="ADAL" clId="{B6A7F72B-019B-4D98-B330-548FE51FDCC4}" dt="2025-07-21T17:26:50.100" v="19" actId="47"/>
        <pc:sldMkLst>
          <pc:docMk/>
          <pc:sldMk cId="3493102895" sldId="10974"/>
        </pc:sldMkLst>
      </pc:sldChg>
      <pc:sldChg chg="del">
        <pc:chgData name="Jang, Daniel" userId="bcb24f72-8373-4e07-b9a5-29075d152da9" providerId="ADAL" clId="{B6A7F72B-019B-4D98-B330-548FE51FDCC4}" dt="2025-07-21T17:26:50.148" v="20" actId="47"/>
        <pc:sldMkLst>
          <pc:docMk/>
          <pc:sldMk cId="720230231" sldId="10975"/>
        </pc:sldMkLst>
      </pc:sldChg>
      <pc:sldChg chg="del">
        <pc:chgData name="Jang, Daniel" userId="bcb24f72-8373-4e07-b9a5-29075d152da9" providerId="ADAL" clId="{B6A7F72B-019B-4D98-B330-548FE51FDCC4}" dt="2025-07-21T17:26:45.962" v="3" actId="47"/>
        <pc:sldMkLst>
          <pc:docMk/>
          <pc:sldMk cId="3370104961" sldId="10978"/>
        </pc:sldMkLst>
      </pc:sldChg>
      <pc:sldChg chg="del">
        <pc:chgData name="Jang, Daniel" userId="bcb24f72-8373-4e07-b9a5-29075d152da9" providerId="ADAL" clId="{B6A7F72B-019B-4D98-B330-548FE51FDCC4}" dt="2025-07-21T17:26:50.262" v="23" actId="47"/>
        <pc:sldMkLst>
          <pc:docMk/>
          <pc:sldMk cId="2742683971" sldId="10982"/>
        </pc:sldMkLst>
      </pc:sldChg>
      <pc:sldChg chg="del">
        <pc:chgData name="Jang, Daniel" userId="bcb24f72-8373-4e07-b9a5-29075d152da9" providerId="ADAL" clId="{B6A7F72B-019B-4D98-B330-548FE51FDCC4}" dt="2025-07-21T17:26:51.558" v="30" actId="47"/>
        <pc:sldMkLst>
          <pc:docMk/>
          <pc:sldMk cId="714503687" sldId="10983"/>
        </pc:sldMkLst>
      </pc:sldChg>
      <pc:sldChg chg="del">
        <pc:chgData name="Jang, Daniel" userId="bcb24f72-8373-4e07-b9a5-29075d152da9" providerId="ADAL" clId="{B6A7F72B-019B-4D98-B330-548FE51FDCC4}" dt="2025-07-21T17:26:51.618" v="31" actId="47"/>
        <pc:sldMkLst>
          <pc:docMk/>
          <pc:sldMk cId="3595459348" sldId="10984"/>
        </pc:sldMkLst>
      </pc:sldChg>
      <pc:sldChg chg="delSp modSp add del mod">
        <pc:chgData name="Jang, Daniel" userId="bcb24f72-8373-4e07-b9a5-29075d152da9" providerId="ADAL" clId="{B6A7F72B-019B-4D98-B330-548FE51FDCC4}" dt="2025-07-21T17:33:44" v="165" actId="1076"/>
        <pc:sldMkLst>
          <pc:docMk/>
          <pc:sldMk cId="2817966227" sldId="10985"/>
        </pc:sldMkLst>
        <pc:spChg chg="mod">
          <ac:chgData name="Jang, Daniel" userId="bcb24f72-8373-4e07-b9a5-29075d152da9" providerId="ADAL" clId="{B6A7F72B-019B-4D98-B330-548FE51FDCC4}" dt="2025-07-21T17:33:17.217" v="157" actId="113"/>
          <ac:spMkLst>
            <pc:docMk/>
            <pc:sldMk cId="2817966227" sldId="10985"/>
            <ac:spMk id="7" creationId="{17A580B4-D1F0-AB17-66B7-6675DAF12D80}"/>
          </ac:spMkLst>
        </pc:spChg>
        <pc:spChg chg="del mod">
          <ac:chgData name="Jang, Daniel" userId="bcb24f72-8373-4e07-b9a5-29075d152da9" providerId="ADAL" clId="{B6A7F72B-019B-4D98-B330-548FE51FDCC4}" dt="2025-07-21T17:33:24.872" v="159" actId="478"/>
          <ac:spMkLst>
            <pc:docMk/>
            <pc:sldMk cId="2817966227" sldId="10985"/>
            <ac:spMk id="10" creationId="{C97C7783-0E70-3DC1-85C1-4A72A2AF013A}"/>
          </ac:spMkLst>
        </pc:spChg>
        <pc:spChg chg="mod">
          <ac:chgData name="Jang, Daniel" userId="bcb24f72-8373-4e07-b9a5-29075d152da9" providerId="ADAL" clId="{B6A7F72B-019B-4D98-B330-548FE51FDCC4}" dt="2025-07-21T17:33:44" v="165" actId="1076"/>
          <ac:spMkLst>
            <pc:docMk/>
            <pc:sldMk cId="2817966227" sldId="10985"/>
            <ac:spMk id="11" creationId="{64D31A6C-EF06-53E8-201D-53589BE3E758}"/>
          </ac:spMkLst>
        </pc:spChg>
        <pc:spChg chg="mod">
          <ac:chgData name="Jang, Daniel" userId="bcb24f72-8373-4e07-b9a5-29075d152da9" providerId="ADAL" clId="{B6A7F72B-019B-4D98-B330-548FE51FDCC4}" dt="2025-07-21T17:33:36.566" v="162" actId="1076"/>
          <ac:spMkLst>
            <pc:docMk/>
            <pc:sldMk cId="2817966227" sldId="10985"/>
            <ac:spMk id="12" creationId="{F0AA23A5-5856-B7FA-6039-7970FE0C4391}"/>
          </ac:spMkLst>
        </pc:spChg>
        <pc:picChg chg="mod">
          <ac:chgData name="Jang, Daniel" userId="bcb24f72-8373-4e07-b9a5-29075d152da9" providerId="ADAL" clId="{B6A7F72B-019B-4D98-B330-548FE51FDCC4}" dt="2025-07-21T17:33:31.701" v="161" actId="1076"/>
          <ac:picMkLst>
            <pc:docMk/>
            <pc:sldMk cId="2817966227" sldId="10985"/>
            <ac:picMk id="4" creationId="{6F4D40AC-ED49-F8A4-6C36-C4D2CD85FD13}"/>
          </ac:picMkLst>
        </pc:picChg>
      </pc:sldChg>
      <pc:sldChg chg="modSp add del mod">
        <pc:chgData name="Jang, Daniel" userId="bcb24f72-8373-4e07-b9a5-29075d152da9" providerId="ADAL" clId="{B6A7F72B-019B-4D98-B330-548FE51FDCC4}" dt="2025-07-21T17:35:21.928" v="283" actId="20577"/>
        <pc:sldMkLst>
          <pc:docMk/>
          <pc:sldMk cId="1362201508" sldId="11000"/>
        </pc:sldMkLst>
        <pc:spChg chg="mod">
          <ac:chgData name="Jang, Daniel" userId="bcb24f72-8373-4e07-b9a5-29075d152da9" providerId="ADAL" clId="{B6A7F72B-019B-4D98-B330-548FE51FDCC4}" dt="2025-07-21T17:35:21.928" v="283" actId="20577"/>
          <ac:spMkLst>
            <pc:docMk/>
            <pc:sldMk cId="1362201508" sldId="11000"/>
            <ac:spMk id="8" creationId="{09C86CDB-F7C3-7916-DC0E-E3A114DE1774}"/>
          </ac:spMkLst>
        </pc:spChg>
      </pc:sldChg>
      <pc:sldChg chg="del">
        <pc:chgData name="Jang, Daniel" userId="bcb24f72-8373-4e07-b9a5-29075d152da9" providerId="ADAL" clId="{B6A7F72B-019B-4D98-B330-548FE51FDCC4}" dt="2025-07-21T17:26:49.997" v="16" actId="47"/>
        <pc:sldMkLst>
          <pc:docMk/>
          <pc:sldMk cId="3737674382" sldId="11025"/>
        </pc:sldMkLst>
      </pc:sldChg>
      <pc:sldChg chg="del">
        <pc:chgData name="Jang, Daniel" userId="bcb24f72-8373-4e07-b9a5-29075d152da9" providerId="ADAL" clId="{B6A7F72B-019B-4D98-B330-548FE51FDCC4}" dt="2025-07-21T17:26:49.899" v="12" actId="47"/>
        <pc:sldMkLst>
          <pc:docMk/>
          <pc:sldMk cId="386607497" sldId="11028"/>
        </pc:sldMkLst>
      </pc:sldChg>
      <pc:sldChg chg="del">
        <pc:chgData name="Jang, Daniel" userId="bcb24f72-8373-4e07-b9a5-29075d152da9" providerId="ADAL" clId="{B6A7F72B-019B-4D98-B330-548FE51FDCC4}" dt="2025-07-21T17:26:49.973" v="15" actId="47"/>
        <pc:sldMkLst>
          <pc:docMk/>
          <pc:sldMk cId="1627617387" sldId="11030"/>
        </pc:sldMkLst>
      </pc:sldChg>
      <pc:sldChg chg="del">
        <pc:chgData name="Jang, Daniel" userId="bcb24f72-8373-4e07-b9a5-29075d152da9" providerId="ADAL" clId="{B6A7F72B-019B-4D98-B330-548FE51FDCC4}" dt="2025-07-21T17:26:48.090" v="6" actId="47"/>
        <pc:sldMkLst>
          <pc:docMk/>
          <pc:sldMk cId="3139304020" sldId="11032"/>
        </pc:sldMkLst>
      </pc:sldChg>
      <pc:sldChg chg="del">
        <pc:chgData name="Jang, Daniel" userId="bcb24f72-8373-4e07-b9a5-29075d152da9" providerId="ADAL" clId="{B6A7F72B-019B-4D98-B330-548FE51FDCC4}" dt="2025-07-21T17:26:03.990" v="0" actId="47"/>
        <pc:sldMkLst>
          <pc:docMk/>
          <pc:sldMk cId="3514259084" sldId="11033"/>
        </pc:sldMkLst>
      </pc:sldChg>
      <pc:sldChg chg="del">
        <pc:chgData name="Jang, Daniel" userId="bcb24f72-8373-4e07-b9a5-29075d152da9" providerId="ADAL" clId="{B6A7F72B-019B-4D98-B330-548FE51FDCC4}" dt="2025-07-21T17:26:49.813" v="10" actId="47"/>
        <pc:sldMkLst>
          <pc:docMk/>
          <pc:sldMk cId="485965330" sldId="11034"/>
        </pc:sldMkLst>
      </pc:sldChg>
      <pc:sldChg chg="del">
        <pc:chgData name="Jang, Daniel" userId="bcb24f72-8373-4e07-b9a5-29075d152da9" providerId="ADAL" clId="{B6A7F72B-019B-4D98-B330-548FE51FDCC4}" dt="2025-07-21T17:26:50.191" v="21" actId="47"/>
        <pc:sldMkLst>
          <pc:docMk/>
          <pc:sldMk cId="2074617678" sldId="11035"/>
        </pc:sldMkLst>
      </pc:sldChg>
      <pc:sldChg chg="del">
        <pc:chgData name="Jang, Daniel" userId="bcb24f72-8373-4e07-b9a5-29075d152da9" providerId="ADAL" clId="{B6A7F72B-019B-4D98-B330-548FE51FDCC4}" dt="2025-07-21T17:26:50.290" v="24" actId="47"/>
        <pc:sldMkLst>
          <pc:docMk/>
          <pc:sldMk cId="1040658164" sldId="11036"/>
        </pc:sldMkLst>
      </pc:sldChg>
      <pc:sldChg chg="modSp add del mod">
        <pc:chgData name="Jang, Daniel" userId="bcb24f72-8373-4e07-b9a5-29075d152da9" providerId="ADAL" clId="{B6A7F72B-019B-4D98-B330-548FE51FDCC4}" dt="2025-07-21T17:34:13.568" v="193" actId="1076"/>
        <pc:sldMkLst>
          <pc:docMk/>
          <pc:sldMk cId="3294289372" sldId="11037"/>
        </pc:sldMkLst>
        <pc:spChg chg="mod">
          <ac:chgData name="Jang, Daniel" userId="bcb24f72-8373-4e07-b9a5-29075d152da9" providerId="ADAL" clId="{B6A7F72B-019B-4D98-B330-548FE51FDCC4}" dt="2025-07-21T17:34:09.749" v="192" actId="20577"/>
          <ac:spMkLst>
            <pc:docMk/>
            <pc:sldMk cId="3294289372" sldId="11037"/>
            <ac:spMk id="2" creationId="{31276404-F8F3-A445-9CFF-8421F3D4BE72}"/>
          </ac:spMkLst>
        </pc:spChg>
        <pc:spChg chg="mod">
          <ac:chgData name="Jang, Daniel" userId="bcb24f72-8373-4e07-b9a5-29075d152da9" providerId="ADAL" clId="{B6A7F72B-019B-4D98-B330-548FE51FDCC4}" dt="2025-07-21T17:34:13.568" v="193" actId="1076"/>
          <ac:spMkLst>
            <pc:docMk/>
            <pc:sldMk cId="3294289372" sldId="11037"/>
            <ac:spMk id="10" creationId="{86977ADE-3A3F-ADB5-92FA-283FA816DB0D}"/>
          </ac:spMkLst>
        </pc:spChg>
      </pc:sldChg>
      <pc:sldChg chg="del">
        <pc:chgData name="Jang, Daniel" userId="bcb24f72-8373-4e07-b9a5-29075d152da9" providerId="ADAL" clId="{B6A7F72B-019B-4D98-B330-548FE51FDCC4}" dt="2025-07-21T17:26:51.471" v="27" actId="47"/>
        <pc:sldMkLst>
          <pc:docMk/>
          <pc:sldMk cId="3348887438" sldId="11038"/>
        </pc:sldMkLst>
      </pc:sldChg>
      <pc:sldChg chg="del">
        <pc:chgData name="Jang, Daniel" userId="bcb24f72-8373-4e07-b9a5-29075d152da9" providerId="ADAL" clId="{B6A7F72B-019B-4D98-B330-548FE51FDCC4}" dt="2025-07-21T17:26:51.495" v="28" actId="47"/>
        <pc:sldMkLst>
          <pc:docMk/>
          <pc:sldMk cId="3340370412" sldId="11039"/>
        </pc:sldMkLst>
      </pc:sldChg>
      <pc:sldChg chg="del">
        <pc:chgData name="Jang, Daniel" userId="bcb24f72-8373-4e07-b9a5-29075d152da9" providerId="ADAL" clId="{B6A7F72B-019B-4D98-B330-548FE51FDCC4}" dt="2025-07-21T17:26:50.972" v="26" actId="47"/>
        <pc:sldMkLst>
          <pc:docMk/>
          <pc:sldMk cId="3179143083" sldId="11040"/>
        </pc:sldMkLst>
      </pc:sldChg>
      <pc:sldChg chg="del">
        <pc:chgData name="Jang, Daniel" userId="bcb24f72-8373-4e07-b9a5-29075d152da9" providerId="ADAL" clId="{B6A7F72B-019B-4D98-B330-548FE51FDCC4}" dt="2025-07-21T17:26:50.075" v="18" actId="47"/>
        <pc:sldMkLst>
          <pc:docMk/>
          <pc:sldMk cId="1616916442" sldId="11041"/>
        </pc:sldMkLst>
      </pc:sldChg>
      <pc:sldChg chg="del">
        <pc:chgData name="Jang, Daniel" userId="bcb24f72-8373-4e07-b9a5-29075d152da9" providerId="ADAL" clId="{B6A7F72B-019B-4D98-B330-548FE51FDCC4}" dt="2025-07-21T17:26:51.541" v="29" actId="47"/>
        <pc:sldMkLst>
          <pc:docMk/>
          <pc:sldMk cId="747405763" sldId="11043"/>
        </pc:sldMkLst>
      </pc:sldChg>
      <pc:sldChg chg="del">
        <pc:chgData name="Jang, Daniel" userId="bcb24f72-8373-4e07-b9a5-29075d152da9" providerId="ADAL" clId="{B6A7F72B-019B-4D98-B330-548FE51FDCC4}" dt="2025-07-21T17:26:46.927" v="5" actId="47"/>
        <pc:sldMkLst>
          <pc:docMk/>
          <pc:sldMk cId="3583735967" sldId="11044"/>
        </pc:sldMkLst>
      </pc:sldChg>
      <pc:sldChg chg="del">
        <pc:chgData name="Jang, Daniel" userId="bcb24f72-8373-4e07-b9a5-29075d152da9" providerId="ADAL" clId="{B6A7F72B-019B-4D98-B330-548FE51FDCC4}" dt="2025-07-21T17:26:46.454" v="4" actId="47"/>
        <pc:sldMkLst>
          <pc:docMk/>
          <pc:sldMk cId="35562048" sldId="11046"/>
        </pc:sldMkLst>
      </pc:sldChg>
      <pc:sldChg chg="modSp add mod">
        <pc:chgData name="Jang, Daniel" userId="bcb24f72-8373-4e07-b9a5-29075d152da9" providerId="ADAL" clId="{B6A7F72B-019B-4D98-B330-548FE51FDCC4}" dt="2025-07-21T17:36:25.271" v="482" actId="20577"/>
        <pc:sldMkLst>
          <pc:docMk/>
          <pc:sldMk cId="1497521499" sldId="11047"/>
        </pc:sldMkLst>
        <pc:spChg chg="mod">
          <ac:chgData name="Jang, Daniel" userId="bcb24f72-8373-4e07-b9a5-29075d152da9" providerId="ADAL" clId="{B6A7F72B-019B-4D98-B330-548FE51FDCC4}" dt="2025-07-21T17:36:25.271" v="482" actId="20577"/>
          <ac:spMkLst>
            <pc:docMk/>
            <pc:sldMk cId="1497521499" sldId="11047"/>
            <ac:spMk id="8" creationId="{09C86CDB-F7C3-7916-DC0E-E3A114DE1774}"/>
          </ac:spMkLst>
        </pc:spChg>
      </pc:sldChg>
      <pc:sldChg chg="del">
        <pc:chgData name="Jang, Daniel" userId="bcb24f72-8373-4e07-b9a5-29075d152da9" providerId="ADAL" clId="{B6A7F72B-019B-4D98-B330-548FE51FDCC4}" dt="2025-07-21T17:26:45.249" v="2" actId="47"/>
        <pc:sldMkLst>
          <pc:docMk/>
          <pc:sldMk cId="3408005331" sldId="11047"/>
        </pc:sldMkLst>
      </pc:sldChg>
      <pc:sldChg chg="modSp add mod">
        <pc:chgData name="Jang, Daniel" userId="bcb24f72-8373-4e07-b9a5-29075d152da9" providerId="ADAL" clId="{B6A7F72B-019B-4D98-B330-548FE51FDCC4}" dt="2025-07-21T17:34:29.499" v="216" actId="20577"/>
        <pc:sldMkLst>
          <pc:docMk/>
          <pc:sldMk cId="1939520222" sldId="11048"/>
        </pc:sldMkLst>
        <pc:spChg chg="mod">
          <ac:chgData name="Jang, Daniel" userId="bcb24f72-8373-4e07-b9a5-29075d152da9" providerId="ADAL" clId="{B6A7F72B-019B-4D98-B330-548FE51FDCC4}" dt="2025-07-21T17:34:29.499" v="216" actId="20577"/>
          <ac:spMkLst>
            <pc:docMk/>
            <pc:sldMk cId="1939520222" sldId="11048"/>
            <ac:spMk id="7" creationId="{17A580B4-D1F0-AB17-66B7-6675DAF12D80}"/>
          </ac:spMkLst>
        </pc:spChg>
      </pc:sldChg>
      <pc:sldChg chg="del">
        <pc:chgData name="Jang, Daniel" userId="bcb24f72-8373-4e07-b9a5-29075d152da9" providerId="ADAL" clId="{B6A7F72B-019B-4D98-B330-548FE51FDCC4}" dt="2025-07-21T17:26:49.227" v="7" actId="47"/>
        <pc:sldMkLst>
          <pc:docMk/>
          <pc:sldMk cId="4030204074" sldId="11048"/>
        </pc:sldMkLst>
      </pc:sldChg>
      <pc:sldChg chg="modSp add mod">
        <pc:chgData name="Jang, Daniel" userId="bcb24f72-8373-4e07-b9a5-29075d152da9" providerId="ADAL" clId="{B6A7F72B-019B-4D98-B330-548FE51FDCC4}" dt="2025-07-21T17:35:13.059" v="282" actId="20577"/>
        <pc:sldMkLst>
          <pc:docMk/>
          <pc:sldMk cId="1752563506" sldId="11049"/>
        </pc:sldMkLst>
        <pc:spChg chg="mod">
          <ac:chgData name="Jang, Daniel" userId="bcb24f72-8373-4e07-b9a5-29075d152da9" providerId="ADAL" clId="{B6A7F72B-019B-4D98-B330-548FE51FDCC4}" dt="2025-07-21T17:35:13.059" v="282" actId="20577"/>
          <ac:spMkLst>
            <pc:docMk/>
            <pc:sldMk cId="1752563506" sldId="11049"/>
            <ac:spMk id="2" creationId="{31276404-F8F3-A445-9CFF-8421F3D4BE72}"/>
          </ac:spMkLst>
        </pc:spChg>
      </pc:sldChg>
      <pc:sldChg chg="del">
        <pc:chgData name="Jang, Daniel" userId="bcb24f72-8373-4e07-b9a5-29075d152da9" providerId="ADAL" clId="{B6A7F72B-019B-4D98-B330-548FE51FDCC4}" dt="2025-07-21T17:26:49.740" v="8" actId="47"/>
        <pc:sldMkLst>
          <pc:docMk/>
          <pc:sldMk cId="3552109320" sldId="11049"/>
        </pc:sldMkLst>
      </pc:sldChg>
      <pc:sldChg chg="del">
        <pc:chgData name="Jang, Daniel" userId="bcb24f72-8373-4e07-b9a5-29075d152da9" providerId="ADAL" clId="{B6A7F72B-019B-4D98-B330-548FE51FDCC4}" dt="2025-07-21T17:26:49.777" v="9" actId="47"/>
        <pc:sldMkLst>
          <pc:docMk/>
          <pc:sldMk cId="753453711" sldId="11050"/>
        </pc:sldMkLst>
      </pc:sldChg>
      <pc:sldChg chg="del">
        <pc:chgData name="Jang, Daniel" userId="bcb24f72-8373-4e07-b9a5-29075d152da9" providerId="ADAL" clId="{B6A7F72B-019B-4D98-B330-548FE51FDCC4}" dt="2025-07-21T17:26:49.830" v="11" actId="47"/>
        <pc:sldMkLst>
          <pc:docMk/>
          <pc:sldMk cId="2574835225" sldId="11052"/>
        </pc:sldMkLst>
      </pc:sldChg>
      <pc:sldChg chg="add del">
        <pc:chgData name="Jang, Daniel" userId="bcb24f72-8373-4e07-b9a5-29075d152da9" providerId="ADAL" clId="{B6A7F72B-019B-4D98-B330-548FE51FDCC4}" dt="2025-07-21T17:32:07.536" v="108" actId="47"/>
        <pc:sldMkLst>
          <pc:docMk/>
          <pc:sldMk cId="1987716732" sldId="11053"/>
        </pc:sldMkLst>
      </pc:sldChg>
      <pc:sldChg chg="modSp new del mod">
        <pc:chgData name="Jang, Daniel" userId="bcb24f72-8373-4e07-b9a5-29075d152da9" providerId="ADAL" clId="{B6A7F72B-019B-4D98-B330-548FE51FDCC4}" dt="2025-07-21T17:36:31.532" v="483" actId="47"/>
        <pc:sldMkLst>
          <pc:docMk/>
          <pc:sldMk cId="453773942" sldId="11054"/>
        </pc:sldMkLst>
        <pc:spChg chg="mod">
          <ac:chgData name="Jang, Daniel" userId="bcb24f72-8373-4e07-b9a5-29075d152da9" providerId="ADAL" clId="{B6A7F72B-019B-4D98-B330-548FE51FDCC4}" dt="2025-07-21T17:28:22.686" v="49" actId="20577"/>
          <ac:spMkLst>
            <pc:docMk/>
            <pc:sldMk cId="453773942" sldId="11054"/>
            <ac:spMk id="5" creationId="{DF445EEE-2661-6D49-C660-2BBCD510B1CA}"/>
          </ac:spMkLst>
        </pc:spChg>
      </pc:sldChg>
      <pc:sldChg chg="add del">
        <pc:chgData name="Jang, Daniel" userId="bcb24f72-8373-4e07-b9a5-29075d152da9" providerId="ADAL" clId="{B6A7F72B-019B-4D98-B330-548FE51FDCC4}" dt="2025-07-21T17:27:38.490" v="37" actId="47"/>
        <pc:sldMkLst>
          <pc:docMk/>
          <pc:sldMk cId="3749820684" sldId="11054"/>
        </pc:sldMkLst>
      </pc:sldChg>
      <pc:sldChg chg="delSp modSp new del mod">
        <pc:chgData name="Jang, Daniel" userId="bcb24f72-8373-4e07-b9a5-29075d152da9" providerId="ADAL" clId="{B6A7F72B-019B-4D98-B330-548FE51FDCC4}" dt="2025-07-21T17:40:20.873" v="923" actId="47"/>
        <pc:sldMkLst>
          <pc:docMk/>
          <pc:sldMk cId="2614281568" sldId="11055"/>
        </pc:sldMkLst>
        <pc:spChg chg="mod">
          <ac:chgData name="Jang, Daniel" userId="bcb24f72-8373-4e07-b9a5-29075d152da9" providerId="ADAL" clId="{B6A7F72B-019B-4D98-B330-548FE51FDCC4}" dt="2025-07-21T17:38:23.328" v="850" actId="14100"/>
          <ac:spMkLst>
            <pc:docMk/>
            <pc:sldMk cId="2614281568" sldId="11055"/>
            <ac:spMk id="5" creationId="{17013A50-1934-3754-CAEE-31615D6D7777}"/>
          </ac:spMkLst>
        </pc:spChg>
        <pc:spChg chg="mod">
          <ac:chgData name="Jang, Daniel" userId="bcb24f72-8373-4e07-b9a5-29075d152da9" providerId="ADAL" clId="{B6A7F72B-019B-4D98-B330-548FE51FDCC4}" dt="2025-07-21T17:36:45.155" v="510" actId="20577"/>
          <ac:spMkLst>
            <pc:docMk/>
            <pc:sldMk cId="2614281568" sldId="11055"/>
            <ac:spMk id="6" creationId="{A97EF7FA-161B-848B-C795-0F5049A7B3B7}"/>
          </ac:spMkLst>
        </pc:spChg>
        <pc:spChg chg="del">
          <ac:chgData name="Jang, Daniel" userId="bcb24f72-8373-4e07-b9a5-29075d152da9" providerId="ADAL" clId="{B6A7F72B-019B-4D98-B330-548FE51FDCC4}" dt="2025-07-21T17:36:38.509" v="485" actId="478"/>
          <ac:spMkLst>
            <pc:docMk/>
            <pc:sldMk cId="2614281568" sldId="11055"/>
            <ac:spMk id="7" creationId="{FDCE5702-6FB3-2EF1-2CD0-38F050CB3D9F}"/>
          </ac:spMkLst>
        </pc:spChg>
      </pc:sldChg>
      <pc:sldChg chg="modSp new mod">
        <pc:chgData name="Jang, Daniel" userId="bcb24f72-8373-4e07-b9a5-29075d152da9" providerId="ADAL" clId="{B6A7F72B-019B-4D98-B330-548FE51FDCC4}" dt="2025-07-21T17:32:05.398" v="107"/>
        <pc:sldMkLst>
          <pc:docMk/>
          <pc:sldMk cId="1259584843" sldId="11056"/>
        </pc:sldMkLst>
        <pc:spChg chg="mod">
          <ac:chgData name="Jang, Daniel" userId="bcb24f72-8373-4e07-b9a5-29075d152da9" providerId="ADAL" clId="{B6A7F72B-019B-4D98-B330-548FE51FDCC4}" dt="2025-07-21T17:31:53.330" v="104" actId="14100"/>
          <ac:spMkLst>
            <pc:docMk/>
            <pc:sldMk cId="1259584843" sldId="11056"/>
            <ac:spMk id="3" creationId="{3DD20320-9BF0-B541-60ED-CEA2F498D19D}"/>
          </ac:spMkLst>
        </pc:spChg>
        <pc:spChg chg="mod">
          <ac:chgData name="Jang, Daniel" userId="bcb24f72-8373-4e07-b9a5-29075d152da9" providerId="ADAL" clId="{B6A7F72B-019B-4D98-B330-548FE51FDCC4}" dt="2025-07-21T17:32:05.398" v="107"/>
          <ac:spMkLst>
            <pc:docMk/>
            <pc:sldMk cId="1259584843" sldId="11056"/>
            <ac:spMk id="4" creationId="{419D10C9-6E56-EB86-606C-5EFF164F766C}"/>
          </ac:spMkLst>
        </pc:spChg>
        <pc:spChg chg="mod">
          <ac:chgData name="Jang, Daniel" userId="bcb24f72-8373-4e07-b9a5-29075d152da9" providerId="ADAL" clId="{B6A7F72B-019B-4D98-B330-548FE51FDCC4}" dt="2025-07-21T17:32:00.110" v="106" actId="20577"/>
          <ac:spMkLst>
            <pc:docMk/>
            <pc:sldMk cId="1259584843" sldId="11056"/>
            <ac:spMk id="5" creationId="{AFC307E9-C062-967B-D7E3-28A682E326E1}"/>
          </ac:spMkLst>
        </pc:spChg>
      </pc:sldChg>
      <pc:sldChg chg="modSp new mod">
        <pc:chgData name="Jang, Daniel" userId="bcb24f72-8373-4e07-b9a5-29075d152da9" providerId="ADAL" clId="{B6A7F72B-019B-4D98-B330-548FE51FDCC4}" dt="2025-07-21T17:41:04.701" v="982" actId="20577"/>
        <pc:sldMkLst>
          <pc:docMk/>
          <pc:sldMk cId="1335899110" sldId="11057"/>
        </pc:sldMkLst>
        <pc:spChg chg="mod">
          <ac:chgData name="Jang, Daniel" userId="bcb24f72-8373-4e07-b9a5-29075d152da9" providerId="ADAL" clId="{B6A7F72B-019B-4D98-B330-548FE51FDCC4}" dt="2025-07-21T17:41:04.701" v="982" actId="20577"/>
          <ac:spMkLst>
            <pc:docMk/>
            <pc:sldMk cId="1335899110" sldId="11057"/>
            <ac:spMk id="5" creationId="{CAF2CEF8-5374-8D4B-C9D8-65B0887ACC09}"/>
          </ac:spMkLst>
        </pc:spChg>
      </pc:sldChg>
      <pc:sldChg chg="delSp modSp new del mod">
        <pc:chgData name="Jang, Daniel" userId="bcb24f72-8373-4e07-b9a5-29075d152da9" providerId="ADAL" clId="{B6A7F72B-019B-4D98-B330-548FE51FDCC4}" dt="2025-07-21T17:42:47.179" v="1040" actId="47"/>
        <pc:sldMkLst>
          <pc:docMk/>
          <pc:sldMk cId="1182770901" sldId="11058"/>
        </pc:sldMkLst>
        <pc:spChg chg="mod">
          <ac:chgData name="Jang, Daniel" userId="bcb24f72-8373-4e07-b9a5-29075d152da9" providerId="ADAL" clId="{B6A7F72B-019B-4D98-B330-548FE51FDCC4}" dt="2025-07-21T17:32:43.041" v="153" actId="1076"/>
          <ac:spMkLst>
            <pc:docMk/>
            <pc:sldMk cId="1182770901" sldId="11058"/>
            <ac:spMk id="5" creationId="{8965C997-71A8-1025-8F14-C4158BEFC695}"/>
          </ac:spMkLst>
        </pc:spChg>
        <pc:spChg chg="del">
          <ac:chgData name="Jang, Daniel" userId="bcb24f72-8373-4e07-b9a5-29075d152da9" providerId="ADAL" clId="{B6A7F72B-019B-4D98-B330-548FE51FDCC4}" dt="2025-07-21T17:32:39.883" v="152" actId="478"/>
          <ac:spMkLst>
            <pc:docMk/>
            <pc:sldMk cId="1182770901" sldId="11058"/>
            <ac:spMk id="6" creationId="{D42FC578-0CE7-7528-FCED-9FE9A3F674E0}"/>
          </ac:spMkLst>
        </pc:spChg>
      </pc:sldChg>
      <pc:sldChg chg="delSp modSp add del mod">
        <pc:chgData name="Jang, Daniel" userId="bcb24f72-8373-4e07-b9a5-29075d152da9" providerId="ADAL" clId="{B6A7F72B-019B-4D98-B330-548FE51FDCC4}" dt="2025-07-21T17:40:38.403" v="967" actId="47"/>
        <pc:sldMkLst>
          <pc:docMk/>
          <pc:sldMk cId="3746184830" sldId="11059"/>
        </pc:sldMkLst>
        <pc:spChg chg="mod">
          <ac:chgData name="Jang, Daniel" userId="bcb24f72-8373-4e07-b9a5-29075d152da9" providerId="ADAL" clId="{B6A7F72B-019B-4D98-B330-548FE51FDCC4}" dt="2025-07-21T17:38:44.868" v="865" actId="5793"/>
          <ac:spMkLst>
            <pc:docMk/>
            <pc:sldMk cId="3746184830" sldId="11059"/>
            <ac:spMk id="5" creationId="{17013A50-1934-3754-CAEE-31615D6D7777}"/>
          </ac:spMkLst>
        </pc:spChg>
        <pc:spChg chg="mod">
          <ac:chgData name="Jang, Daniel" userId="bcb24f72-8373-4e07-b9a5-29075d152da9" providerId="ADAL" clId="{B6A7F72B-019B-4D98-B330-548FE51FDCC4}" dt="2025-07-21T17:36:56.538" v="541" actId="20577"/>
          <ac:spMkLst>
            <pc:docMk/>
            <pc:sldMk cId="3746184830" sldId="11059"/>
            <ac:spMk id="6" creationId="{A97EF7FA-161B-848B-C795-0F5049A7B3B7}"/>
          </ac:spMkLst>
        </pc:spChg>
        <pc:spChg chg="del">
          <ac:chgData name="Jang, Daniel" userId="bcb24f72-8373-4e07-b9a5-29075d152da9" providerId="ADAL" clId="{B6A7F72B-019B-4D98-B330-548FE51FDCC4}" dt="2025-07-21T17:38:28.886" v="851" actId="478"/>
          <ac:spMkLst>
            <pc:docMk/>
            <pc:sldMk cId="3746184830" sldId="11059"/>
            <ac:spMk id="7" creationId="{FDCE5702-6FB3-2EF1-2CD0-38F050CB3D9F}"/>
          </ac:spMkLst>
        </pc:spChg>
      </pc:sldChg>
      <pc:sldChg chg="modSp new mod">
        <pc:chgData name="Jang, Daniel" userId="bcb24f72-8373-4e07-b9a5-29075d152da9" providerId="ADAL" clId="{B6A7F72B-019B-4D98-B330-548FE51FDCC4}" dt="2025-07-21T17:42:11.828" v="1037" actId="20577"/>
        <pc:sldMkLst>
          <pc:docMk/>
          <pc:sldMk cId="3909774215" sldId="11060"/>
        </pc:sldMkLst>
        <pc:spChg chg="mod">
          <ac:chgData name="Jang, Daniel" userId="bcb24f72-8373-4e07-b9a5-29075d152da9" providerId="ADAL" clId="{B6A7F72B-019B-4D98-B330-548FE51FDCC4}" dt="2025-07-21T17:42:11.828" v="1037" actId="20577"/>
          <ac:spMkLst>
            <pc:docMk/>
            <pc:sldMk cId="3909774215" sldId="11060"/>
            <ac:spMk id="5" creationId="{4BA780FE-C17C-AE61-9364-158B2F386F84}"/>
          </ac:spMkLst>
        </pc:spChg>
        <pc:spChg chg="mod">
          <ac:chgData name="Jang, Daniel" userId="bcb24f72-8373-4e07-b9a5-29075d152da9" providerId="ADAL" clId="{B6A7F72B-019B-4D98-B330-548FE51FDCC4}" dt="2025-07-21T17:39:08.877" v="868" actId="20577"/>
          <ac:spMkLst>
            <pc:docMk/>
            <pc:sldMk cId="3909774215" sldId="11060"/>
            <ac:spMk id="6" creationId="{900831F6-D3DC-AE71-ABBC-76F3C833D9B4}"/>
          </ac:spMkLst>
        </pc:spChg>
      </pc:sldChg>
      <pc:sldChg chg="modSp add mod">
        <pc:chgData name="Jang, Daniel" userId="bcb24f72-8373-4e07-b9a5-29075d152da9" providerId="ADAL" clId="{B6A7F72B-019B-4D98-B330-548FE51FDCC4}" dt="2025-07-21T17:45:06.357" v="1308" actId="20577"/>
        <pc:sldMkLst>
          <pc:docMk/>
          <pc:sldMk cId="3823554087" sldId="11061"/>
        </pc:sldMkLst>
        <pc:spChg chg="mod">
          <ac:chgData name="Jang, Daniel" userId="bcb24f72-8373-4e07-b9a5-29075d152da9" providerId="ADAL" clId="{B6A7F72B-019B-4D98-B330-548FE51FDCC4}" dt="2025-07-21T17:45:06.357" v="1308" actId="20577"/>
          <ac:spMkLst>
            <pc:docMk/>
            <pc:sldMk cId="3823554087" sldId="11061"/>
            <ac:spMk id="4" creationId="{EDA7674B-10FA-D020-BCB9-50AFD8ADEE82}"/>
          </ac:spMkLst>
        </pc:spChg>
        <pc:spChg chg="mod">
          <ac:chgData name="Jang, Daniel" userId="bcb24f72-8373-4e07-b9a5-29075d152da9" providerId="ADAL" clId="{B6A7F72B-019B-4D98-B330-548FE51FDCC4}" dt="2025-07-21T17:44:41.329" v="1230" actId="20577"/>
          <ac:spMkLst>
            <pc:docMk/>
            <pc:sldMk cId="3823554087" sldId="11061"/>
            <ac:spMk id="5" creationId="{4BA780FE-C17C-AE61-9364-158B2F386F84}"/>
          </ac:spMkLst>
        </pc:spChg>
        <pc:spChg chg="mod">
          <ac:chgData name="Jang, Daniel" userId="bcb24f72-8373-4e07-b9a5-29075d152da9" providerId="ADAL" clId="{B6A7F72B-019B-4D98-B330-548FE51FDCC4}" dt="2025-07-21T17:40:28.399" v="949" actId="20577"/>
          <ac:spMkLst>
            <pc:docMk/>
            <pc:sldMk cId="3823554087" sldId="11061"/>
            <ac:spMk id="6" creationId="{900831F6-D3DC-AE71-ABBC-76F3C833D9B4}"/>
          </ac:spMkLst>
        </pc:spChg>
      </pc:sldChg>
      <pc:sldChg chg="modSp new mod">
        <pc:chgData name="Jang, Daniel" userId="bcb24f72-8373-4e07-b9a5-29075d152da9" providerId="ADAL" clId="{B6A7F72B-019B-4D98-B330-548FE51FDCC4}" dt="2025-07-21T17:43:29.469" v="1219" actId="20577"/>
        <pc:sldMkLst>
          <pc:docMk/>
          <pc:sldMk cId="1793330001" sldId="11062"/>
        </pc:sldMkLst>
        <pc:spChg chg="mod">
          <ac:chgData name="Jang, Daniel" userId="bcb24f72-8373-4e07-b9a5-29075d152da9" providerId="ADAL" clId="{B6A7F72B-019B-4D98-B330-548FE51FDCC4}" dt="2025-07-21T17:42:45.008" v="1039"/>
          <ac:spMkLst>
            <pc:docMk/>
            <pc:sldMk cId="1793330001" sldId="11062"/>
            <ac:spMk id="5" creationId="{D6528746-7C98-50A4-AE59-69A1F2050E15}"/>
          </ac:spMkLst>
        </pc:spChg>
        <pc:spChg chg="mod">
          <ac:chgData name="Jang, Daniel" userId="bcb24f72-8373-4e07-b9a5-29075d152da9" providerId="ADAL" clId="{B6A7F72B-019B-4D98-B330-548FE51FDCC4}" dt="2025-07-21T17:43:04.180" v="1082" actId="20577"/>
          <ac:spMkLst>
            <pc:docMk/>
            <pc:sldMk cId="1793330001" sldId="11062"/>
            <ac:spMk id="6" creationId="{4CF5C2D6-3E7B-39E0-544B-3650AE327C30}"/>
          </ac:spMkLst>
        </pc:spChg>
        <pc:spChg chg="mod">
          <ac:chgData name="Jang, Daniel" userId="bcb24f72-8373-4e07-b9a5-29075d152da9" providerId="ADAL" clId="{B6A7F72B-019B-4D98-B330-548FE51FDCC4}" dt="2025-07-21T17:43:14.509" v="1131" actId="20577"/>
          <ac:spMkLst>
            <pc:docMk/>
            <pc:sldMk cId="1793330001" sldId="11062"/>
            <ac:spMk id="7" creationId="{FE36890D-B9CB-6025-0966-67BF8C5C36FC}"/>
          </ac:spMkLst>
        </pc:spChg>
        <pc:spChg chg="mod">
          <ac:chgData name="Jang, Daniel" userId="bcb24f72-8373-4e07-b9a5-29075d152da9" providerId="ADAL" clId="{B6A7F72B-019B-4D98-B330-548FE51FDCC4}" dt="2025-07-21T17:43:17.148" v="1132" actId="20577"/>
          <ac:spMkLst>
            <pc:docMk/>
            <pc:sldMk cId="1793330001" sldId="11062"/>
            <ac:spMk id="8" creationId="{23F265D9-FF2F-1458-B529-60E77362C43D}"/>
          </ac:spMkLst>
        </pc:spChg>
        <pc:spChg chg="mod">
          <ac:chgData name="Jang, Daniel" userId="bcb24f72-8373-4e07-b9a5-29075d152da9" providerId="ADAL" clId="{B6A7F72B-019B-4D98-B330-548FE51FDCC4}" dt="2025-07-21T17:43:29.469" v="1219" actId="20577"/>
          <ac:spMkLst>
            <pc:docMk/>
            <pc:sldMk cId="1793330001" sldId="11062"/>
            <ac:spMk id="9" creationId="{97D2B7D1-6BF0-63FA-CECB-99D1CCC82F3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EB8638-D915-4EFB-B604-2E7726C0E12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D018F4A-C0D7-4AEA-9232-7890B978C334}">
      <dgm:prSet/>
      <dgm:spPr/>
      <dgm:t>
        <a:bodyPr/>
        <a:lstStyle/>
        <a:p>
          <a:pPr algn="ctr"/>
          <a:r>
            <a:rPr lang="en-US" dirty="0"/>
            <a:t>Clinical Trial Design</a:t>
          </a:r>
        </a:p>
      </dgm:t>
    </dgm:pt>
    <dgm:pt modelId="{E4446338-8D91-4BCB-8234-2E1ED4269AEE}" type="parTrans" cxnId="{D91B7701-3DDC-4734-972F-E53F583AD121}">
      <dgm:prSet/>
      <dgm:spPr/>
      <dgm:t>
        <a:bodyPr/>
        <a:lstStyle/>
        <a:p>
          <a:endParaRPr lang="en-US"/>
        </a:p>
      </dgm:t>
    </dgm:pt>
    <dgm:pt modelId="{E6392C5B-0F00-45D4-97F3-28AC4CD38D7B}" type="sibTrans" cxnId="{D91B7701-3DDC-4734-972F-E53F583AD121}">
      <dgm:prSet/>
      <dgm:spPr/>
      <dgm:t>
        <a:bodyPr/>
        <a:lstStyle/>
        <a:p>
          <a:endParaRPr lang="en-US"/>
        </a:p>
      </dgm:t>
    </dgm:pt>
    <dgm:pt modelId="{072E96F8-83F2-462E-9C9B-D489A0345CF7}" type="pres">
      <dgm:prSet presAssocID="{E9EB8638-D915-4EFB-B604-2E7726C0E122}" presName="linear" presStyleCnt="0">
        <dgm:presLayoutVars>
          <dgm:animLvl val="lvl"/>
          <dgm:resizeHandles val="exact"/>
        </dgm:presLayoutVars>
      </dgm:prSet>
      <dgm:spPr/>
    </dgm:pt>
    <dgm:pt modelId="{98B9DA0B-3AFF-4F61-8DC8-A47E78526CE3}" type="pres">
      <dgm:prSet presAssocID="{8D018F4A-C0D7-4AEA-9232-7890B978C334}" presName="parentText" presStyleLbl="node1" presStyleIdx="0" presStyleCnt="1" custScaleY="87903">
        <dgm:presLayoutVars>
          <dgm:chMax val="0"/>
          <dgm:bulletEnabled val="1"/>
        </dgm:presLayoutVars>
      </dgm:prSet>
      <dgm:spPr/>
    </dgm:pt>
  </dgm:ptLst>
  <dgm:cxnLst>
    <dgm:cxn modelId="{D91B7701-3DDC-4734-972F-E53F583AD121}" srcId="{E9EB8638-D915-4EFB-B604-2E7726C0E122}" destId="{8D018F4A-C0D7-4AEA-9232-7890B978C334}" srcOrd="0" destOrd="0" parTransId="{E4446338-8D91-4BCB-8234-2E1ED4269AEE}" sibTransId="{E6392C5B-0F00-45D4-97F3-28AC4CD38D7B}"/>
    <dgm:cxn modelId="{AD4CD175-DFF3-4AC5-A009-644F7EDF6FB2}" type="presOf" srcId="{E9EB8638-D915-4EFB-B604-2E7726C0E122}" destId="{072E96F8-83F2-462E-9C9B-D489A0345CF7}" srcOrd="0" destOrd="0" presId="urn:microsoft.com/office/officeart/2005/8/layout/vList2"/>
    <dgm:cxn modelId="{5EED4C9C-97C9-46AA-A8DD-0B334933E09E}" type="presOf" srcId="{8D018F4A-C0D7-4AEA-9232-7890B978C334}" destId="{98B9DA0B-3AFF-4F61-8DC8-A47E78526CE3}" srcOrd="0" destOrd="0" presId="urn:microsoft.com/office/officeart/2005/8/layout/vList2"/>
    <dgm:cxn modelId="{DB0E7EE6-9A73-4AFC-B9B1-784537BE4464}" type="presParOf" srcId="{072E96F8-83F2-462E-9C9B-D489A0345CF7}" destId="{98B9DA0B-3AFF-4F61-8DC8-A47E78526CE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D3C0D1-14C2-4354-8508-C751AA2FC2C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31E78D4-F1AC-4134-9CA0-1F5320C91418}">
      <dgm:prSet/>
      <dgm:spPr/>
      <dgm:t>
        <a:bodyPr/>
        <a:lstStyle/>
        <a:p>
          <a:r>
            <a:rPr lang="en-US" dirty="0"/>
            <a:t>MSK: Deep </a:t>
          </a:r>
          <a:r>
            <a:rPr lang="en-US" dirty="0" err="1"/>
            <a:t>v.s</a:t>
          </a:r>
          <a:r>
            <a:rPr lang="en-US" dirty="0"/>
            <a:t>. Moderate Neuromuscular Blockade Trial</a:t>
          </a:r>
        </a:p>
      </dgm:t>
    </dgm:pt>
    <dgm:pt modelId="{60611E3F-771A-4F43-8FDE-30E5FD1EF55E}" type="parTrans" cxnId="{E45D0748-2B88-4110-8D7B-1C8473A8D4E9}">
      <dgm:prSet/>
      <dgm:spPr/>
      <dgm:t>
        <a:bodyPr/>
        <a:lstStyle/>
        <a:p>
          <a:endParaRPr lang="en-US"/>
        </a:p>
      </dgm:t>
    </dgm:pt>
    <dgm:pt modelId="{5E37217A-2067-4994-880C-074C04628193}" type="sibTrans" cxnId="{E45D0748-2B88-4110-8D7B-1C8473A8D4E9}">
      <dgm:prSet/>
      <dgm:spPr/>
      <dgm:t>
        <a:bodyPr/>
        <a:lstStyle/>
        <a:p>
          <a:endParaRPr lang="en-US"/>
        </a:p>
      </dgm:t>
    </dgm:pt>
    <dgm:pt modelId="{447DE46A-B162-4C9D-AE11-371CAF872451}" type="pres">
      <dgm:prSet presAssocID="{7ED3C0D1-14C2-4354-8508-C751AA2FC2CE}" presName="linear" presStyleCnt="0">
        <dgm:presLayoutVars>
          <dgm:animLvl val="lvl"/>
          <dgm:resizeHandles val="exact"/>
        </dgm:presLayoutVars>
      </dgm:prSet>
      <dgm:spPr/>
    </dgm:pt>
    <dgm:pt modelId="{F7D29D9F-0B62-40FA-9A4B-F48EF28B557A}" type="pres">
      <dgm:prSet presAssocID="{031E78D4-F1AC-4134-9CA0-1F5320C91418}" presName="parentText" presStyleLbl="node1" presStyleIdx="0" presStyleCnt="1" custLinFactNeighborX="4843" custLinFactNeighborY="-710">
        <dgm:presLayoutVars>
          <dgm:chMax val="0"/>
          <dgm:bulletEnabled val="1"/>
        </dgm:presLayoutVars>
      </dgm:prSet>
      <dgm:spPr/>
    </dgm:pt>
  </dgm:ptLst>
  <dgm:cxnLst>
    <dgm:cxn modelId="{1829C326-13B5-476B-835E-085D5F16BA6C}" type="presOf" srcId="{7ED3C0D1-14C2-4354-8508-C751AA2FC2CE}" destId="{447DE46A-B162-4C9D-AE11-371CAF872451}" srcOrd="0" destOrd="0" presId="urn:microsoft.com/office/officeart/2005/8/layout/vList2"/>
    <dgm:cxn modelId="{E45D0748-2B88-4110-8D7B-1C8473A8D4E9}" srcId="{7ED3C0D1-14C2-4354-8508-C751AA2FC2CE}" destId="{031E78D4-F1AC-4134-9CA0-1F5320C91418}" srcOrd="0" destOrd="0" parTransId="{60611E3F-771A-4F43-8FDE-30E5FD1EF55E}" sibTransId="{5E37217A-2067-4994-880C-074C04628193}"/>
    <dgm:cxn modelId="{8847F4CE-0B8C-4424-A0AF-9B130000A56C}" type="presOf" srcId="{031E78D4-F1AC-4134-9CA0-1F5320C91418}" destId="{F7D29D9F-0B62-40FA-9A4B-F48EF28B557A}" srcOrd="0" destOrd="0" presId="urn:microsoft.com/office/officeart/2005/8/layout/vList2"/>
    <dgm:cxn modelId="{4C07B11A-3617-4F65-AF4C-A0C46E92BF06}" type="presParOf" srcId="{447DE46A-B162-4C9D-AE11-371CAF872451}" destId="{F7D29D9F-0B62-40FA-9A4B-F48EF28B557A}"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B156AAC-3EB4-4EDB-9CF3-F167D064F21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CC53AA5-B24E-4C16-8076-A558EA929DD3}">
      <dgm:prSet/>
      <dgm:spPr/>
      <dgm:t>
        <a:bodyPr/>
        <a:lstStyle/>
        <a:p>
          <a:r>
            <a:rPr lang="en-US" dirty="0"/>
            <a:t>What were the issues?</a:t>
          </a:r>
        </a:p>
      </dgm:t>
    </dgm:pt>
    <dgm:pt modelId="{B9A14021-559A-4892-AD0E-BE0E97507843}" type="parTrans" cxnId="{1789CC40-9690-40E9-910D-DF5D9D323D79}">
      <dgm:prSet/>
      <dgm:spPr/>
      <dgm:t>
        <a:bodyPr/>
        <a:lstStyle/>
        <a:p>
          <a:endParaRPr lang="en-US"/>
        </a:p>
      </dgm:t>
    </dgm:pt>
    <dgm:pt modelId="{FF4C2F55-D8CA-46AE-92D8-48F434C2E19F}" type="sibTrans" cxnId="{1789CC40-9690-40E9-910D-DF5D9D323D79}">
      <dgm:prSet/>
      <dgm:spPr/>
      <dgm:t>
        <a:bodyPr/>
        <a:lstStyle/>
        <a:p>
          <a:endParaRPr lang="en-US"/>
        </a:p>
      </dgm:t>
    </dgm:pt>
    <dgm:pt modelId="{5B268E43-A60F-4CC2-BAB4-9155D21954DB}" type="pres">
      <dgm:prSet presAssocID="{BB156AAC-3EB4-4EDB-9CF3-F167D064F214}" presName="linear" presStyleCnt="0">
        <dgm:presLayoutVars>
          <dgm:animLvl val="lvl"/>
          <dgm:resizeHandles val="exact"/>
        </dgm:presLayoutVars>
      </dgm:prSet>
      <dgm:spPr/>
    </dgm:pt>
    <dgm:pt modelId="{1913F144-E1C7-4F11-A630-276E396032E2}" type="pres">
      <dgm:prSet presAssocID="{BCC53AA5-B24E-4C16-8076-A558EA929DD3}" presName="parentText" presStyleLbl="node1" presStyleIdx="0" presStyleCnt="1" custLinFactNeighborX="-4337" custLinFactNeighborY="-8897">
        <dgm:presLayoutVars>
          <dgm:chMax val="0"/>
          <dgm:bulletEnabled val="1"/>
        </dgm:presLayoutVars>
      </dgm:prSet>
      <dgm:spPr/>
    </dgm:pt>
  </dgm:ptLst>
  <dgm:cxnLst>
    <dgm:cxn modelId="{1789CC40-9690-40E9-910D-DF5D9D323D79}" srcId="{BB156AAC-3EB4-4EDB-9CF3-F167D064F214}" destId="{BCC53AA5-B24E-4C16-8076-A558EA929DD3}" srcOrd="0" destOrd="0" parTransId="{B9A14021-559A-4892-AD0E-BE0E97507843}" sibTransId="{FF4C2F55-D8CA-46AE-92D8-48F434C2E19F}"/>
    <dgm:cxn modelId="{82A4CD4C-1293-44AD-99F5-B0383273D09A}" type="presOf" srcId="{BB156AAC-3EB4-4EDB-9CF3-F167D064F214}" destId="{5B268E43-A60F-4CC2-BAB4-9155D21954DB}" srcOrd="0" destOrd="0" presId="urn:microsoft.com/office/officeart/2005/8/layout/vList2"/>
    <dgm:cxn modelId="{4CD74250-FADC-4C21-B400-1D9C6DAB8365}" type="presOf" srcId="{BCC53AA5-B24E-4C16-8076-A558EA929DD3}" destId="{1913F144-E1C7-4F11-A630-276E396032E2}" srcOrd="0" destOrd="0" presId="urn:microsoft.com/office/officeart/2005/8/layout/vList2"/>
    <dgm:cxn modelId="{7007D4C8-EAAB-4662-B89A-DCA43613C8E0}" type="presParOf" srcId="{5B268E43-A60F-4CC2-BAB4-9155D21954DB}" destId="{1913F144-E1C7-4F11-A630-276E396032E2}" srcOrd="0" destOrd="0" presId="urn:microsoft.com/office/officeart/2005/8/layout/vList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183D249-E967-406F-9B91-656258C6252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B5A8AB9-348F-47E4-A95B-9C14698C98EF}">
      <dgm:prSet/>
      <dgm:spPr/>
      <dgm:t>
        <a:bodyPr/>
        <a:lstStyle/>
        <a:p>
          <a:r>
            <a:rPr lang="en-US" dirty="0"/>
            <a:t>How did we address them so that we can present the results of the trial?</a:t>
          </a:r>
        </a:p>
      </dgm:t>
    </dgm:pt>
    <dgm:pt modelId="{50162A6E-DE28-40AD-8CE6-6D176371F9D3}" type="parTrans" cxnId="{BA2D141A-F6D5-435D-A141-B1E9E12BEF94}">
      <dgm:prSet/>
      <dgm:spPr/>
      <dgm:t>
        <a:bodyPr/>
        <a:lstStyle/>
        <a:p>
          <a:endParaRPr lang="en-US"/>
        </a:p>
      </dgm:t>
    </dgm:pt>
    <dgm:pt modelId="{31D860B7-29EA-41D4-85B0-704E14F42139}" type="sibTrans" cxnId="{BA2D141A-F6D5-435D-A141-B1E9E12BEF94}">
      <dgm:prSet/>
      <dgm:spPr/>
      <dgm:t>
        <a:bodyPr/>
        <a:lstStyle/>
        <a:p>
          <a:endParaRPr lang="en-US"/>
        </a:p>
      </dgm:t>
    </dgm:pt>
    <dgm:pt modelId="{DA13481A-6F0B-47A9-BE83-E5E57C38C744}" type="pres">
      <dgm:prSet presAssocID="{C183D249-E967-406F-9B91-656258C62527}" presName="linear" presStyleCnt="0">
        <dgm:presLayoutVars>
          <dgm:animLvl val="lvl"/>
          <dgm:resizeHandles val="exact"/>
        </dgm:presLayoutVars>
      </dgm:prSet>
      <dgm:spPr/>
    </dgm:pt>
    <dgm:pt modelId="{AA31714C-1068-4342-9B12-7D5F32EDD26A}" type="pres">
      <dgm:prSet presAssocID="{3B5A8AB9-348F-47E4-A95B-9C14698C98EF}" presName="parentText" presStyleLbl="node1" presStyleIdx="0" presStyleCnt="1">
        <dgm:presLayoutVars>
          <dgm:chMax val="0"/>
          <dgm:bulletEnabled val="1"/>
        </dgm:presLayoutVars>
      </dgm:prSet>
      <dgm:spPr/>
    </dgm:pt>
  </dgm:ptLst>
  <dgm:cxnLst>
    <dgm:cxn modelId="{66DC6E02-24C4-4CAF-9E28-0AAC2B74FBC9}" type="presOf" srcId="{3B5A8AB9-348F-47E4-A95B-9C14698C98EF}" destId="{AA31714C-1068-4342-9B12-7D5F32EDD26A}" srcOrd="0" destOrd="0" presId="urn:microsoft.com/office/officeart/2005/8/layout/vList2"/>
    <dgm:cxn modelId="{BA2D141A-F6D5-435D-A141-B1E9E12BEF94}" srcId="{C183D249-E967-406F-9B91-656258C62527}" destId="{3B5A8AB9-348F-47E4-A95B-9C14698C98EF}" srcOrd="0" destOrd="0" parTransId="{50162A6E-DE28-40AD-8CE6-6D176371F9D3}" sibTransId="{31D860B7-29EA-41D4-85B0-704E14F42139}"/>
    <dgm:cxn modelId="{97BE988E-0E1A-4907-BE75-E535FBA4ABC0}" type="presOf" srcId="{C183D249-E967-406F-9B91-656258C62527}" destId="{DA13481A-6F0B-47A9-BE83-E5E57C38C744}" srcOrd="0" destOrd="0" presId="urn:microsoft.com/office/officeart/2005/8/layout/vList2"/>
    <dgm:cxn modelId="{22E4EC0B-3121-4777-AC50-A6644ADCADD9}" type="presParOf" srcId="{DA13481A-6F0B-47A9-BE83-E5E57C38C744}" destId="{AA31714C-1068-4342-9B12-7D5F32EDD26A}" srcOrd="0" destOrd="0" presId="urn:microsoft.com/office/officeart/2005/8/layout/vList2"/>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B9DA0B-3AFF-4F61-8DC8-A47E78526CE3}">
      <dsp:nvSpPr>
        <dsp:cNvPr id="0" name=""/>
        <dsp:cNvSpPr/>
      </dsp:nvSpPr>
      <dsp:spPr>
        <a:xfrm>
          <a:off x="0" y="108563"/>
          <a:ext cx="2330296" cy="3702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Clinical Trial Design</a:t>
          </a:r>
        </a:p>
      </dsp:txBody>
      <dsp:txXfrm>
        <a:off x="18074" y="126637"/>
        <a:ext cx="2294148" cy="3340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D29D9F-0B62-40FA-9A4B-F48EF28B557A}">
      <dsp:nvSpPr>
        <dsp:cNvPr id="0" name=""/>
        <dsp:cNvSpPr/>
      </dsp:nvSpPr>
      <dsp:spPr>
        <a:xfrm>
          <a:off x="0" y="0"/>
          <a:ext cx="2771565" cy="5791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MSK: Deep </a:t>
          </a:r>
          <a:r>
            <a:rPr lang="en-US" sz="1500" kern="1200" dirty="0" err="1"/>
            <a:t>v.s</a:t>
          </a:r>
          <a:r>
            <a:rPr lang="en-US" sz="1500" kern="1200" dirty="0"/>
            <a:t>. Moderate Neuromuscular Blockade Trial</a:t>
          </a:r>
        </a:p>
      </dsp:txBody>
      <dsp:txXfrm>
        <a:off x="28272" y="28272"/>
        <a:ext cx="2715021" cy="5226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13F144-E1C7-4F11-A630-276E396032E2}">
      <dsp:nvSpPr>
        <dsp:cNvPr id="0" name=""/>
        <dsp:cNvSpPr/>
      </dsp:nvSpPr>
      <dsp:spPr>
        <a:xfrm>
          <a:off x="0" y="1"/>
          <a:ext cx="1965512" cy="327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What were the issues?</a:t>
          </a:r>
        </a:p>
      </dsp:txBody>
      <dsp:txXfrm>
        <a:off x="15992" y="15993"/>
        <a:ext cx="1933528" cy="2956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31714C-1068-4342-9B12-7D5F32EDD26A}">
      <dsp:nvSpPr>
        <dsp:cNvPr id="0" name=""/>
        <dsp:cNvSpPr/>
      </dsp:nvSpPr>
      <dsp:spPr>
        <a:xfrm>
          <a:off x="0" y="123538"/>
          <a:ext cx="2522770" cy="7897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How did we address them so that we can present the results of the trial?</a:t>
          </a:r>
        </a:p>
      </dsp:txBody>
      <dsp:txXfrm>
        <a:off x="38552" y="162090"/>
        <a:ext cx="2445666" cy="71264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2C371D-5DA9-6C42-8A12-4A27D2753739}"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635306-B3B1-A944-A64E-0A77BF937900}" type="slidenum">
              <a:rPr lang="en-US" smtClean="0"/>
              <a:t>‹#›</a:t>
            </a:fld>
            <a:endParaRPr lang="en-US"/>
          </a:p>
        </p:txBody>
      </p:sp>
    </p:spTree>
    <p:extLst>
      <p:ext uri="{BB962C8B-B14F-4D97-AF65-F5344CB8AC3E}">
        <p14:creationId xmlns:p14="http://schemas.microsoft.com/office/powerpoint/2010/main" val="3303749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my name is Daniel Jang. I am a rising senior at Amherst college, and this summer, I worked on a project analyzing _________ where stratified randomization went wrong.</a:t>
            </a:r>
          </a:p>
        </p:txBody>
      </p:sp>
      <p:sp>
        <p:nvSpPr>
          <p:cNvPr id="4" name="Slide Number Placeholder 3"/>
          <p:cNvSpPr>
            <a:spLocks noGrp="1"/>
          </p:cNvSpPr>
          <p:nvPr>
            <p:ph type="sldNum" sz="quarter" idx="5"/>
          </p:nvPr>
        </p:nvSpPr>
        <p:spPr/>
        <p:txBody>
          <a:bodyPr/>
          <a:lstStyle/>
          <a:p>
            <a:fld id="{B2635306-B3B1-A944-A64E-0A77BF937900}" type="slidenum">
              <a:rPr lang="en-US" smtClean="0"/>
              <a:t>1</a:t>
            </a:fld>
            <a:endParaRPr lang="en-US"/>
          </a:p>
        </p:txBody>
      </p:sp>
    </p:spTree>
    <p:extLst>
      <p:ext uri="{BB962C8B-B14F-4D97-AF65-F5344CB8AC3E}">
        <p14:creationId xmlns:p14="http://schemas.microsoft.com/office/powerpoint/2010/main" val="3125122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presentation, I will discuss how we addressed a specific issue in stratified randomization…</a:t>
            </a:r>
          </a:p>
          <a:p>
            <a:endParaRPr lang="en-US" dirty="0"/>
          </a:p>
          <a:p>
            <a:r>
              <a:rPr lang="en-US" dirty="0"/>
              <a:t>First, second (CLICK), third, fourth (CLICK)</a:t>
            </a:r>
          </a:p>
        </p:txBody>
      </p:sp>
      <p:sp>
        <p:nvSpPr>
          <p:cNvPr id="4" name="Slide Number Placeholder 3"/>
          <p:cNvSpPr>
            <a:spLocks noGrp="1"/>
          </p:cNvSpPr>
          <p:nvPr>
            <p:ph type="sldNum" sz="quarter" idx="5"/>
          </p:nvPr>
        </p:nvSpPr>
        <p:spPr/>
        <p:txBody>
          <a:bodyPr/>
          <a:lstStyle/>
          <a:p>
            <a:fld id="{B2635306-B3B1-A944-A64E-0A77BF937900}" type="slidenum">
              <a:rPr lang="en-US" smtClean="0"/>
              <a:t>2</a:t>
            </a:fld>
            <a:endParaRPr lang="en-US"/>
          </a:p>
        </p:txBody>
      </p:sp>
    </p:spTree>
    <p:extLst>
      <p:ext uri="{BB962C8B-B14F-4D97-AF65-F5344CB8AC3E}">
        <p14:creationId xmlns:p14="http://schemas.microsoft.com/office/powerpoint/2010/main" val="277560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and blue represent different characteristics that are influential on the outcome we are interested in for the clinical trial</a:t>
            </a:r>
          </a:p>
          <a:p>
            <a:r>
              <a:rPr lang="en-US" dirty="0"/>
              <a:t>The control arm, aka the standard of care, and the new experimental treatment</a:t>
            </a:r>
          </a:p>
          <a:p>
            <a:r>
              <a:rPr lang="en-US" dirty="0"/>
              <a:t>Imagine if we randomize without stratifying? We get treatment imbalance</a:t>
            </a:r>
          </a:p>
        </p:txBody>
      </p:sp>
      <p:sp>
        <p:nvSpPr>
          <p:cNvPr id="4" name="Slide Number Placeholder 3"/>
          <p:cNvSpPr>
            <a:spLocks noGrp="1"/>
          </p:cNvSpPr>
          <p:nvPr>
            <p:ph type="sldNum" sz="quarter" idx="5"/>
          </p:nvPr>
        </p:nvSpPr>
        <p:spPr/>
        <p:txBody>
          <a:bodyPr/>
          <a:lstStyle/>
          <a:p>
            <a:fld id="{B2635306-B3B1-A944-A64E-0A77BF937900}" type="slidenum">
              <a:rPr lang="en-US" smtClean="0"/>
              <a:t>3</a:t>
            </a:fld>
            <a:endParaRPr lang="en-US"/>
          </a:p>
        </p:txBody>
      </p:sp>
    </p:spTree>
    <p:extLst>
      <p:ext uri="{BB962C8B-B14F-4D97-AF65-F5344CB8AC3E}">
        <p14:creationId xmlns:p14="http://schemas.microsoft.com/office/powerpoint/2010/main" val="1581560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defRPr sz="1700">
                <a:latin typeface="Gotham Book"/>
                <a:ea typeface="Gotham Book"/>
                <a:cs typeface="Gotham Book"/>
                <a:sym typeface="Gotham Book"/>
              </a:defRPr>
            </a:pPr>
            <a:r>
              <a:rPr lang="en-US" sz="3600" b="0" dirty="0"/>
              <a:t>START: With that background, let me introduce you to the clinical trial that motivated this project. </a:t>
            </a:r>
          </a:p>
          <a:p>
            <a:pPr>
              <a:spcBef>
                <a:spcPts val="600"/>
              </a:spcBef>
              <a:defRPr sz="1700">
                <a:latin typeface="Gotham Book"/>
                <a:ea typeface="Gotham Book"/>
                <a:cs typeface="Gotham Book"/>
                <a:sym typeface="Gotham Book"/>
              </a:defRPr>
            </a:pPr>
            <a:endParaRPr lang="en-US" sz="3600" b="0" dirty="0"/>
          </a:p>
          <a:p>
            <a:pPr>
              <a:spcBef>
                <a:spcPts val="600"/>
              </a:spcBef>
              <a:defRPr sz="1700">
                <a:latin typeface="Gotham Book"/>
                <a:ea typeface="Gotham Book"/>
                <a:cs typeface="Gotham Book"/>
                <a:sym typeface="Gotham Book"/>
              </a:defRPr>
            </a:pPr>
            <a:endParaRPr lang="en-US" sz="3600" b="0" dirty="0"/>
          </a:p>
          <a:p>
            <a:pPr>
              <a:spcBef>
                <a:spcPts val="600"/>
              </a:spcBef>
              <a:defRPr sz="1700">
                <a:latin typeface="Gotham Book"/>
                <a:ea typeface="Gotham Book"/>
                <a:cs typeface="Gotham Book"/>
                <a:sym typeface="Gotham Book"/>
              </a:defRPr>
            </a:pPr>
            <a:r>
              <a:rPr lang="en-US" sz="3600" b="0" dirty="0"/>
              <a:t>Patients were randomized to the standard of care and new treatment: for patients who underwent this type of surgery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D56DEF-27D1-8044-BF03-D0FE443A531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9447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defRPr sz="1700">
                <a:latin typeface="Gotham Book"/>
                <a:ea typeface="Gotham Book"/>
                <a:cs typeface="Gotham Book"/>
                <a:sym typeface="Gotham Book"/>
              </a:defRPr>
            </a:pPr>
            <a:r>
              <a:rPr lang="en-US" sz="3600" b="0" dirty="0"/>
              <a:t>[title]. Recall the stratified randomization I talked about. In this clinical trial, we stratified by BMI, as BMI can have an impact on our outcome of postoperative pain. However, since BMI is a continuous value, we define a cutoff value of 30 to create the strata. Group 1 is below 30 and group 2 is equal to or above 30.</a:t>
            </a:r>
          </a:p>
          <a:p>
            <a:pPr>
              <a:spcBef>
                <a:spcPts val="600"/>
              </a:spcBef>
              <a:defRPr sz="1700">
                <a:latin typeface="Gotham Book"/>
                <a:ea typeface="Gotham Book"/>
                <a:cs typeface="Gotham Book"/>
                <a:sym typeface="Gotham Book"/>
              </a:defRPr>
            </a:pPr>
            <a:endParaRPr lang="en-US" sz="3600" b="0" dirty="0"/>
          </a:p>
          <a:p>
            <a:pPr>
              <a:spcBef>
                <a:spcPts val="600"/>
              </a:spcBef>
              <a:defRPr sz="1700">
                <a:latin typeface="Gotham Book"/>
                <a:ea typeface="Gotham Book"/>
                <a:cs typeface="Gotham Book"/>
                <a:sym typeface="Gotham Book"/>
              </a:defRPr>
            </a:pPr>
            <a:r>
              <a:rPr lang="en-US" sz="3600" b="0" dirty="0"/>
              <a:t>Patients BMI were recorded at multiple timepoints, from one month to 24 hours before surgery. Since cancer patients can quickly change in weight, even in a one month span, this can result in problems when it comes to dichotomization for stratification. When stratified randomization happened for this trial, this inconsistency was not known. This data will be referred to as the per-randomized covariate with measurement error.</a:t>
            </a:r>
          </a:p>
          <a:p>
            <a:pPr>
              <a:spcBef>
                <a:spcPts val="600"/>
              </a:spcBef>
              <a:defRPr sz="1700">
                <a:latin typeface="Gotham Book"/>
                <a:ea typeface="Gotham Book"/>
                <a:cs typeface="Gotham Book"/>
                <a:sym typeface="Gotham Book"/>
              </a:defRPr>
            </a:pPr>
            <a:endParaRPr lang="en-US" sz="3600" b="0" dirty="0"/>
          </a:p>
          <a:p>
            <a:pPr>
              <a:spcBef>
                <a:spcPts val="600"/>
              </a:spcBef>
              <a:defRPr sz="1700">
                <a:latin typeface="Gotham Book"/>
                <a:ea typeface="Gotham Book"/>
                <a:cs typeface="Gotham Book"/>
                <a:sym typeface="Gotham Book"/>
              </a:defRPr>
            </a:pPr>
            <a:r>
              <a:rPr lang="en-US" sz="3600" b="0" dirty="0"/>
              <a:t>After surgeries, this inconsistency was discovered and corrected, hence the corrected covariate.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D56DEF-27D1-8044-BF03-D0FE443A531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9915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defRPr sz="1700">
                <a:latin typeface="Gotham Book"/>
                <a:ea typeface="Gotham Book"/>
                <a:cs typeface="Gotham Book"/>
                <a:sym typeface="Gotham Book"/>
              </a:defRPr>
            </a:pPr>
            <a:r>
              <a:rPr lang="en-US" sz="3600" b="0" dirty="0"/>
              <a:t>The x axis represents the corrected values discovered after surgeries and the y axis represents the magnitude and direction of the difference between these corrected values and the per-randomized values. </a:t>
            </a:r>
          </a:p>
          <a:p>
            <a:pPr>
              <a:spcBef>
                <a:spcPts val="600"/>
              </a:spcBef>
              <a:defRPr sz="1700">
                <a:latin typeface="Gotham Book"/>
                <a:ea typeface="Gotham Book"/>
                <a:cs typeface="Gotham Book"/>
                <a:sym typeface="Gotham Book"/>
              </a:defRPr>
            </a:pPr>
            <a:r>
              <a:rPr lang="en-US" sz="3600" b="0" dirty="0"/>
              <a:t>The vertical line at 30 represents the cutoff point between our strata. The red and green dots represent stratification that changes when switching which values for BMI we use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D56DEF-27D1-8044-BF03-D0FE443A531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16708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defRPr sz="1700">
                <a:latin typeface="Gotham Book"/>
                <a:ea typeface="Gotham Book"/>
                <a:cs typeface="Gotham Book"/>
                <a:sym typeface="Gotham Book"/>
              </a:defRPr>
            </a:pPr>
            <a:r>
              <a:rPr lang="en-US" sz="3600" b="0" dirty="0"/>
              <a:t>Treatment imbalance…</a:t>
            </a:r>
          </a:p>
          <a:p>
            <a:pPr>
              <a:spcBef>
                <a:spcPts val="600"/>
              </a:spcBef>
              <a:defRPr sz="1700">
                <a:latin typeface="Gotham Book"/>
                <a:ea typeface="Gotham Book"/>
                <a:cs typeface="Gotham Book"/>
                <a:sym typeface="Gotham Book"/>
              </a:defRPr>
            </a:pPr>
            <a:endParaRPr lang="en-US" sz="3600" b="0" dirty="0"/>
          </a:p>
          <a:p>
            <a:pPr>
              <a:spcBef>
                <a:spcPts val="600"/>
              </a:spcBef>
              <a:defRPr sz="1700">
                <a:latin typeface="Gotham Book"/>
                <a:ea typeface="Gotham Book"/>
                <a:cs typeface="Gotham Book"/>
                <a:sym typeface="Gotham Book"/>
              </a:defRPr>
            </a:pPr>
            <a:r>
              <a:rPr lang="en-US" sz="3600" b="0" dirty="0"/>
              <a:t>We’re now left with a few questions: do we use the per-randomized covariate for an unadjusted analysis or …</a:t>
            </a:r>
          </a:p>
          <a:p>
            <a:pPr>
              <a:spcBef>
                <a:spcPts val="600"/>
              </a:spcBef>
              <a:defRPr sz="1700">
                <a:latin typeface="Gotham Book"/>
                <a:ea typeface="Gotham Book"/>
                <a:cs typeface="Gotham Book"/>
                <a:sym typeface="Gotham Book"/>
              </a:defRPr>
            </a:pPr>
            <a:r>
              <a:rPr lang="en-US" sz="3600" b="0" dirty="0"/>
              <a:t>Additionally, should we dichotomize this variable like we did for stratified randomization?</a:t>
            </a:r>
          </a:p>
          <a:p>
            <a:pPr>
              <a:spcBef>
                <a:spcPts val="600"/>
              </a:spcBef>
              <a:defRPr sz="1700">
                <a:latin typeface="Gotham Book"/>
                <a:ea typeface="Gotham Book"/>
                <a:cs typeface="Gotham Book"/>
                <a:sym typeface="Gotham Book"/>
              </a:defRPr>
            </a:pPr>
            <a:endParaRPr lang="en-US" sz="3600" b="0" dirty="0"/>
          </a:p>
          <a:p>
            <a:pPr>
              <a:spcBef>
                <a:spcPts val="600"/>
              </a:spcBef>
              <a:defRPr sz="1700">
                <a:latin typeface="Gotham Book"/>
                <a:ea typeface="Gotham Book"/>
                <a:cs typeface="Gotham Book"/>
                <a:sym typeface="Gotham Book"/>
              </a:defRPr>
            </a:pPr>
            <a:r>
              <a:rPr lang="en-US" sz="3600" b="0" dirty="0"/>
              <a:t>These questions formed the basis and motivation behind the bulk of the project via a simulation study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D56DEF-27D1-8044-BF03-D0FE443A531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8856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defRPr sz="1700">
                <a:latin typeface="Gotham Book"/>
                <a:ea typeface="Gotham Book"/>
                <a:cs typeface="Gotham Book"/>
                <a:sym typeface="Gotham Book"/>
              </a:defRPr>
            </a:pPr>
            <a:r>
              <a:rPr lang="en-US" sz="3600" b="0" dirty="0"/>
              <a:t>Before we discuss which BMI value to use as a covariate, we first need to find a suitable model for our data. </a:t>
            </a:r>
          </a:p>
          <a:p>
            <a:pPr>
              <a:spcBef>
                <a:spcPts val="600"/>
              </a:spcBef>
              <a:defRPr sz="1700">
                <a:latin typeface="Gotham Book"/>
                <a:ea typeface="Gotham Book"/>
                <a:cs typeface="Gotham Book"/>
                <a:sym typeface="Gotham Book"/>
              </a:defRPr>
            </a:pPr>
            <a:endParaRPr lang="en-US" sz="3600" b="0" dirty="0"/>
          </a:p>
          <a:p>
            <a:pPr>
              <a:spcBef>
                <a:spcPts val="600"/>
              </a:spcBef>
              <a:defRPr sz="1700">
                <a:latin typeface="Gotham Book"/>
                <a:ea typeface="Gotham Book"/>
                <a:cs typeface="Gotham Book"/>
                <a:sym typeface="Gotham Book"/>
              </a:defRPr>
            </a:pPr>
            <a:r>
              <a:rPr lang="en-US" sz="3600" b="0" dirty="0"/>
              <a:t>I’m sure we’ve seen this scale at a doctor’s office before. This is a version of a numeric rating scale (NRS) called a visual analog scale. After surgery, patients were asked to rate their pain on a scale from 0-10 at 15 to 30 minute time intervals up to 6 hours after surgery.</a:t>
            </a:r>
          </a:p>
          <a:p>
            <a:pPr>
              <a:spcBef>
                <a:spcPts val="600"/>
              </a:spcBef>
              <a:defRPr sz="1700">
                <a:latin typeface="Gotham Book"/>
                <a:ea typeface="Gotham Book"/>
                <a:cs typeface="Gotham Book"/>
                <a:sym typeface="Gotham Book"/>
              </a:defRPr>
            </a:pPr>
            <a:endParaRPr lang="en-US" sz="3600" b="0" dirty="0"/>
          </a:p>
          <a:p>
            <a:pPr>
              <a:spcBef>
                <a:spcPts val="600"/>
              </a:spcBef>
              <a:defRPr sz="1700">
                <a:latin typeface="Gotham Book"/>
                <a:ea typeface="Gotham Book"/>
                <a:cs typeface="Gotham Book"/>
                <a:sym typeface="Gotham Book"/>
              </a:defRPr>
            </a:pPr>
            <a:r>
              <a:rPr lang="en-US" sz="3600" b="0" dirty="0"/>
              <a:t>To get a value for the average postoperative pain, we used the mean of the area under the curve.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D56DEF-27D1-8044-BF03-D0FE443A531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5483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defRPr sz="1700">
                <a:latin typeface="Gotham Book"/>
                <a:ea typeface="Gotham Book"/>
                <a:cs typeface="Gotham Book"/>
                <a:sym typeface="Gotham Book"/>
              </a:defRPr>
            </a:pPr>
            <a:r>
              <a:rPr lang="en-US" sz="3600" b="0" dirty="0"/>
              <a:t>Cut time here.</a:t>
            </a:r>
          </a:p>
          <a:p>
            <a:pPr>
              <a:spcBef>
                <a:spcPts val="600"/>
              </a:spcBef>
              <a:defRPr sz="1700">
                <a:latin typeface="Gotham Book"/>
                <a:ea typeface="Gotham Book"/>
                <a:cs typeface="Gotham Book"/>
                <a:sym typeface="Gotham Book"/>
              </a:defRPr>
            </a:pPr>
            <a:endParaRPr lang="en-US" sz="3600" b="0" dirty="0"/>
          </a:p>
          <a:p>
            <a:pPr>
              <a:spcBef>
                <a:spcPts val="600"/>
              </a:spcBef>
              <a:defRPr sz="1700">
                <a:latin typeface="Gotham Book"/>
                <a:ea typeface="Gotham Book"/>
                <a:cs typeface="Gotham Book"/>
                <a:sym typeface="Gotham Book"/>
              </a:defRPr>
            </a:pPr>
            <a:r>
              <a:rPr lang="en-US" sz="3600" b="0" dirty="0"/>
              <a:t>We can treat pain as a continuous value with a linear model, binary value with a logistic model, count value with a </a:t>
            </a:r>
            <a:r>
              <a:rPr lang="en-US" sz="3600" b="0" dirty="0" err="1"/>
              <a:t>poisson</a:t>
            </a:r>
            <a:r>
              <a:rPr lang="en-US" sz="3600" b="0" dirty="0"/>
              <a:t> or negative binomial model, and the version we ended up choosing: categorical, ordinal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D56DEF-27D1-8044-BF03-D0FE443A531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89415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have all the components we need to start understanding our errors</a:t>
            </a:r>
          </a:p>
          <a:p>
            <a:endParaRPr lang="en-US" dirty="0"/>
          </a:p>
          <a:p>
            <a:r>
              <a:rPr lang="en-US" dirty="0"/>
              <a:t>GO INTO THE FIGURE !!!!: The red represents the deep NMB and blue represents moderate. The x axis represents the pain categories, from left to right we have no/mild, moderate, and severe. As you can see, deep NMB is more right skewed.</a:t>
            </a:r>
          </a:p>
        </p:txBody>
      </p:sp>
      <p:sp>
        <p:nvSpPr>
          <p:cNvPr id="4" name="Slide Number Placeholder 3"/>
          <p:cNvSpPr>
            <a:spLocks noGrp="1"/>
          </p:cNvSpPr>
          <p:nvPr>
            <p:ph type="sldNum" sz="quarter" idx="5"/>
          </p:nvPr>
        </p:nvSpPr>
        <p:spPr/>
        <p:txBody>
          <a:bodyPr/>
          <a:lstStyle/>
          <a:p>
            <a:fld id="{B2635306-B3B1-A944-A64E-0A77BF937900}" type="slidenum">
              <a:rPr lang="en-US" smtClean="0"/>
              <a:t>10</a:t>
            </a:fld>
            <a:endParaRPr lang="en-US"/>
          </a:p>
        </p:txBody>
      </p:sp>
    </p:spTree>
    <p:extLst>
      <p:ext uri="{BB962C8B-B14F-4D97-AF65-F5344CB8AC3E}">
        <p14:creationId xmlns:p14="http://schemas.microsoft.com/office/powerpoint/2010/main" val="15026522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2635306-B3B1-A944-A64E-0A77BF937900}" type="slidenum">
              <a:rPr lang="en-US" smtClean="0"/>
              <a:t>11</a:t>
            </a:fld>
            <a:endParaRPr lang="en-US"/>
          </a:p>
        </p:txBody>
      </p:sp>
    </p:spTree>
    <p:extLst>
      <p:ext uri="{BB962C8B-B14F-4D97-AF65-F5344CB8AC3E}">
        <p14:creationId xmlns:p14="http://schemas.microsoft.com/office/powerpoint/2010/main" val="38270559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shapes to represent continuous or dichotomized. The circle is continuous, like smooth, while the triangle is dichotomized, since we have that cutoff. Next, apologies to the red-green colorblind people in the audience, but we label green with the corrected covariate and red with the per-randomized covariate.</a:t>
            </a:r>
          </a:p>
          <a:p>
            <a:endParaRPr lang="en-US" dirty="0"/>
          </a:p>
          <a:p>
            <a:r>
              <a:rPr lang="en-US" dirty="0"/>
              <a:t>The x axis represents the degree of measurement error on BMI, from none to strong. For each of these strengths, you can see the BMI and strata categories from left to right. These will remain consistent throughout the next few figures</a:t>
            </a:r>
          </a:p>
          <a:p>
            <a:endParaRPr lang="en-US" dirty="0"/>
          </a:p>
          <a:p>
            <a:r>
              <a:rPr lang="en-US" dirty="0"/>
              <a:t>On the Y axis, we have the relative bias of the treatment effect</a:t>
            </a:r>
          </a:p>
          <a:p>
            <a:endParaRPr lang="en-US" dirty="0"/>
          </a:p>
          <a:p>
            <a:r>
              <a:rPr lang="en-US" dirty="0"/>
              <a:t>Weak BMI did not exhibit significant drop-offs in the bias for the treatment effect estimate, but if we consider a strong BMI effect on the outcome, there is a different story.</a:t>
            </a:r>
          </a:p>
          <a:p>
            <a:endParaRPr lang="en-US" dirty="0"/>
          </a:p>
        </p:txBody>
      </p:sp>
      <p:sp>
        <p:nvSpPr>
          <p:cNvPr id="4" name="Slide Number Placeholder 3"/>
          <p:cNvSpPr>
            <a:spLocks noGrp="1"/>
          </p:cNvSpPr>
          <p:nvPr>
            <p:ph type="sldNum" sz="quarter" idx="5"/>
          </p:nvPr>
        </p:nvSpPr>
        <p:spPr/>
        <p:txBody>
          <a:bodyPr/>
          <a:lstStyle/>
          <a:p>
            <a:fld id="{B2635306-B3B1-A944-A64E-0A77BF937900}" type="slidenum">
              <a:rPr lang="en-US" smtClean="0"/>
              <a:t>12</a:t>
            </a:fld>
            <a:endParaRPr lang="en-US"/>
          </a:p>
        </p:txBody>
      </p:sp>
    </p:spTree>
    <p:extLst>
      <p:ext uri="{BB962C8B-B14F-4D97-AF65-F5344CB8AC3E}">
        <p14:creationId xmlns:p14="http://schemas.microsoft.com/office/powerpoint/2010/main" val="37274266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looked at power. We can see little change happened with weak BMI, but with strong BMI, it’s a different story</a:t>
            </a:r>
          </a:p>
        </p:txBody>
      </p:sp>
      <p:sp>
        <p:nvSpPr>
          <p:cNvPr id="4" name="Slide Number Placeholder 3"/>
          <p:cNvSpPr>
            <a:spLocks noGrp="1"/>
          </p:cNvSpPr>
          <p:nvPr>
            <p:ph type="sldNum" sz="quarter" idx="5"/>
          </p:nvPr>
        </p:nvSpPr>
        <p:spPr/>
        <p:txBody>
          <a:bodyPr/>
          <a:lstStyle/>
          <a:p>
            <a:fld id="{B2635306-B3B1-A944-A64E-0A77BF937900}" type="slidenum">
              <a:rPr lang="en-US" smtClean="0"/>
              <a:t>13</a:t>
            </a:fld>
            <a:endParaRPr lang="en-US"/>
          </a:p>
        </p:txBody>
      </p:sp>
    </p:spTree>
    <p:extLst>
      <p:ext uri="{BB962C8B-B14F-4D97-AF65-F5344CB8AC3E}">
        <p14:creationId xmlns:p14="http://schemas.microsoft.com/office/powerpoint/2010/main" val="1844152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drop in standard error by using corrected and continuous in an adjusted analysis isn’t a red flag for model selection</a:t>
            </a:r>
          </a:p>
          <a:p>
            <a:endParaRPr lang="en-US" dirty="0"/>
          </a:p>
          <a:p>
            <a:endParaRPr lang="en-US" dirty="0"/>
          </a:p>
          <a:p>
            <a:r>
              <a:rPr lang="en-US" dirty="0"/>
              <a:t>SKIP UNLESS ASKED: Ordinal logistic regression is part of a family of models called generalized linear models. We use the logit link function, which due to its geometry, makes the model </a:t>
            </a:r>
            <a:r>
              <a:rPr lang="en-US" dirty="0" err="1"/>
              <a:t>noncollapsible</a:t>
            </a:r>
            <a:r>
              <a:rPr lang="en-US" dirty="0"/>
              <a:t>, i.e. even </a:t>
            </a:r>
            <a:r>
              <a:rPr lang="en-US" dirty="0" err="1"/>
              <a:t>nonconfounding</a:t>
            </a:r>
            <a:r>
              <a:rPr lang="en-US" dirty="0"/>
              <a:t> variables that have a relationship with the outcome must be included to avoid biasing the effect you’re interested in. However, when adjusting for these variables, the efficiency of the effect you’re interested in drops. </a:t>
            </a:r>
          </a:p>
          <a:p>
            <a:endParaRPr lang="en-US" dirty="0"/>
          </a:p>
          <a:p>
            <a:r>
              <a:rPr lang="en-US" dirty="0"/>
              <a:t>In our case, when we adjust for less informative covariates or less correct covariates compared to the correct covariates, this same phenomena happens. To our knowledge, this isn’t well-documented</a:t>
            </a:r>
          </a:p>
        </p:txBody>
      </p:sp>
      <p:sp>
        <p:nvSpPr>
          <p:cNvPr id="4" name="Slide Number Placeholder 3"/>
          <p:cNvSpPr>
            <a:spLocks noGrp="1"/>
          </p:cNvSpPr>
          <p:nvPr>
            <p:ph type="sldNum" sz="quarter" idx="5"/>
          </p:nvPr>
        </p:nvSpPr>
        <p:spPr/>
        <p:txBody>
          <a:bodyPr/>
          <a:lstStyle/>
          <a:p>
            <a:fld id="{B2635306-B3B1-A944-A64E-0A77BF937900}" type="slidenum">
              <a:rPr lang="en-US" smtClean="0"/>
              <a:t>14</a:t>
            </a:fld>
            <a:endParaRPr lang="en-US"/>
          </a:p>
        </p:txBody>
      </p:sp>
    </p:spTree>
    <p:extLst>
      <p:ext uri="{BB962C8B-B14F-4D97-AF65-F5344CB8AC3E}">
        <p14:creationId xmlns:p14="http://schemas.microsoft.com/office/powerpoint/2010/main" val="3989090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interpretation, we chose the treatment effect of the model that used the corrected and continuous value of BMI, which performed best from our simulations. </a:t>
            </a:r>
          </a:p>
          <a:p>
            <a:endParaRPr lang="en-US" dirty="0"/>
          </a:p>
          <a:p>
            <a:r>
              <a:rPr lang="en-US" dirty="0"/>
              <a:t>However, some people would argue that we should “analyze as randomized”, i.e. we should use the dichotomized values used for randomization. Our simulations indicate that having a weak BMI effect and small amounts of errors doesn’t change the estimates drastically. We are essentially penalizing for the errors made in the trial by having a smaller (i.e. conservative) treatment effect estimate. </a:t>
            </a:r>
          </a:p>
          <a:p>
            <a:endParaRPr lang="en-US" dirty="0"/>
          </a:p>
          <a:p>
            <a:r>
              <a:rPr lang="en-US" dirty="0"/>
              <a:t>We report both the adjusted and continuous analysis and unadjusted and dichotomized analysis for sensitivity analysis and for transparency of errors made in stratified randomization in the trial. </a:t>
            </a:r>
          </a:p>
          <a:p>
            <a:endParaRPr lang="en-US" dirty="0"/>
          </a:p>
          <a:p>
            <a:r>
              <a:rPr lang="en-US" dirty="0"/>
              <a:t>In either case, there is clinical significance!</a:t>
            </a:r>
          </a:p>
        </p:txBody>
      </p:sp>
      <p:sp>
        <p:nvSpPr>
          <p:cNvPr id="4" name="Slide Number Placeholder 3"/>
          <p:cNvSpPr>
            <a:spLocks noGrp="1"/>
          </p:cNvSpPr>
          <p:nvPr>
            <p:ph type="sldNum" sz="quarter" idx="5"/>
          </p:nvPr>
        </p:nvSpPr>
        <p:spPr/>
        <p:txBody>
          <a:bodyPr/>
          <a:lstStyle/>
          <a:p>
            <a:fld id="{B2635306-B3B1-A944-A64E-0A77BF937900}" type="slidenum">
              <a:rPr lang="en-US" smtClean="0"/>
              <a:t>15</a:t>
            </a:fld>
            <a:endParaRPr lang="en-US"/>
          </a:p>
        </p:txBody>
      </p:sp>
    </p:spTree>
    <p:extLst>
      <p:ext uri="{BB962C8B-B14F-4D97-AF65-F5344CB8AC3E}">
        <p14:creationId xmlns:p14="http://schemas.microsoft.com/office/powerpoint/2010/main" val="37949380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C5E47407-2EC8-524C-85CD-E0BC1A1C8F1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7" name="Footer Placeholder 6">
            <a:extLst>
              <a:ext uri="{FF2B5EF4-FFF2-40B4-BE49-F238E27FC236}">
                <a16:creationId xmlns:a16="http://schemas.microsoft.com/office/drawing/2014/main" id="{739AB803-A532-384B-A53A-B6D4C36E506C}"/>
              </a:ext>
            </a:extLst>
          </p:cNvPr>
          <p:cNvSpPr>
            <a:spLocks noGrp="1"/>
          </p:cNvSpPr>
          <p:nvPr>
            <p:ph type="ftr" sz="quarter" idx="14"/>
          </p:nvPr>
        </p:nvSpPr>
        <p:spPr/>
        <p:txBody>
          <a:bodyPr/>
          <a:lstStyle/>
          <a:p>
            <a:r>
              <a:rPr lang="en-US"/>
              <a:t>MSK Confidential — do not distribute</a:t>
            </a:r>
          </a:p>
        </p:txBody>
      </p:sp>
      <p:sp>
        <p:nvSpPr>
          <p:cNvPr id="2" name="Title 1"/>
          <p:cNvSpPr>
            <a:spLocks noGrp="1"/>
          </p:cNvSpPr>
          <p:nvPr>
            <p:ph type="ctrTitle" hasCustomPrompt="1"/>
          </p:nvPr>
        </p:nvSpPr>
        <p:spPr>
          <a:xfrm>
            <a:off x="504825" y="1920241"/>
            <a:ext cx="7419975" cy="1508760"/>
          </a:xfrm>
        </p:spPr>
        <p:txBody>
          <a:bodyPr vert="horz" anchor="t"/>
          <a:lstStyle>
            <a:lvl1pPr algn="l">
              <a:defRPr sz="4800" b="1">
                <a:solidFill>
                  <a:schemeClr val="tx1"/>
                </a:solidFill>
              </a:defRPr>
            </a:lvl1pPr>
          </a:lstStyle>
          <a:p>
            <a:r>
              <a:rPr lang="en-US" dirty="0"/>
              <a:t>Click to add </a:t>
            </a:r>
            <a:br>
              <a:rPr lang="en-US" dirty="0"/>
            </a:br>
            <a:r>
              <a:rPr lang="en-US" dirty="0"/>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5A9A0FEB-2318-1E41-A04B-A702497639C9}"/>
              </a:ext>
            </a:extLst>
          </p:cNvPr>
          <p:cNvSpPr>
            <a:spLocks noGrp="1"/>
          </p:cNvSpPr>
          <p:nvPr>
            <p:ph type="body" sz="quarter" idx="13" hasCustomPrompt="1"/>
          </p:nvPr>
        </p:nvSpPr>
        <p:spPr>
          <a:xfrm>
            <a:off x="504823" y="3566160"/>
            <a:ext cx="7419975"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3004170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1/2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dirty="0"/>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708A9BD9-B4C1-F761-F29D-1A29B1DDDC1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tx1"/>
                </a:solidFill>
              </a:defRPr>
            </a:lvl1pPr>
          </a:lstStyle>
          <a:p>
            <a:r>
              <a:rPr lang="en-US" dirty="0"/>
              <a:t>Click to add </a:t>
            </a:r>
            <a:br>
              <a:rPr lang="en-US" dirty="0"/>
            </a:br>
            <a:r>
              <a:rPr lang="en-US" dirty="0"/>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1" name="Text Placeholder 5">
            <a:extLst>
              <a:ext uri="{FF2B5EF4-FFF2-40B4-BE49-F238E27FC236}">
                <a16:creationId xmlns:a16="http://schemas.microsoft.com/office/drawing/2014/main" id="{31B503BD-4158-2C40-9E38-005D18DF3C41}"/>
              </a:ext>
            </a:extLst>
          </p:cNvPr>
          <p:cNvSpPr>
            <a:spLocks noGrp="1"/>
          </p:cNvSpPr>
          <p:nvPr>
            <p:ph type="body" sz="quarter" idx="13" hasCustomPrompt="1"/>
          </p:nvPr>
        </p:nvSpPr>
        <p:spPr>
          <a:xfrm>
            <a:off x="504823" y="3566160"/>
            <a:ext cx="5131971"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3102383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Blue">
    <p:bg>
      <p:bgPr>
        <a:solidFill>
          <a:schemeClr val="tx1"/>
        </a:solidFill>
        <a:effectLst/>
      </p:bgPr>
    </p:bg>
    <p:spTree>
      <p:nvGrpSpPr>
        <p:cNvPr id="1" name=""/>
        <p:cNvGrpSpPr/>
        <p:nvPr/>
      </p:nvGrpSpPr>
      <p:grpSpPr>
        <a:xfrm>
          <a:off x="0" y="0"/>
          <a:ext cx="0" cy="0"/>
          <a:chOff x="0" y="0"/>
          <a:chExt cx="0" cy="0"/>
        </a:xfrm>
      </p:grpSpPr>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latin typeface="+mn-lt"/>
              </a:defRPr>
            </a:lvl1pPr>
          </a:lstStyle>
          <a:p>
            <a:r>
              <a:rPr lang="en-US"/>
              <a:t>MSK Confidential — do not distribute</a:t>
            </a:r>
          </a:p>
        </p:txBody>
      </p:sp>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855136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Image">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p:nvPr>
        </p:nvSpPr>
        <p:spPr>
          <a:xfrm>
            <a:off x="0" y="0"/>
            <a:ext cx="12192000" cy="6858000"/>
          </a:xfrm>
          <a:noFill/>
        </p:spPr>
        <p:txBody>
          <a:bodyPr/>
          <a:lstStyle>
            <a:lvl1pPr algn="l">
              <a:defRPr sz="1200">
                <a:solidFill>
                  <a:schemeClr val="bg1"/>
                </a:solidFill>
              </a:defRPr>
            </a:lvl1pPr>
          </a:lstStyle>
          <a:p>
            <a:r>
              <a:rPr lang="en-US"/>
              <a:t>Click icon to add picture</a:t>
            </a:r>
            <a:endParaRPr lang="en-US" dirty="0"/>
          </a:p>
        </p:txBody>
      </p:sp>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478799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Blue 1/2 Image">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dirty="0"/>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E176EC07-7590-9014-296C-172578C5C04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0" name="Text Placeholder 5">
            <a:extLst>
              <a:ext uri="{FF2B5EF4-FFF2-40B4-BE49-F238E27FC236}">
                <a16:creationId xmlns:a16="http://schemas.microsoft.com/office/drawing/2014/main" id="{E8ECE2AD-E262-0244-A779-32BC5B97C660}"/>
              </a:ext>
            </a:extLst>
          </p:cNvPr>
          <p:cNvSpPr>
            <a:spLocks noGrp="1"/>
          </p:cNvSpPr>
          <p:nvPr>
            <p:ph type="body" sz="quarter" idx="13" hasCustomPrompt="1"/>
          </p:nvPr>
        </p:nvSpPr>
        <p:spPr>
          <a:xfrm>
            <a:off x="504823" y="3566160"/>
            <a:ext cx="5131971"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1717392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ODL">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C5E47407-2EC8-524C-85CD-E0BC1A1C8F1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7" name="Footer Placeholder 6">
            <a:extLst>
              <a:ext uri="{FF2B5EF4-FFF2-40B4-BE49-F238E27FC236}">
                <a16:creationId xmlns:a16="http://schemas.microsoft.com/office/drawing/2014/main" id="{739AB803-A532-384B-A53A-B6D4C36E506C}"/>
              </a:ext>
            </a:extLst>
          </p:cNvPr>
          <p:cNvSpPr>
            <a:spLocks noGrp="1"/>
          </p:cNvSpPr>
          <p:nvPr>
            <p:ph type="ftr" sz="quarter" idx="14"/>
          </p:nvPr>
        </p:nvSpPr>
        <p:spPr/>
        <p:txBody>
          <a:bodyPr/>
          <a:lstStyle/>
          <a:p>
            <a:r>
              <a:rPr lang="en-US"/>
              <a:t>MSK Confidential — do not distribute</a:t>
            </a:r>
          </a:p>
        </p:txBody>
      </p:sp>
      <p:sp>
        <p:nvSpPr>
          <p:cNvPr id="2" name="Title 1"/>
          <p:cNvSpPr>
            <a:spLocks noGrp="1"/>
          </p:cNvSpPr>
          <p:nvPr>
            <p:ph type="ctrTitle" hasCustomPrompt="1"/>
          </p:nvPr>
        </p:nvSpPr>
        <p:spPr>
          <a:xfrm>
            <a:off x="504825" y="1920241"/>
            <a:ext cx="7419975" cy="1508760"/>
          </a:xfrm>
        </p:spPr>
        <p:txBody>
          <a:bodyPr vert="horz" anchor="t"/>
          <a:lstStyle>
            <a:lvl1pPr algn="l">
              <a:defRPr sz="4800" b="1">
                <a:solidFill>
                  <a:schemeClr val="tx1"/>
                </a:solidFill>
              </a:defRPr>
            </a:lvl1pPr>
          </a:lstStyle>
          <a:p>
            <a:r>
              <a:rPr lang="en-US" dirty="0"/>
              <a:t>Click to add </a:t>
            </a:r>
            <a:br>
              <a:rPr lang="en-US" dirty="0"/>
            </a:br>
            <a:r>
              <a:rPr lang="en-US" dirty="0"/>
              <a:t>presentation title</a:t>
            </a:r>
          </a:p>
        </p:txBody>
      </p:sp>
      <p:sp>
        <p:nvSpPr>
          <p:cNvPr id="3" name="Subtitle 2"/>
          <p:cNvSpPr>
            <a:spLocks noGrp="1"/>
          </p:cNvSpPr>
          <p:nvPr>
            <p:ph type="subTitle" idx="1" hasCustomPrompt="1"/>
          </p:nvPr>
        </p:nvSpPr>
        <p:spPr>
          <a:xfrm>
            <a:off x="504825" y="1371600"/>
            <a:ext cx="7419975" cy="530693"/>
          </a:xfrm>
        </p:spPr>
        <p:txBody>
          <a:bodyPr anchor="t"/>
          <a:lstStyle>
            <a:lvl1pPr marL="0" indent="0" algn="l">
              <a:buNone/>
              <a:defRPr sz="3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5A9A0FEB-2318-1E41-A04B-A702497639C9}"/>
              </a:ext>
            </a:extLst>
          </p:cNvPr>
          <p:cNvSpPr>
            <a:spLocks noGrp="1"/>
          </p:cNvSpPr>
          <p:nvPr>
            <p:ph type="body" sz="quarter" idx="13" hasCustomPrompt="1"/>
          </p:nvPr>
        </p:nvSpPr>
        <p:spPr>
          <a:xfrm>
            <a:off x="504823" y="3566160"/>
            <a:ext cx="7419975"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1235011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1/2 Image ODL">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dirty="0"/>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708A9BD9-B4C1-F761-F29D-1A29B1DDDC1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tx1"/>
                </a:solidFill>
              </a:defRPr>
            </a:lvl1pPr>
          </a:lstStyle>
          <a:p>
            <a:r>
              <a:rPr lang="en-US" dirty="0"/>
              <a:t>Click to add </a:t>
            </a:r>
            <a:br>
              <a:rPr lang="en-US" dirty="0"/>
            </a:br>
            <a:r>
              <a:rPr lang="en-US" dirty="0"/>
              <a:t>presentation title</a:t>
            </a:r>
          </a:p>
        </p:txBody>
      </p:sp>
      <p:sp>
        <p:nvSpPr>
          <p:cNvPr id="3" name="Subtitle 2"/>
          <p:cNvSpPr>
            <a:spLocks noGrp="1"/>
          </p:cNvSpPr>
          <p:nvPr>
            <p:ph type="subTitle" idx="1" hasCustomPrompt="1"/>
          </p:nvPr>
        </p:nvSpPr>
        <p:spPr>
          <a:xfrm>
            <a:off x="504826" y="1371600"/>
            <a:ext cx="5131970" cy="530693"/>
          </a:xfrm>
        </p:spPr>
        <p:txBody>
          <a:bodyPr anchor="t"/>
          <a:lstStyle>
            <a:lvl1pPr marL="0" indent="0" algn="l">
              <a:buNone/>
              <a:defRPr sz="3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1" name="Text Placeholder 5">
            <a:extLst>
              <a:ext uri="{FF2B5EF4-FFF2-40B4-BE49-F238E27FC236}">
                <a16:creationId xmlns:a16="http://schemas.microsoft.com/office/drawing/2014/main" id="{31B503BD-4158-2C40-9E38-005D18DF3C41}"/>
              </a:ext>
            </a:extLst>
          </p:cNvPr>
          <p:cNvSpPr>
            <a:spLocks noGrp="1"/>
          </p:cNvSpPr>
          <p:nvPr>
            <p:ph type="body" sz="quarter" idx="13" hasCustomPrompt="1"/>
          </p:nvPr>
        </p:nvSpPr>
        <p:spPr>
          <a:xfrm>
            <a:off x="504823" y="3566160"/>
            <a:ext cx="5131971"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4035123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Blue ODL">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latin typeface="+mn-lt"/>
              </a:defRPr>
            </a:lvl1pPr>
          </a:lstStyle>
          <a:p>
            <a:r>
              <a:rPr lang="en-US"/>
              <a:t>MSK Confidential — do not distribute</a:t>
            </a:r>
          </a:p>
        </p:txBody>
      </p:sp>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3" name="Subtitle 2"/>
          <p:cNvSpPr>
            <a:spLocks noGrp="1"/>
          </p:cNvSpPr>
          <p:nvPr>
            <p:ph type="subTitle" idx="1" hasCustomPrompt="1"/>
          </p:nvPr>
        </p:nvSpPr>
        <p:spPr>
          <a:xfrm>
            <a:off x="504825" y="1371600"/>
            <a:ext cx="7419975" cy="530693"/>
          </a:xfrm>
        </p:spPr>
        <p:txBody>
          <a:bodyPr anchor="t"/>
          <a:lstStyle>
            <a:lvl1pPr marL="0" indent="0" algn="l">
              <a:buNone/>
              <a:defRPr sz="32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2616416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Image ODL">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p:nvPr>
        </p:nvSpPr>
        <p:spPr>
          <a:xfrm>
            <a:off x="0" y="0"/>
            <a:ext cx="12192000" cy="6858000"/>
          </a:xfrm>
          <a:noFill/>
        </p:spPr>
        <p:txBody>
          <a:bodyPr/>
          <a:lstStyle>
            <a:lvl1pPr algn="l">
              <a:defRPr sz="1200">
                <a:solidFill>
                  <a:schemeClr val="bg1"/>
                </a:solidFill>
              </a:defRPr>
            </a:lvl1pPr>
          </a:lstStyle>
          <a:p>
            <a:r>
              <a:rPr lang="en-US"/>
              <a:t>Click icon to add picture</a:t>
            </a:r>
            <a:endParaRPr lang="en-US" dirty="0"/>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3" name="Subtitle 2"/>
          <p:cNvSpPr>
            <a:spLocks noGrp="1"/>
          </p:cNvSpPr>
          <p:nvPr>
            <p:ph type="subTitle" idx="1" hasCustomPrompt="1"/>
          </p:nvPr>
        </p:nvSpPr>
        <p:spPr>
          <a:xfrm>
            <a:off x="504825" y="1371600"/>
            <a:ext cx="7419975" cy="530693"/>
          </a:xfrm>
        </p:spPr>
        <p:txBody>
          <a:bodyPr anchor="t"/>
          <a:lstStyle>
            <a:lvl1pPr marL="0" indent="0" algn="l">
              <a:buNone/>
              <a:defRPr sz="32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3549959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Blue 1/2 Image ODL">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dirty="0"/>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E176EC07-7590-9014-296C-172578C5C04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3" name="Subtitle 2"/>
          <p:cNvSpPr>
            <a:spLocks noGrp="1"/>
          </p:cNvSpPr>
          <p:nvPr>
            <p:ph type="subTitle" idx="1" hasCustomPrompt="1"/>
          </p:nvPr>
        </p:nvSpPr>
        <p:spPr>
          <a:xfrm>
            <a:off x="504826" y="1371600"/>
            <a:ext cx="5131970" cy="530693"/>
          </a:xfrm>
        </p:spPr>
        <p:txBody>
          <a:bodyPr anchor="t"/>
          <a:lstStyle>
            <a:lvl1pPr marL="0" indent="0" algn="l">
              <a:buNone/>
              <a:defRPr sz="32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0" name="Text Placeholder 5">
            <a:extLst>
              <a:ext uri="{FF2B5EF4-FFF2-40B4-BE49-F238E27FC236}">
                <a16:creationId xmlns:a16="http://schemas.microsoft.com/office/drawing/2014/main" id="{E8ECE2AD-E262-0244-A779-32BC5B97C660}"/>
              </a:ext>
            </a:extLst>
          </p:cNvPr>
          <p:cNvSpPr>
            <a:spLocks noGrp="1"/>
          </p:cNvSpPr>
          <p:nvPr>
            <p:ph type="body" sz="quarter" idx="13" hasCustomPrompt="1"/>
          </p:nvPr>
        </p:nvSpPr>
        <p:spPr>
          <a:xfrm>
            <a:off x="504823" y="3566160"/>
            <a:ext cx="5131971"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2297257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ivider Layou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2690335"/>
            <a:ext cx="12191999" cy="1477328"/>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Divider layouts</a:t>
            </a:r>
          </a:p>
        </p:txBody>
      </p:sp>
    </p:spTree>
    <p:extLst>
      <p:ext uri="{BB962C8B-B14F-4D97-AF65-F5344CB8AC3E}">
        <p14:creationId xmlns:p14="http://schemas.microsoft.com/office/powerpoint/2010/main" val="1695282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6D86FA2C-F8A6-90E8-5782-DF29638FC6C0}"/>
              </a:ext>
            </a:extLst>
          </p:cNvPr>
          <p:cNvSpPr/>
          <p:nvPr/>
        </p:nvSpPr>
        <p:spPr>
          <a:xfrm>
            <a:off x="6428802" y="483936"/>
            <a:ext cx="5763198" cy="6374064"/>
          </a:xfrm>
          <a:custGeom>
            <a:avLst/>
            <a:gdLst>
              <a:gd name="connsiteX0" fmla="*/ 3554522 w 5763198"/>
              <a:gd name="connsiteY0" fmla="*/ 1277148 h 6374064"/>
              <a:gd name="connsiteX1" fmla="*/ 4965198 w 5763198"/>
              <a:gd name="connsiteY1" fmla="*/ 2685220 h 6374064"/>
              <a:gd name="connsiteX2" fmla="*/ 4638987 w 5763198"/>
              <a:gd name="connsiteY2" fmla="*/ 3010816 h 6374064"/>
              <a:gd name="connsiteX3" fmla="*/ 3785164 w 5763198"/>
              <a:gd name="connsiteY3" fmla="*/ 2158571 h 6374064"/>
              <a:gd name="connsiteX4" fmla="*/ 3785164 w 5763198"/>
              <a:gd name="connsiteY4" fmla="*/ 3610576 h 6374064"/>
              <a:gd name="connsiteX5" fmla="*/ 4797652 w 5763198"/>
              <a:gd name="connsiteY5" fmla="*/ 3610576 h 6374064"/>
              <a:gd name="connsiteX6" fmla="*/ 4797652 w 5763198"/>
              <a:gd name="connsiteY6" fmla="*/ 4071018 h 6374064"/>
              <a:gd name="connsiteX7" fmla="*/ 3785164 w 5763198"/>
              <a:gd name="connsiteY7" fmla="*/ 4071018 h 6374064"/>
              <a:gd name="connsiteX8" fmla="*/ 3785164 w 5763198"/>
              <a:gd name="connsiteY8" fmla="*/ 4427325 h 6374064"/>
              <a:gd name="connsiteX9" fmla="*/ 4797652 w 5763198"/>
              <a:gd name="connsiteY9" fmla="*/ 4427325 h 6374064"/>
              <a:gd name="connsiteX10" fmla="*/ 4797652 w 5763198"/>
              <a:gd name="connsiteY10" fmla="*/ 4887800 h 6374064"/>
              <a:gd name="connsiteX11" fmla="*/ 3785164 w 5763198"/>
              <a:gd name="connsiteY11" fmla="*/ 4887800 h 6374064"/>
              <a:gd name="connsiteX12" fmla="*/ 3785164 w 5763198"/>
              <a:gd name="connsiteY12" fmla="*/ 5244106 h 6374064"/>
              <a:gd name="connsiteX13" fmla="*/ 4797652 w 5763198"/>
              <a:gd name="connsiteY13" fmla="*/ 5244106 h 6374064"/>
              <a:gd name="connsiteX14" fmla="*/ 4797652 w 5763198"/>
              <a:gd name="connsiteY14" fmla="*/ 5704548 h 6374064"/>
              <a:gd name="connsiteX15" fmla="*/ 3785164 w 5763198"/>
              <a:gd name="connsiteY15" fmla="*/ 5704548 h 6374064"/>
              <a:gd name="connsiteX16" fmla="*/ 3785164 w 5763198"/>
              <a:gd name="connsiteY16" fmla="*/ 6374064 h 6374064"/>
              <a:gd name="connsiteX17" fmla="*/ 3323858 w 5763198"/>
              <a:gd name="connsiteY17" fmla="*/ 6374064 h 6374064"/>
              <a:gd name="connsiteX18" fmla="*/ 3323858 w 5763198"/>
              <a:gd name="connsiteY18" fmla="*/ 5704548 h 6374064"/>
              <a:gd name="connsiteX19" fmla="*/ 2311348 w 5763198"/>
              <a:gd name="connsiteY19" fmla="*/ 5704548 h 6374064"/>
              <a:gd name="connsiteX20" fmla="*/ 2311348 w 5763198"/>
              <a:gd name="connsiteY20" fmla="*/ 5244106 h 6374064"/>
              <a:gd name="connsiteX21" fmla="*/ 3323858 w 5763198"/>
              <a:gd name="connsiteY21" fmla="*/ 5244106 h 6374064"/>
              <a:gd name="connsiteX22" fmla="*/ 3323858 w 5763198"/>
              <a:gd name="connsiteY22" fmla="*/ 4887800 h 6374064"/>
              <a:gd name="connsiteX23" fmla="*/ 2311348 w 5763198"/>
              <a:gd name="connsiteY23" fmla="*/ 4887800 h 6374064"/>
              <a:gd name="connsiteX24" fmla="*/ 2311348 w 5763198"/>
              <a:gd name="connsiteY24" fmla="*/ 4427325 h 6374064"/>
              <a:gd name="connsiteX25" fmla="*/ 3323858 w 5763198"/>
              <a:gd name="connsiteY25" fmla="*/ 4427325 h 6374064"/>
              <a:gd name="connsiteX26" fmla="*/ 3323858 w 5763198"/>
              <a:gd name="connsiteY26" fmla="*/ 4071018 h 6374064"/>
              <a:gd name="connsiteX27" fmla="*/ 2311348 w 5763198"/>
              <a:gd name="connsiteY27" fmla="*/ 4071018 h 6374064"/>
              <a:gd name="connsiteX28" fmla="*/ 2311348 w 5763198"/>
              <a:gd name="connsiteY28" fmla="*/ 3610576 h 6374064"/>
              <a:gd name="connsiteX29" fmla="*/ 3323858 w 5763198"/>
              <a:gd name="connsiteY29" fmla="*/ 3610576 h 6374064"/>
              <a:gd name="connsiteX30" fmla="*/ 3323858 w 5763198"/>
              <a:gd name="connsiteY30" fmla="*/ 2158603 h 6374064"/>
              <a:gd name="connsiteX31" fmla="*/ 2470036 w 5763198"/>
              <a:gd name="connsiteY31" fmla="*/ 3010816 h 6374064"/>
              <a:gd name="connsiteX32" fmla="*/ 2143825 w 5763198"/>
              <a:gd name="connsiteY32" fmla="*/ 2685220 h 6374064"/>
              <a:gd name="connsiteX33" fmla="*/ 3554490 w 5763198"/>
              <a:gd name="connsiteY33" fmla="*/ 0 h 6374064"/>
              <a:gd name="connsiteX34" fmla="*/ 5714575 w 5763198"/>
              <a:gd name="connsiteY34" fmla="*/ 582998 h 6374064"/>
              <a:gd name="connsiteX35" fmla="*/ 5763198 w 5763198"/>
              <a:gd name="connsiteY35" fmla="*/ 618804 h 6374064"/>
              <a:gd name="connsiteX36" fmla="*/ 5763198 w 5763198"/>
              <a:gd name="connsiteY36" fmla="*/ 1232611 h 6374064"/>
              <a:gd name="connsiteX37" fmla="*/ 5668108 w 5763198"/>
              <a:gd name="connsiteY37" fmla="*/ 1136723 h 6374064"/>
              <a:gd name="connsiteX38" fmla="*/ 3554490 w 5763198"/>
              <a:gd name="connsiteY38" fmla="*/ 460367 h 6374064"/>
              <a:gd name="connsiteX39" fmla="*/ 462581 w 5763198"/>
              <a:gd name="connsiteY39" fmla="*/ 3993976 h 6374064"/>
              <a:gd name="connsiteX40" fmla="*/ 897378 w 5763198"/>
              <a:gd name="connsiteY40" fmla="*/ 6147274 h 6374064"/>
              <a:gd name="connsiteX41" fmla="*/ 1033153 w 5763198"/>
              <a:gd name="connsiteY41" fmla="*/ 6374064 h 6374064"/>
              <a:gd name="connsiteX42" fmla="*/ 493028 w 5763198"/>
              <a:gd name="connsiteY42" fmla="*/ 6374064 h 6374064"/>
              <a:gd name="connsiteX43" fmla="*/ 348006 w 5763198"/>
              <a:gd name="connsiteY43" fmla="*/ 6063412 h 6374064"/>
              <a:gd name="connsiteX44" fmla="*/ 0 w 5763198"/>
              <a:gd name="connsiteY44" fmla="*/ 3993976 h 6374064"/>
              <a:gd name="connsiteX45" fmla="*/ 887775 w 5763198"/>
              <a:gd name="connsiteY45" fmla="*/ 1034018 h 6374064"/>
              <a:gd name="connsiteX46" fmla="*/ 3554490 w 5763198"/>
              <a:gd name="connsiteY46" fmla="*/ 0 h 637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763198" h="6374064">
                <a:moveTo>
                  <a:pt x="3554522" y="1277148"/>
                </a:moveTo>
                <a:lnTo>
                  <a:pt x="4965198" y="2685220"/>
                </a:lnTo>
                <a:lnTo>
                  <a:pt x="4638987" y="3010816"/>
                </a:lnTo>
                <a:lnTo>
                  <a:pt x="3785164" y="2158571"/>
                </a:lnTo>
                <a:lnTo>
                  <a:pt x="3785164" y="3610576"/>
                </a:lnTo>
                <a:lnTo>
                  <a:pt x="4797652" y="3610576"/>
                </a:lnTo>
                <a:lnTo>
                  <a:pt x="4797652" y="4071018"/>
                </a:lnTo>
                <a:lnTo>
                  <a:pt x="3785164" y="4071018"/>
                </a:lnTo>
                <a:lnTo>
                  <a:pt x="3785164" y="4427325"/>
                </a:lnTo>
                <a:lnTo>
                  <a:pt x="4797652" y="4427325"/>
                </a:lnTo>
                <a:lnTo>
                  <a:pt x="4797652" y="4887800"/>
                </a:lnTo>
                <a:lnTo>
                  <a:pt x="3785164" y="4887800"/>
                </a:lnTo>
                <a:lnTo>
                  <a:pt x="3785164" y="5244106"/>
                </a:lnTo>
                <a:lnTo>
                  <a:pt x="4797652" y="5244106"/>
                </a:lnTo>
                <a:lnTo>
                  <a:pt x="4797652" y="5704548"/>
                </a:lnTo>
                <a:lnTo>
                  <a:pt x="3785164" y="5704548"/>
                </a:lnTo>
                <a:lnTo>
                  <a:pt x="3785164" y="6374064"/>
                </a:lnTo>
                <a:lnTo>
                  <a:pt x="3323858" y="6374064"/>
                </a:lnTo>
                <a:lnTo>
                  <a:pt x="3323858" y="5704548"/>
                </a:lnTo>
                <a:lnTo>
                  <a:pt x="2311348" y="5704548"/>
                </a:lnTo>
                <a:lnTo>
                  <a:pt x="2311348" y="5244106"/>
                </a:lnTo>
                <a:lnTo>
                  <a:pt x="3323858" y="5244106"/>
                </a:lnTo>
                <a:lnTo>
                  <a:pt x="3323858" y="4887800"/>
                </a:lnTo>
                <a:lnTo>
                  <a:pt x="2311348" y="4887800"/>
                </a:lnTo>
                <a:lnTo>
                  <a:pt x="2311348" y="4427325"/>
                </a:lnTo>
                <a:lnTo>
                  <a:pt x="3323858" y="4427325"/>
                </a:lnTo>
                <a:lnTo>
                  <a:pt x="3323858" y="4071018"/>
                </a:lnTo>
                <a:lnTo>
                  <a:pt x="2311348" y="4071018"/>
                </a:lnTo>
                <a:lnTo>
                  <a:pt x="2311348" y="3610576"/>
                </a:lnTo>
                <a:lnTo>
                  <a:pt x="3323858" y="3610576"/>
                </a:lnTo>
                <a:lnTo>
                  <a:pt x="3323858" y="2158603"/>
                </a:lnTo>
                <a:lnTo>
                  <a:pt x="2470036" y="3010816"/>
                </a:lnTo>
                <a:lnTo>
                  <a:pt x="2143825" y="2685220"/>
                </a:lnTo>
                <a:close/>
                <a:moveTo>
                  <a:pt x="3554490" y="0"/>
                </a:moveTo>
                <a:cubicBezTo>
                  <a:pt x="4429874" y="0"/>
                  <a:pt x="5153422" y="195695"/>
                  <a:pt x="5714575" y="582998"/>
                </a:cubicBezTo>
                <a:lnTo>
                  <a:pt x="5763198" y="618804"/>
                </a:lnTo>
                <a:lnTo>
                  <a:pt x="5763198" y="1232611"/>
                </a:lnTo>
                <a:lnTo>
                  <a:pt x="5668108" y="1136723"/>
                </a:lnTo>
                <a:cubicBezTo>
                  <a:pt x="5160837" y="685819"/>
                  <a:pt x="4456297" y="460367"/>
                  <a:pt x="3554490" y="460367"/>
                </a:cubicBezTo>
                <a:cubicBezTo>
                  <a:pt x="1493207" y="460367"/>
                  <a:pt x="462581" y="1638240"/>
                  <a:pt x="462581" y="3993976"/>
                </a:cubicBezTo>
                <a:cubicBezTo>
                  <a:pt x="462581" y="4877377"/>
                  <a:pt x="607513" y="5595144"/>
                  <a:pt x="897378" y="6147274"/>
                </a:cubicBezTo>
                <a:lnTo>
                  <a:pt x="1033153" y="6374064"/>
                </a:lnTo>
                <a:lnTo>
                  <a:pt x="493028" y="6374064"/>
                </a:lnTo>
                <a:lnTo>
                  <a:pt x="348006" y="6063412"/>
                </a:lnTo>
                <a:cubicBezTo>
                  <a:pt x="116679" y="5494171"/>
                  <a:pt x="0" y="4802111"/>
                  <a:pt x="0" y="3993976"/>
                </a:cubicBezTo>
                <a:cubicBezTo>
                  <a:pt x="0" y="2700970"/>
                  <a:pt x="298698" y="1705096"/>
                  <a:pt x="887775" y="1034018"/>
                </a:cubicBezTo>
                <a:cubicBezTo>
                  <a:pt x="1490095" y="347903"/>
                  <a:pt x="2387300" y="0"/>
                  <a:pt x="3554490" y="0"/>
                </a:cubicBezTo>
                <a:close/>
              </a:path>
            </a:pathLst>
          </a:custGeom>
          <a:solidFill>
            <a:schemeClr val="accent2">
              <a:alpha val="25000"/>
            </a:schemeClr>
          </a:solidFill>
          <a:ln w="3001"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990CE4FF-62C5-5C44-AE4A-3D38634FF8CF}"/>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3278743C-5E55-7D4C-9CFF-3A25EB7EE36F}"/>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504825" y="1371600"/>
            <a:ext cx="7419975" cy="4718050"/>
          </a:xfrm>
        </p:spPr>
        <p:txBody>
          <a:bodyPr vert="horz" anchor="ctr"/>
          <a:lstStyle>
            <a:lvl1pPr>
              <a:defRPr sz="4800" b="1">
                <a:solidFill>
                  <a:schemeClr val="tx1"/>
                </a:solidFill>
              </a:defRPr>
            </a:lvl1pPr>
          </a:lstStyle>
          <a:p>
            <a:r>
              <a:rPr lang="en-US" dirty="0"/>
              <a:t>This slide is for a divider, statement or takeaway.</a:t>
            </a:r>
          </a:p>
        </p:txBody>
      </p:sp>
    </p:spTree>
    <p:extLst>
      <p:ext uri="{BB962C8B-B14F-4D97-AF65-F5344CB8AC3E}">
        <p14:creationId xmlns:p14="http://schemas.microsoft.com/office/powerpoint/2010/main" val="40395976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Blue">
    <p:bg>
      <p:bgPr>
        <a:solidFill>
          <a:schemeClr val="tx1"/>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66FADEA-3B1D-38EC-A06D-527B0A9E3ADB}"/>
              </a:ext>
            </a:extLst>
          </p:cNvPr>
          <p:cNvSpPr/>
          <p:nvPr/>
        </p:nvSpPr>
        <p:spPr>
          <a:xfrm>
            <a:off x="6428802" y="483936"/>
            <a:ext cx="5763198" cy="6374064"/>
          </a:xfrm>
          <a:custGeom>
            <a:avLst/>
            <a:gdLst>
              <a:gd name="connsiteX0" fmla="*/ 3554522 w 5763198"/>
              <a:gd name="connsiteY0" fmla="*/ 1277148 h 6374064"/>
              <a:gd name="connsiteX1" fmla="*/ 4965198 w 5763198"/>
              <a:gd name="connsiteY1" fmla="*/ 2685220 h 6374064"/>
              <a:gd name="connsiteX2" fmla="*/ 4638987 w 5763198"/>
              <a:gd name="connsiteY2" fmla="*/ 3010816 h 6374064"/>
              <a:gd name="connsiteX3" fmla="*/ 3785164 w 5763198"/>
              <a:gd name="connsiteY3" fmla="*/ 2158571 h 6374064"/>
              <a:gd name="connsiteX4" fmla="*/ 3785164 w 5763198"/>
              <a:gd name="connsiteY4" fmla="*/ 3610576 h 6374064"/>
              <a:gd name="connsiteX5" fmla="*/ 4797652 w 5763198"/>
              <a:gd name="connsiteY5" fmla="*/ 3610576 h 6374064"/>
              <a:gd name="connsiteX6" fmla="*/ 4797652 w 5763198"/>
              <a:gd name="connsiteY6" fmla="*/ 4071018 h 6374064"/>
              <a:gd name="connsiteX7" fmla="*/ 3785164 w 5763198"/>
              <a:gd name="connsiteY7" fmla="*/ 4071018 h 6374064"/>
              <a:gd name="connsiteX8" fmla="*/ 3785164 w 5763198"/>
              <a:gd name="connsiteY8" fmla="*/ 4427325 h 6374064"/>
              <a:gd name="connsiteX9" fmla="*/ 4797652 w 5763198"/>
              <a:gd name="connsiteY9" fmla="*/ 4427325 h 6374064"/>
              <a:gd name="connsiteX10" fmla="*/ 4797652 w 5763198"/>
              <a:gd name="connsiteY10" fmla="*/ 4887800 h 6374064"/>
              <a:gd name="connsiteX11" fmla="*/ 3785164 w 5763198"/>
              <a:gd name="connsiteY11" fmla="*/ 4887800 h 6374064"/>
              <a:gd name="connsiteX12" fmla="*/ 3785164 w 5763198"/>
              <a:gd name="connsiteY12" fmla="*/ 5244106 h 6374064"/>
              <a:gd name="connsiteX13" fmla="*/ 4797652 w 5763198"/>
              <a:gd name="connsiteY13" fmla="*/ 5244106 h 6374064"/>
              <a:gd name="connsiteX14" fmla="*/ 4797652 w 5763198"/>
              <a:gd name="connsiteY14" fmla="*/ 5704548 h 6374064"/>
              <a:gd name="connsiteX15" fmla="*/ 3785164 w 5763198"/>
              <a:gd name="connsiteY15" fmla="*/ 5704548 h 6374064"/>
              <a:gd name="connsiteX16" fmla="*/ 3785164 w 5763198"/>
              <a:gd name="connsiteY16" fmla="*/ 6374064 h 6374064"/>
              <a:gd name="connsiteX17" fmla="*/ 3323858 w 5763198"/>
              <a:gd name="connsiteY17" fmla="*/ 6374064 h 6374064"/>
              <a:gd name="connsiteX18" fmla="*/ 3323858 w 5763198"/>
              <a:gd name="connsiteY18" fmla="*/ 5704548 h 6374064"/>
              <a:gd name="connsiteX19" fmla="*/ 2311348 w 5763198"/>
              <a:gd name="connsiteY19" fmla="*/ 5704548 h 6374064"/>
              <a:gd name="connsiteX20" fmla="*/ 2311348 w 5763198"/>
              <a:gd name="connsiteY20" fmla="*/ 5244106 h 6374064"/>
              <a:gd name="connsiteX21" fmla="*/ 3323858 w 5763198"/>
              <a:gd name="connsiteY21" fmla="*/ 5244106 h 6374064"/>
              <a:gd name="connsiteX22" fmla="*/ 3323858 w 5763198"/>
              <a:gd name="connsiteY22" fmla="*/ 4887800 h 6374064"/>
              <a:gd name="connsiteX23" fmla="*/ 2311348 w 5763198"/>
              <a:gd name="connsiteY23" fmla="*/ 4887800 h 6374064"/>
              <a:gd name="connsiteX24" fmla="*/ 2311348 w 5763198"/>
              <a:gd name="connsiteY24" fmla="*/ 4427325 h 6374064"/>
              <a:gd name="connsiteX25" fmla="*/ 3323858 w 5763198"/>
              <a:gd name="connsiteY25" fmla="*/ 4427325 h 6374064"/>
              <a:gd name="connsiteX26" fmla="*/ 3323858 w 5763198"/>
              <a:gd name="connsiteY26" fmla="*/ 4071018 h 6374064"/>
              <a:gd name="connsiteX27" fmla="*/ 2311348 w 5763198"/>
              <a:gd name="connsiteY27" fmla="*/ 4071018 h 6374064"/>
              <a:gd name="connsiteX28" fmla="*/ 2311348 w 5763198"/>
              <a:gd name="connsiteY28" fmla="*/ 3610576 h 6374064"/>
              <a:gd name="connsiteX29" fmla="*/ 3323858 w 5763198"/>
              <a:gd name="connsiteY29" fmla="*/ 3610576 h 6374064"/>
              <a:gd name="connsiteX30" fmla="*/ 3323858 w 5763198"/>
              <a:gd name="connsiteY30" fmla="*/ 2158603 h 6374064"/>
              <a:gd name="connsiteX31" fmla="*/ 2470036 w 5763198"/>
              <a:gd name="connsiteY31" fmla="*/ 3010816 h 6374064"/>
              <a:gd name="connsiteX32" fmla="*/ 2143825 w 5763198"/>
              <a:gd name="connsiteY32" fmla="*/ 2685220 h 6374064"/>
              <a:gd name="connsiteX33" fmla="*/ 3554490 w 5763198"/>
              <a:gd name="connsiteY33" fmla="*/ 0 h 6374064"/>
              <a:gd name="connsiteX34" fmla="*/ 5714575 w 5763198"/>
              <a:gd name="connsiteY34" fmla="*/ 582998 h 6374064"/>
              <a:gd name="connsiteX35" fmla="*/ 5763198 w 5763198"/>
              <a:gd name="connsiteY35" fmla="*/ 618804 h 6374064"/>
              <a:gd name="connsiteX36" fmla="*/ 5763198 w 5763198"/>
              <a:gd name="connsiteY36" fmla="*/ 1232611 h 6374064"/>
              <a:gd name="connsiteX37" fmla="*/ 5668108 w 5763198"/>
              <a:gd name="connsiteY37" fmla="*/ 1136723 h 6374064"/>
              <a:gd name="connsiteX38" fmla="*/ 3554490 w 5763198"/>
              <a:gd name="connsiteY38" fmla="*/ 460367 h 6374064"/>
              <a:gd name="connsiteX39" fmla="*/ 462581 w 5763198"/>
              <a:gd name="connsiteY39" fmla="*/ 3993976 h 6374064"/>
              <a:gd name="connsiteX40" fmla="*/ 897378 w 5763198"/>
              <a:gd name="connsiteY40" fmla="*/ 6147274 h 6374064"/>
              <a:gd name="connsiteX41" fmla="*/ 1033153 w 5763198"/>
              <a:gd name="connsiteY41" fmla="*/ 6374064 h 6374064"/>
              <a:gd name="connsiteX42" fmla="*/ 493028 w 5763198"/>
              <a:gd name="connsiteY42" fmla="*/ 6374064 h 6374064"/>
              <a:gd name="connsiteX43" fmla="*/ 348006 w 5763198"/>
              <a:gd name="connsiteY43" fmla="*/ 6063412 h 6374064"/>
              <a:gd name="connsiteX44" fmla="*/ 0 w 5763198"/>
              <a:gd name="connsiteY44" fmla="*/ 3993976 h 6374064"/>
              <a:gd name="connsiteX45" fmla="*/ 887775 w 5763198"/>
              <a:gd name="connsiteY45" fmla="*/ 1034018 h 6374064"/>
              <a:gd name="connsiteX46" fmla="*/ 3554490 w 5763198"/>
              <a:gd name="connsiteY46" fmla="*/ 0 h 637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763198" h="6374064">
                <a:moveTo>
                  <a:pt x="3554522" y="1277148"/>
                </a:moveTo>
                <a:lnTo>
                  <a:pt x="4965198" y="2685220"/>
                </a:lnTo>
                <a:lnTo>
                  <a:pt x="4638987" y="3010816"/>
                </a:lnTo>
                <a:lnTo>
                  <a:pt x="3785164" y="2158571"/>
                </a:lnTo>
                <a:lnTo>
                  <a:pt x="3785164" y="3610576"/>
                </a:lnTo>
                <a:lnTo>
                  <a:pt x="4797652" y="3610576"/>
                </a:lnTo>
                <a:lnTo>
                  <a:pt x="4797652" y="4071018"/>
                </a:lnTo>
                <a:lnTo>
                  <a:pt x="3785164" y="4071018"/>
                </a:lnTo>
                <a:lnTo>
                  <a:pt x="3785164" y="4427325"/>
                </a:lnTo>
                <a:lnTo>
                  <a:pt x="4797652" y="4427325"/>
                </a:lnTo>
                <a:lnTo>
                  <a:pt x="4797652" y="4887800"/>
                </a:lnTo>
                <a:lnTo>
                  <a:pt x="3785164" y="4887800"/>
                </a:lnTo>
                <a:lnTo>
                  <a:pt x="3785164" y="5244106"/>
                </a:lnTo>
                <a:lnTo>
                  <a:pt x="4797652" y="5244106"/>
                </a:lnTo>
                <a:lnTo>
                  <a:pt x="4797652" y="5704548"/>
                </a:lnTo>
                <a:lnTo>
                  <a:pt x="3785164" y="5704548"/>
                </a:lnTo>
                <a:lnTo>
                  <a:pt x="3785164" y="6374064"/>
                </a:lnTo>
                <a:lnTo>
                  <a:pt x="3323858" y="6374064"/>
                </a:lnTo>
                <a:lnTo>
                  <a:pt x="3323858" y="5704548"/>
                </a:lnTo>
                <a:lnTo>
                  <a:pt x="2311348" y="5704548"/>
                </a:lnTo>
                <a:lnTo>
                  <a:pt x="2311348" y="5244106"/>
                </a:lnTo>
                <a:lnTo>
                  <a:pt x="3323858" y="5244106"/>
                </a:lnTo>
                <a:lnTo>
                  <a:pt x="3323858" y="4887800"/>
                </a:lnTo>
                <a:lnTo>
                  <a:pt x="2311348" y="4887800"/>
                </a:lnTo>
                <a:lnTo>
                  <a:pt x="2311348" y="4427325"/>
                </a:lnTo>
                <a:lnTo>
                  <a:pt x="3323858" y="4427325"/>
                </a:lnTo>
                <a:lnTo>
                  <a:pt x="3323858" y="4071018"/>
                </a:lnTo>
                <a:lnTo>
                  <a:pt x="2311348" y="4071018"/>
                </a:lnTo>
                <a:lnTo>
                  <a:pt x="2311348" y="3610576"/>
                </a:lnTo>
                <a:lnTo>
                  <a:pt x="3323858" y="3610576"/>
                </a:lnTo>
                <a:lnTo>
                  <a:pt x="3323858" y="2158603"/>
                </a:lnTo>
                <a:lnTo>
                  <a:pt x="2470036" y="3010816"/>
                </a:lnTo>
                <a:lnTo>
                  <a:pt x="2143825" y="2685220"/>
                </a:lnTo>
                <a:close/>
                <a:moveTo>
                  <a:pt x="3554490" y="0"/>
                </a:moveTo>
                <a:cubicBezTo>
                  <a:pt x="4429874" y="0"/>
                  <a:pt x="5153422" y="195695"/>
                  <a:pt x="5714575" y="582998"/>
                </a:cubicBezTo>
                <a:lnTo>
                  <a:pt x="5763198" y="618804"/>
                </a:lnTo>
                <a:lnTo>
                  <a:pt x="5763198" y="1232611"/>
                </a:lnTo>
                <a:lnTo>
                  <a:pt x="5668108" y="1136723"/>
                </a:lnTo>
                <a:cubicBezTo>
                  <a:pt x="5160837" y="685819"/>
                  <a:pt x="4456297" y="460367"/>
                  <a:pt x="3554490" y="460367"/>
                </a:cubicBezTo>
                <a:cubicBezTo>
                  <a:pt x="1493207" y="460367"/>
                  <a:pt x="462581" y="1638240"/>
                  <a:pt x="462581" y="3993976"/>
                </a:cubicBezTo>
                <a:cubicBezTo>
                  <a:pt x="462581" y="4877377"/>
                  <a:pt x="607513" y="5595144"/>
                  <a:pt x="897378" y="6147274"/>
                </a:cubicBezTo>
                <a:lnTo>
                  <a:pt x="1033153" y="6374064"/>
                </a:lnTo>
                <a:lnTo>
                  <a:pt x="493028" y="6374064"/>
                </a:lnTo>
                <a:lnTo>
                  <a:pt x="348006" y="6063412"/>
                </a:lnTo>
                <a:cubicBezTo>
                  <a:pt x="116679" y="5494171"/>
                  <a:pt x="0" y="4802111"/>
                  <a:pt x="0" y="3993976"/>
                </a:cubicBezTo>
                <a:cubicBezTo>
                  <a:pt x="0" y="2700970"/>
                  <a:pt x="298698" y="1705096"/>
                  <a:pt x="887775" y="1034018"/>
                </a:cubicBezTo>
                <a:cubicBezTo>
                  <a:pt x="1490095" y="347903"/>
                  <a:pt x="2387300" y="0"/>
                  <a:pt x="3554490" y="0"/>
                </a:cubicBezTo>
                <a:close/>
              </a:path>
            </a:pathLst>
          </a:custGeom>
          <a:solidFill>
            <a:schemeClr val="accent1">
              <a:alpha val="25000"/>
            </a:schemeClr>
          </a:solidFill>
          <a:ln w="3001"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990CE4FF-62C5-5C44-AE4A-3D38634FF8CF}"/>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3278743C-5E55-7D4C-9CFF-3A25EB7EE36F}"/>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504825" y="1371600"/>
            <a:ext cx="7419975" cy="4718050"/>
          </a:xfrm>
        </p:spPr>
        <p:txBody>
          <a:bodyPr vert="horz" anchor="ctr"/>
          <a:lstStyle>
            <a:lvl1pPr>
              <a:defRPr sz="4800" b="1">
                <a:solidFill>
                  <a:schemeClr val="bg1"/>
                </a:solidFill>
              </a:defRPr>
            </a:lvl1pPr>
          </a:lstStyle>
          <a:p>
            <a:r>
              <a:rPr lang="en-US" dirty="0"/>
              <a:t>This slide is for a divider, statement or takeaway.</a:t>
            </a:r>
          </a:p>
        </p:txBody>
      </p:sp>
    </p:spTree>
    <p:extLst>
      <p:ext uri="{BB962C8B-B14F-4D97-AF65-F5344CB8AC3E}">
        <p14:creationId xmlns:p14="http://schemas.microsoft.com/office/powerpoint/2010/main" val="7469572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Only +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1997839"/>
            <a:ext cx="12191999" cy="2862322"/>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Title Only + Content layouts</a:t>
            </a:r>
          </a:p>
        </p:txBody>
      </p:sp>
    </p:spTree>
    <p:extLst>
      <p:ext uri="{BB962C8B-B14F-4D97-AF65-F5344CB8AC3E}">
        <p14:creationId xmlns:p14="http://schemas.microsoft.com/office/powerpoint/2010/main" val="41669399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p>
            <a:r>
              <a:rPr lang="en-US" dirty="0"/>
              <a:t>Slide title; Arial 32pt bold, sentence case. This layout accommodates a title that extends downward to a 2nd line.</a:t>
            </a:r>
          </a:p>
        </p:txBody>
      </p:sp>
      <p:sp>
        <p:nvSpPr>
          <p:cNvPr id="3" name="Content Placeholder 2"/>
          <p:cNvSpPr>
            <a:spLocks noGrp="1"/>
          </p:cNvSpPr>
          <p:nvPr>
            <p:ph idx="1" hasCustomPrompt="1"/>
          </p:nvPr>
        </p:nvSpPr>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585503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7478196"/>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3411513"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42726511"/>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7551346"/>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Four Charts">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1"/>
            <a:ext cx="11184423" cy="545670"/>
          </a:xfrm>
        </p:spPr>
        <p:txBody>
          <a:bodyPr vert="horz"/>
          <a:lstStyle/>
          <a:p>
            <a:r>
              <a:rPr lang="en-US" dirty="0"/>
              <a:t>Slide title; Arial 32pt bold, sentence case (1 line)</a:t>
            </a:r>
          </a:p>
        </p:txBody>
      </p:sp>
      <p:cxnSp>
        <p:nvCxnSpPr>
          <p:cNvPr id="11" name="Straight Connector 10">
            <a:extLst>
              <a:ext uri="{FF2B5EF4-FFF2-40B4-BE49-F238E27FC236}">
                <a16:creationId xmlns:a16="http://schemas.microsoft.com/office/drawing/2014/main" id="{869F89A7-422D-6E43-B01B-1C31D8C92DF7}"/>
              </a:ext>
            </a:extLst>
          </p:cNvPr>
          <p:cNvCxnSpPr>
            <a:cxnSpLocks/>
          </p:cNvCxnSpPr>
          <p:nvPr/>
        </p:nvCxnSpPr>
        <p:spPr>
          <a:xfrm>
            <a:off x="6096000" y="1245991"/>
            <a:ext cx="0" cy="50372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854DB1-6F60-374F-85D1-2078301A4756}"/>
              </a:ext>
            </a:extLst>
          </p:cNvPr>
          <p:cNvCxnSpPr>
            <a:cxnSpLocks/>
          </p:cNvCxnSpPr>
          <p:nvPr/>
        </p:nvCxnSpPr>
        <p:spPr>
          <a:xfrm>
            <a:off x="514662" y="3672114"/>
            <a:ext cx="11162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Chart Placeholder 5">
            <a:extLst>
              <a:ext uri="{FF2B5EF4-FFF2-40B4-BE49-F238E27FC236}">
                <a16:creationId xmlns:a16="http://schemas.microsoft.com/office/drawing/2014/main" id="{2EECEB55-4129-C142-B378-69A5542D932F}"/>
              </a:ext>
            </a:extLst>
          </p:cNvPr>
          <p:cNvSpPr>
            <a:spLocks noGrp="1"/>
          </p:cNvSpPr>
          <p:nvPr>
            <p:ph type="chart" sz="quarter" idx="13"/>
          </p:nvPr>
        </p:nvSpPr>
        <p:spPr>
          <a:xfrm>
            <a:off x="1965882" y="1245991"/>
            <a:ext cx="3772813" cy="2286388"/>
          </a:xfrm>
        </p:spPr>
        <p:txBody>
          <a:bodyPr/>
          <a:lstStyle>
            <a:lvl1pPr>
              <a:defRPr sz="1200">
                <a:solidFill>
                  <a:srgbClr val="FF0000"/>
                </a:solidFill>
              </a:defRPr>
            </a:lvl1pPr>
          </a:lstStyle>
          <a:p>
            <a:r>
              <a:rPr lang="en-US"/>
              <a:t>Click icon to add chart</a:t>
            </a:r>
          </a:p>
        </p:txBody>
      </p:sp>
      <p:sp>
        <p:nvSpPr>
          <p:cNvPr id="16" name="Text Placeholder 15">
            <a:extLst>
              <a:ext uri="{FF2B5EF4-FFF2-40B4-BE49-F238E27FC236}">
                <a16:creationId xmlns:a16="http://schemas.microsoft.com/office/drawing/2014/main" id="{88A2C02F-6913-2B43-A60C-B20E91E2B847}"/>
              </a:ext>
            </a:extLst>
          </p:cNvPr>
          <p:cNvSpPr>
            <a:spLocks noGrp="1"/>
          </p:cNvSpPr>
          <p:nvPr>
            <p:ph type="body" sz="quarter" idx="14" hasCustomPrompt="1"/>
          </p:nvPr>
        </p:nvSpPr>
        <p:spPr>
          <a:xfrm>
            <a:off x="512063" y="1246188"/>
            <a:ext cx="1103106" cy="1073920"/>
          </a:xfrm>
        </p:spPr>
        <p:txBody>
          <a:bodyPr/>
          <a:lstStyle>
            <a:lvl1pPr>
              <a:defRPr b="1"/>
            </a:lvl1pPr>
          </a:lstStyle>
          <a:p>
            <a:pPr lvl="0"/>
            <a:r>
              <a:rPr lang="en-US" dirty="0"/>
              <a:t>Chart title</a:t>
            </a:r>
          </a:p>
        </p:txBody>
      </p:sp>
      <p:sp>
        <p:nvSpPr>
          <p:cNvPr id="19" name="Chart Placeholder 5">
            <a:extLst>
              <a:ext uri="{FF2B5EF4-FFF2-40B4-BE49-F238E27FC236}">
                <a16:creationId xmlns:a16="http://schemas.microsoft.com/office/drawing/2014/main" id="{FBED512D-1416-8241-B26E-2C62760A3337}"/>
              </a:ext>
            </a:extLst>
          </p:cNvPr>
          <p:cNvSpPr>
            <a:spLocks noGrp="1"/>
          </p:cNvSpPr>
          <p:nvPr>
            <p:ph type="chart" sz="quarter" idx="15"/>
          </p:nvPr>
        </p:nvSpPr>
        <p:spPr>
          <a:xfrm>
            <a:off x="7900534" y="1245991"/>
            <a:ext cx="3772813" cy="2286388"/>
          </a:xfrm>
        </p:spPr>
        <p:txBody>
          <a:bodyPr/>
          <a:lstStyle>
            <a:lvl1pPr>
              <a:defRPr sz="1200">
                <a:solidFill>
                  <a:srgbClr val="FF0000"/>
                </a:solidFill>
              </a:defRPr>
            </a:lvl1pPr>
          </a:lstStyle>
          <a:p>
            <a:r>
              <a:rPr lang="en-US"/>
              <a:t>Click icon to add chart</a:t>
            </a:r>
          </a:p>
        </p:txBody>
      </p:sp>
      <p:sp>
        <p:nvSpPr>
          <p:cNvPr id="20" name="Text Placeholder 15">
            <a:extLst>
              <a:ext uri="{FF2B5EF4-FFF2-40B4-BE49-F238E27FC236}">
                <a16:creationId xmlns:a16="http://schemas.microsoft.com/office/drawing/2014/main" id="{AA19A0ED-BA56-C641-9FF8-E82F9484CB2A}"/>
              </a:ext>
            </a:extLst>
          </p:cNvPr>
          <p:cNvSpPr>
            <a:spLocks noGrp="1"/>
          </p:cNvSpPr>
          <p:nvPr>
            <p:ph type="body" sz="quarter" idx="16" hasCustomPrompt="1"/>
          </p:nvPr>
        </p:nvSpPr>
        <p:spPr>
          <a:xfrm>
            <a:off x="6446715" y="1246188"/>
            <a:ext cx="1103106" cy="1073920"/>
          </a:xfrm>
        </p:spPr>
        <p:txBody>
          <a:bodyPr/>
          <a:lstStyle>
            <a:lvl1pPr>
              <a:defRPr b="1"/>
            </a:lvl1pPr>
          </a:lstStyle>
          <a:p>
            <a:pPr lvl="0"/>
            <a:r>
              <a:rPr lang="en-US" dirty="0"/>
              <a:t>Chart title</a:t>
            </a:r>
          </a:p>
        </p:txBody>
      </p:sp>
      <p:sp>
        <p:nvSpPr>
          <p:cNvPr id="21" name="Chart Placeholder 5">
            <a:extLst>
              <a:ext uri="{FF2B5EF4-FFF2-40B4-BE49-F238E27FC236}">
                <a16:creationId xmlns:a16="http://schemas.microsoft.com/office/drawing/2014/main" id="{411CA850-8503-9541-BEA4-672B310F90A7}"/>
              </a:ext>
            </a:extLst>
          </p:cNvPr>
          <p:cNvSpPr>
            <a:spLocks noGrp="1"/>
          </p:cNvSpPr>
          <p:nvPr>
            <p:ph type="chart" sz="quarter" idx="17"/>
          </p:nvPr>
        </p:nvSpPr>
        <p:spPr>
          <a:xfrm>
            <a:off x="1965882" y="3996819"/>
            <a:ext cx="3772813" cy="2286388"/>
          </a:xfrm>
        </p:spPr>
        <p:txBody>
          <a:bodyPr/>
          <a:lstStyle>
            <a:lvl1pPr>
              <a:defRPr sz="1200">
                <a:solidFill>
                  <a:srgbClr val="FF0000"/>
                </a:solidFill>
              </a:defRPr>
            </a:lvl1pPr>
          </a:lstStyle>
          <a:p>
            <a:r>
              <a:rPr lang="en-US"/>
              <a:t>Click icon to add chart</a:t>
            </a:r>
          </a:p>
        </p:txBody>
      </p:sp>
      <p:sp>
        <p:nvSpPr>
          <p:cNvPr id="22" name="Text Placeholder 15">
            <a:extLst>
              <a:ext uri="{FF2B5EF4-FFF2-40B4-BE49-F238E27FC236}">
                <a16:creationId xmlns:a16="http://schemas.microsoft.com/office/drawing/2014/main" id="{9DAD6729-5DDE-B249-8CA6-D07213AF42CF}"/>
              </a:ext>
            </a:extLst>
          </p:cNvPr>
          <p:cNvSpPr>
            <a:spLocks noGrp="1"/>
          </p:cNvSpPr>
          <p:nvPr>
            <p:ph type="body" sz="quarter" idx="18" hasCustomPrompt="1"/>
          </p:nvPr>
        </p:nvSpPr>
        <p:spPr>
          <a:xfrm>
            <a:off x="512063" y="3997016"/>
            <a:ext cx="1103106" cy="1073920"/>
          </a:xfrm>
        </p:spPr>
        <p:txBody>
          <a:bodyPr/>
          <a:lstStyle>
            <a:lvl1pPr>
              <a:defRPr b="1"/>
            </a:lvl1pPr>
          </a:lstStyle>
          <a:p>
            <a:pPr lvl="0"/>
            <a:r>
              <a:rPr lang="en-US" dirty="0"/>
              <a:t>Chart title</a:t>
            </a:r>
          </a:p>
        </p:txBody>
      </p:sp>
      <p:sp>
        <p:nvSpPr>
          <p:cNvPr id="23" name="Chart Placeholder 5">
            <a:extLst>
              <a:ext uri="{FF2B5EF4-FFF2-40B4-BE49-F238E27FC236}">
                <a16:creationId xmlns:a16="http://schemas.microsoft.com/office/drawing/2014/main" id="{CE4A6E97-2092-E146-9440-ACDFA4D9DC57}"/>
              </a:ext>
            </a:extLst>
          </p:cNvPr>
          <p:cNvSpPr>
            <a:spLocks noGrp="1"/>
          </p:cNvSpPr>
          <p:nvPr>
            <p:ph type="chart" sz="quarter" idx="19"/>
          </p:nvPr>
        </p:nvSpPr>
        <p:spPr>
          <a:xfrm>
            <a:off x="7900534" y="3996819"/>
            <a:ext cx="3772813" cy="2286388"/>
          </a:xfrm>
        </p:spPr>
        <p:txBody>
          <a:bodyPr/>
          <a:lstStyle>
            <a:lvl1pPr>
              <a:defRPr sz="1200">
                <a:solidFill>
                  <a:srgbClr val="FF0000"/>
                </a:solidFill>
              </a:defRPr>
            </a:lvl1pPr>
          </a:lstStyle>
          <a:p>
            <a:r>
              <a:rPr lang="en-US"/>
              <a:t>Click icon to add chart</a:t>
            </a:r>
          </a:p>
        </p:txBody>
      </p:sp>
      <p:sp>
        <p:nvSpPr>
          <p:cNvPr id="24" name="Text Placeholder 15">
            <a:extLst>
              <a:ext uri="{FF2B5EF4-FFF2-40B4-BE49-F238E27FC236}">
                <a16:creationId xmlns:a16="http://schemas.microsoft.com/office/drawing/2014/main" id="{D8573F34-F275-3047-800C-0AE4F271C6B8}"/>
              </a:ext>
            </a:extLst>
          </p:cNvPr>
          <p:cNvSpPr>
            <a:spLocks noGrp="1"/>
          </p:cNvSpPr>
          <p:nvPr>
            <p:ph type="body" sz="quarter" idx="20" hasCustomPrompt="1"/>
          </p:nvPr>
        </p:nvSpPr>
        <p:spPr>
          <a:xfrm>
            <a:off x="6446715" y="3997016"/>
            <a:ext cx="1103106" cy="1073920"/>
          </a:xfrm>
        </p:spPr>
        <p:txBody>
          <a:bodyPr/>
          <a:lstStyle>
            <a:lvl1pPr>
              <a:defRPr b="1"/>
            </a:lvl1pPr>
          </a:lstStyle>
          <a:p>
            <a:pPr lvl="0"/>
            <a:r>
              <a:rPr lang="en-US" dirty="0"/>
              <a:t>Chart title</a:t>
            </a:r>
          </a:p>
        </p:txBody>
      </p:sp>
    </p:spTree>
    <p:extLst>
      <p:ext uri="{BB962C8B-B14F-4D97-AF65-F5344CB8AC3E}">
        <p14:creationId xmlns:p14="http://schemas.microsoft.com/office/powerpoint/2010/main" val="2065409019"/>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p>
            <a:r>
              <a:rPr lang="en-US" dirty="0"/>
              <a:t>Slide title; Arial 32pt bold, sentence case. This layout accommodates a title that extends downward to a 2nd line.</a:t>
            </a:r>
          </a:p>
        </p:txBody>
      </p:sp>
    </p:spTree>
    <p:extLst>
      <p:ext uri="{BB962C8B-B14F-4D97-AF65-F5344CB8AC3E}">
        <p14:creationId xmlns:p14="http://schemas.microsoft.com/office/powerpoint/2010/main" val="1288333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E1BF1AE-67E6-D446-9A89-2B8C3A9901F5}"/>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5" name="Footer Placeholder 4">
            <a:extLst>
              <a:ext uri="{FF2B5EF4-FFF2-40B4-BE49-F238E27FC236}">
                <a16:creationId xmlns:a16="http://schemas.microsoft.com/office/drawing/2014/main" id="{A128E978-662F-C447-A394-0BFDCC3348A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7" name="Footnote Placeholder">
            <a:extLst>
              <a:ext uri="{FF2B5EF4-FFF2-40B4-BE49-F238E27FC236}">
                <a16:creationId xmlns:a16="http://schemas.microsoft.com/office/drawing/2014/main" id="{900719BC-444F-1F41-A58F-CF38F8649706}"/>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Tree>
    <p:extLst>
      <p:ext uri="{BB962C8B-B14F-4D97-AF65-F5344CB8AC3E}">
        <p14:creationId xmlns:p14="http://schemas.microsoft.com/office/powerpoint/2010/main" val="648396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ontent Blue">
    <p:bg>
      <p:bgPr>
        <a:solidFill>
          <a:schemeClr val="tx1"/>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dirty="0"/>
              <a:t>Slide title; Arial 32pt bold, sentence case. This layout accommodates a title that extends downward to a 2nd line.</a:t>
            </a:r>
          </a:p>
        </p:txBody>
      </p:sp>
      <p:sp>
        <p:nvSpPr>
          <p:cNvPr id="3" name="Content Placeholder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539712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23314544"/>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3411513"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62398777"/>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our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21722725"/>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our Charts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1"/>
            <a:ext cx="11184423" cy="545670"/>
          </a:xfrm>
        </p:spPr>
        <p:txBody>
          <a:bodyPr vert="horz"/>
          <a:lstStyle>
            <a:lvl1pPr>
              <a:defRPr>
                <a:solidFill>
                  <a:schemeClr val="bg1"/>
                </a:solidFill>
              </a:defRPr>
            </a:lvl1pPr>
          </a:lstStyle>
          <a:p>
            <a:r>
              <a:rPr lang="en-US" dirty="0"/>
              <a:t>Slide title; Arial 32pt bold, sentence case (1 line)</a:t>
            </a:r>
          </a:p>
        </p:txBody>
      </p:sp>
      <p:cxnSp>
        <p:nvCxnSpPr>
          <p:cNvPr id="11" name="Straight Connector 10">
            <a:extLst>
              <a:ext uri="{FF2B5EF4-FFF2-40B4-BE49-F238E27FC236}">
                <a16:creationId xmlns:a16="http://schemas.microsoft.com/office/drawing/2014/main" id="{869F89A7-422D-6E43-B01B-1C31D8C92DF7}"/>
              </a:ext>
            </a:extLst>
          </p:cNvPr>
          <p:cNvCxnSpPr>
            <a:cxnSpLocks/>
          </p:cNvCxnSpPr>
          <p:nvPr/>
        </p:nvCxnSpPr>
        <p:spPr>
          <a:xfrm>
            <a:off x="6096000" y="1245991"/>
            <a:ext cx="0" cy="503722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854DB1-6F60-374F-85D1-2078301A4756}"/>
              </a:ext>
            </a:extLst>
          </p:cNvPr>
          <p:cNvCxnSpPr>
            <a:cxnSpLocks/>
          </p:cNvCxnSpPr>
          <p:nvPr/>
        </p:nvCxnSpPr>
        <p:spPr>
          <a:xfrm>
            <a:off x="514662" y="3672114"/>
            <a:ext cx="1116267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Chart Placeholder 5">
            <a:extLst>
              <a:ext uri="{FF2B5EF4-FFF2-40B4-BE49-F238E27FC236}">
                <a16:creationId xmlns:a16="http://schemas.microsoft.com/office/drawing/2014/main" id="{2EECEB55-4129-C142-B378-69A5542D932F}"/>
              </a:ext>
            </a:extLst>
          </p:cNvPr>
          <p:cNvSpPr>
            <a:spLocks noGrp="1"/>
          </p:cNvSpPr>
          <p:nvPr>
            <p:ph type="chart" sz="quarter" idx="13"/>
          </p:nvPr>
        </p:nvSpPr>
        <p:spPr>
          <a:xfrm>
            <a:off x="1965882" y="1245991"/>
            <a:ext cx="3772813" cy="2286388"/>
          </a:xfrm>
        </p:spPr>
        <p:txBody>
          <a:bodyPr/>
          <a:lstStyle>
            <a:lvl1pPr>
              <a:defRPr sz="1200">
                <a:solidFill>
                  <a:srgbClr val="FF0000"/>
                </a:solidFill>
              </a:defRPr>
            </a:lvl1pPr>
          </a:lstStyle>
          <a:p>
            <a:r>
              <a:rPr lang="en-US"/>
              <a:t>Click icon to add chart</a:t>
            </a:r>
          </a:p>
        </p:txBody>
      </p:sp>
      <p:sp>
        <p:nvSpPr>
          <p:cNvPr id="16" name="Text Placeholder 15">
            <a:extLst>
              <a:ext uri="{FF2B5EF4-FFF2-40B4-BE49-F238E27FC236}">
                <a16:creationId xmlns:a16="http://schemas.microsoft.com/office/drawing/2014/main" id="{88A2C02F-6913-2B43-A60C-B20E91E2B847}"/>
              </a:ext>
            </a:extLst>
          </p:cNvPr>
          <p:cNvSpPr>
            <a:spLocks noGrp="1"/>
          </p:cNvSpPr>
          <p:nvPr>
            <p:ph type="body" sz="quarter" idx="14" hasCustomPrompt="1"/>
          </p:nvPr>
        </p:nvSpPr>
        <p:spPr>
          <a:xfrm>
            <a:off x="512063" y="1246188"/>
            <a:ext cx="1103106" cy="1073920"/>
          </a:xfrm>
        </p:spPr>
        <p:txBody>
          <a:bodyPr/>
          <a:lstStyle>
            <a:lvl1pPr>
              <a:defRPr b="1">
                <a:solidFill>
                  <a:schemeClr val="bg1"/>
                </a:solidFill>
              </a:defRPr>
            </a:lvl1pPr>
          </a:lstStyle>
          <a:p>
            <a:pPr lvl="0"/>
            <a:r>
              <a:rPr lang="en-US" dirty="0"/>
              <a:t>Chart title</a:t>
            </a:r>
          </a:p>
        </p:txBody>
      </p:sp>
      <p:sp>
        <p:nvSpPr>
          <p:cNvPr id="19" name="Chart Placeholder 5">
            <a:extLst>
              <a:ext uri="{FF2B5EF4-FFF2-40B4-BE49-F238E27FC236}">
                <a16:creationId xmlns:a16="http://schemas.microsoft.com/office/drawing/2014/main" id="{FBED512D-1416-8241-B26E-2C62760A3337}"/>
              </a:ext>
            </a:extLst>
          </p:cNvPr>
          <p:cNvSpPr>
            <a:spLocks noGrp="1"/>
          </p:cNvSpPr>
          <p:nvPr>
            <p:ph type="chart" sz="quarter" idx="15"/>
          </p:nvPr>
        </p:nvSpPr>
        <p:spPr>
          <a:xfrm>
            <a:off x="7900534" y="1245991"/>
            <a:ext cx="3772813" cy="2286388"/>
          </a:xfrm>
        </p:spPr>
        <p:txBody>
          <a:bodyPr/>
          <a:lstStyle>
            <a:lvl1pPr>
              <a:defRPr sz="1200">
                <a:solidFill>
                  <a:srgbClr val="FF0000"/>
                </a:solidFill>
              </a:defRPr>
            </a:lvl1pPr>
          </a:lstStyle>
          <a:p>
            <a:r>
              <a:rPr lang="en-US"/>
              <a:t>Click icon to add chart</a:t>
            </a:r>
          </a:p>
        </p:txBody>
      </p:sp>
      <p:sp>
        <p:nvSpPr>
          <p:cNvPr id="20" name="Text Placeholder 15">
            <a:extLst>
              <a:ext uri="{FF2B5EF4-FFF2-40B4-BE49-F238E27FC236}">
                <a16:creationId xmlns:a16="http://schemas.microsoft.com/office/drawing/2014/main" id="{AA19A0ED-BA56-C641-9FF8-E82F9484CB2A}"/>
              </a:ext>
            </a:extLst>
          </p:cNvPr>
          <p:cNvSpPr>
            <a:spLocks noGrp="1"/>
          </p:cNvSpPr>
          <p:nvPr>
            <p:ph type="body" sz="quarter" idx="16" hasCustomPrompt="1"/>
          </p:nvPr>
        </p:nvSpPr>
        <p:spPr>
          <a:xfrm>
            <a:off x="6446715" y="1246188"/>
            <a:ext cx="1103106" cy="1073920"/>
          </a:xfrm>
        </p:spPr>
        <p:txBody>
          <a:bodyPr/>
          <a:lstStyle>
            <a:lvl1pPr>
              <a:defRPr b="1">
                <a:solidFill>
                  <a:schemeClr val="bg1"/>
                </a:solidFill>
              </a:defRPr>
            </a:lvl1pPr>
          </a:lstStyle>
          <a:p>
            <a:pPr lvl="0"/>
            <a:r>
              <a:rPr lang="en-US" dirty="0"/>
              <a:t>Chart title</a:t>
            </a:r>
          </a:p>
        </p:txBody>
      </p:sp>
      <p:sp>
        <p:nvSpPr>
          <p:cNvPr id="21" name="Chart Placeholder 5">
            <a:extLst>
              <a:ext uri="{FF2B5EF4-FFF2-40B4-BE49-F238E27FC236}">
                <a16:creationId xmlns:a16="http://schemas.microsoft.com/office/drawing/2014/main" id="{411CA850-8503-9541-BEA4-672B310F90A7}"/>
              </a:ext>
            </a:extLst>
          </p:cNvPr>
          <p:cNvSpPr>
            <a:spLocks noGrp="1"/>
          </p:cNvSpPr>
          <p:nvPr>
            <p:ph type="chart" sz="quarter" idx="17"/>
          </p:nvPr>
        </p:nvSpPr>
        <p:spPr>
          <a:xfrm>
            <a:off x="1965882" y="3996819"/>
            <a:ext cx="3772813" cy="2286388"/>
          </a:xfrm>
        </p:spPr>
        <p:txBody>
          <a:bodyPr/>
          <a:lstStyle>
            <a:lvl1pPr>
              <a:defRPr sz="1200">
                <a:solidFill>
                  <a:srgbClr val="FF0000"/>
                </a:solidFill>
              </a:defRPr>
            </a:lvl1pPr>
          </a:lstStyle>
          <a:p>
            <a:r>
              <a:rPr lang="en-US"/>
              <a:t>Click icon to add chart</a:t>
            </a:r>
          </a:p>
        </p:txBody>
      </p:sp>
      <p:sp>
        <p:nvSpPr>
          <p:cNvPr id="22" name="Text Placeholder 15">
            <a:extLst>
              <a:ext uri="{FF2B5EF4-FFF2-40B4-BE49-F238E27FC236}">
                <a16:creationId xmlns:a16="http://schemas.microsoft.com/office/drawing/2014/main" id="{9DAD6729-5DDE-B249-8CA6-D07213AF42CF}"/>
              </a:ext>
            </a:extLst>
          </p:cNvPr>
          <p:cNvSpPr>
            <a:spLocks noGrp="1"/>
          </p:cNvSpPr>
          <p:nvPr>
            <p:ph type="body" sz="quarter" idx="18" hasCustomPrompt="1"/>
          </p:nvPr>
        </p:nvSpPr>
        <p:spPr>
          <a:xfrm>
            <a:off x="512063" y="3997016"/>
            <a:ext cx="1103106" cy="1073920"/>
          </a:xfrm>
        </p:spPr>
        <p:txBody>
          <a:bodyPr/>
          <a:lstStyle>
            <a:lvl1pPr>
              <a:defRPr b="1">
                <a:solidFill>
                  <a:schemeClr val="bg1"/>
                </a:solidFill>
              </a:defRPr>
            </a:lvl1pPr>
          </a:lstStyle>
          <a:p>
            <a:pPr lvl="0"/>
            <a:r>
              <a:rPr lang="en-US" dirty="0"/>
              <a:t>Chart title</a:t>
            </a:r>
          </a:p>
        </p:txBody>
      </p:sp>
      <p:sp>
        <p:nvSpPr>
          <p:cNvPr id="23" name="Chart Placeholder 5">
            <a:extLst>
              <a:ext uri="{FF2B5EF4-FFF2-40B4-BE49-F238E27FC236}">
                <a16:creationId xmlns:a16="http://schemas.microsoft.com/office/drawing/2014/main" id="{CE4A6E97-2092-E146-9440-ACDFA4D9DC57}"/>
              </a:ext>
            </a:extLst>
          </p:cNvPr>
          <p:cNvSpPr>
            <a:spLocks noGrp="1"/>
          </p:cNvSpPr>
          <p:nvPr>
            <p:ph type="chart" sz="quarter" idx="19"/>
          </p:nvPr>
        </p:nvSpPr>
        <p:spPr>
          <a:xfrm>
            <a:off x="7900534" y="3996819"/>
            <a:ext cx="3772813" cy="2286388"/>
          </a:xfrm>
        </p:spPr>
        <p:txBody>
          <a:bodyPr/>
          <a:lstStyle>
            <a:lvl1pPr>
              <a:defRPr sz="1200">
                <a:solidFill>
                  <a:srgbClr val="FF0000"/>
                </a:solidFill>
              </a:defRPr>
            </a:lvl1pPr>
          </a:lstStyle>
          <a:p>
            <a:r>
              <a:rPr lang="en-US"/>
              <a:t>Click icon to add chart</a:t>
            </a:r>
          </a:p>
        </p:txBody>
      </p:sp>
      <p:sp>
        <p:nvSpPr>
          <p:cNvPr id="24" name="Text Placeholder 15">
            <a:extLst>
              <a:ext uri="{FF2B5EF4-FFF2-40B4-BE49-F238E27FC236}">
                <a16:creationId xmlns:a16="http://schemas.microsoft.com/office/drawing/2014/main" id="{D8573F34-F275-3047-800C-0AE4F271C6B8}"/>
              </a:ext>
            </a:extLst>
          </p:cNvPr>
          <p:cNvSpPr>
            <a:spLocks noGrp="1"/>
          </p:cNvSpPr>
          <p:nvPr>
            <p:ph type="body" sz="quarter" idx="20" hasCustomPrompt="1"/>
          </p:nvPr>
        </p:nvSpPr>
        <p:spPr>
          <a:xfrm>
            <a:off x="6446715" y="3997016"/>
            <a:ext cx="1103106" cy="1073920"/>
          </a:xfrm>
        </p:spPr>
        <p:txBody>
          <a:bodyPr/>
          <a:lstStyle>
            <a:lvl1pPr>
              <a:defRPr b="1">
                <a:solidFill>
                  <a:schemeClr val="bg1"/>
                </a:solidFill>
              </a:defRPr>
            </a:lvl1pPr>
          </a:lstStyle>
          <a:p>
            <a:pPr lvl="0"/>
            <a:r>
              <a:rPr lang="en-US" dirty="0"/>
              <a:t>Chart title</a:t>
            </a:r>
          </a:p>
        </p:txBody>
      </p:sp>
    </p:spTree>
    <p:extLst>
      <p:ext uri="{BB962C8B-B14F-4D97-AF65-F5344CB8AC3E}">
        <p14:creationId xmlns:p14="http://schemas.microsoft.com/office/powerpoint/2010/main" val="4239586380"/>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Blue">
    <p:bg>
      <p:bgPr>
        <a:solidFill>
          <a:schemeClr val="tx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dirty="0"/>
              <a:t>Slide title; Arial 32pt bold, sentence case. This layout accommodates a title that extends downward to a 2nd line.</a:t>
            </a:r>
          </a:p>
        </p:txBody>
      </p:sp>
    </p:spTree>
    <p:extLst>
      <p:ext uri="{BB962C8B-B14F-4D97-AF65-F5344CB8AC3E}">
        <p14:creationId xmlns:p14="http://schemas.microsoft.com/office/powerpoint/2010/main" val="29838077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lank Blue">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128E978-662F-C447-A394-0BFDCC3348A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6" name="Slide Number Placeholder 5">
            <a:extLst>
              <a:ext uri="{FF2B5EF4-FFF2-40B4-BE49-F238E27FC236}">
                <a16:creationId xmlns:a16="http://schemas.microsoft.com/office/drawing/2014/main" id="{BE1BF1AE-67E6-D446-9A89-2B8C3A9901F5}"/>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note Placeholder">
            <a:extLst>
              <a:ext uri="{FF2B5EF4-FFF2-40B4-BE49-F238E27FC236}">
                <a16:creationId xmlns:a16="http://schemas.microsoft.com/office/drawing/2014/main" id="{900719BC-444F-1F41-A58F-CF38F8649706}"/>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Tree>
    <p:extLst>
      <p:ext uri="{BB962C8B-B14F-4D97-AF65-F5344CB8AC3E}">
        <p14:creationId xmlns:p14="http://schemas.microsoft.com/office/powerpoint/2010/main" val="28372578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Title Eyebrow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1997839"/>
            <a:ext cx="12191999" cy="2862322"/>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Title and Subtitle-Above layouts</a:t>
            </a:r>
          </a:p>
        </p:txBody>
      </p:sp>
    </p:spTree>
    <p:extLst>
      <p:ext uri="{BB962C8B-B14F-4D97-AF65-F5344CB8AC3E}">
        <p14:creationId xmlns:p14="http://schemas.microsoft.com/office/powerpoint/2010/main" val="17607441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ubtitle-A + Conten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D6C7144E-2BC5-BB49-A627-9076B48806A8}"/>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idx="1" hasCustomPrompt="1"/>
          </p:nvPr>
        </p:nvSpPr>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389571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ubtitle-A + Two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97753384"/>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Subtitle-A + Content Half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256062-B5BB-6048-9E24-6C230ACEACFF}"/>
              </a:ext>
            </a:extLst>
          </p:cNvPr>
          <p:cNvSpPr/>
          <p:nvPr/>
        </p:nvSpPr>
        <p:spPr>
          <a:xfrm>
            <a:off x="6096001"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CD4D23E9-F985-964A-8260-25166ABD836C}"/>
              </a:ext>
            </a:extLst>
          </p:cNvPr>
          <p:cNvSpPr/>
          <p:nvPr/>
        </p:nvSpPr>
        <p:spPr>
          <a:xfrm rot="5400000">
            <a:off x="5899286" y="3271798"/>
            <a:ext cx="685800" cy="3144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5143286"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815787"/>
            <a:ext cx="5126736" cy="555813"/>
          </a:xfrm>
        </p:spPr>
        <p:txBody>
          <a:bodyPr vert="horz"/>
          <a:lstStyle/>
          <a:p>
            <a:r>
              <a:rPr lang="en-US" dirty="0"/>
              <a:t>Slide title; short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421340"/>
            <a:ext cx="51267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short (1 line)</a:t>
            </a:r>
          </a:p>
        </p:txBody>
      </p:sp>
      <p:sp>
        <p:nvSpPr>
          <p:cNvPr id="3" name="Content Placeholder 2"/>
          <p:cNvSpPr>
            <a:spLocks noGrp="1"/>
          </p:cNvSpPr>
          <p:nvPr>
            <p:ph sz="half" idx="1" hasCustomPrompt="1"/>
          </p:nvPr>
        </p:nvSpPr>
        <p:spPr>
          <a:xfrm>
            <a:off x="512064" y="1698625"/>
            <a:ext cx="5126736"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32660146"/>
      </p:ext>
    </p:extLst>
  </p:cSld>
  <p:clrMapOvr>
    <a:masterClrMapping/>
  </p:clrMapOvr>
  <p:extLst>
    <p:ext uri="{DCECCB84-F9BA-43D5-87BE-67443E8EF086}">
      <p15:sldGuideLst xmlns:p15="http://schemas.microsoft.com/office/powerpoint/2012/main">
        <p15:guide id="1" pos="3552">
          <p15:clr>
            <a:srgbClr val="FBAE40"/>
          </p15:clr>
        </p15:guide>
        <p15:guide id="2" pos="427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ubtitle-A + Three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615372"/>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ubtitle-A + Four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3" name="Text Placeholder 2">
            <a:extLst>
              <a:ext uri="{FF2B5EF4-FFF2-40B4-BE49-F238E27FC236}">
                <a16:creationId xmlns:a16="http://schemas.microsoft.com/office/drawing/2014/main" id="{8F05DDA7-2CBD-E44C-A62E-E1C57509DCA3}"/>
              </a:ext>
            </a:extLst>
          </p:cNvPr>
          <p:cNvSpPr>
            <a:spLocks noGrp="1"/>
          </p:cNvSpPr>
          <p:nvPr>
            <p:ph type="body" idx="15"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4481441"/>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ubtitle-A + Title Only">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32092329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ubtitle-A + Title Only Light Blue">
    <p:bg>
      <p:bgPr>
        <a:solidFill>
          <a:srgbClr val="F0F7FF"/>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1750535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ubtitle-A + Content on Blue Lef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8965" y="0"/>
            <a:ext cx="4382814"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815786"/>
            <a:ext cx="3412236" cy="1429677"/>
          </a:xfrm>
        </p:spPr>
        <p:txBody>
          <a:bodyPr vert="horz"/>
          <a:lstStyle>
            <a:lvl1pPr>
              <a:defRPr>
                <a:solidFill>
                  <a:schemeClr val="bg1"/>
                </a:solidFill>
              </a:defRPr>
            </a:lvl1pPr>
          </a:lstStyle>
          <a:p>
            <a:r>
              <a:rPr lang="en-US" dirty="0"/>
              <a:t>Short slide title; Arial 32pt bold</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421340"/>
            <a:ext cx="3412236"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Short subtitle</a:t>
            </a:r>
          </a:p>
        </p:txBody>
      </p:sp>
      <p:sp>
        <p:nvSpPr>
          <p:cNvPr id="20" name="Text Placeholder 19">
            <a:extLst>
              <a:ext uri="{FF2B5EF4-FFF2-40B4-BE49-F238E27FC236}">
                <a16:creationId xmlns:a16="http://schemas.microsoft.com/office/drawing/2014/main" id="{FA4A34C6-AA67-B74C-9387-5C2077CE6A33}"/>
              </a:ext>
            </a:extLst>
          </p:cNvPr>
          <p:cNvSpPr>
            <a:spLocks noGrp="1"/>
          </p:cNvSpPr>
          <p:nvPr>
            <p:ph type="body" sz="quarter" idx="15" hasCustomPrompt="1"/>
          </p:nvPr>
        </p:nvSpPr>
        <p:spPr>
          <a:xfrm>
            <a:off x="512064" y="2514590"/>
            <a:ext cx="3411537" cy="359093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half" idx="1" hasCustomPrompt="1"/>
          </p:nvPr>
        </p:nvSpPr>
        <p:spPr>
          <a:xfrm>
            <a:off x="4838700" y="470636"/>
            <a:ext cx="6861175" cy="5634889"/>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09113631"/>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ubtitle-A + Content on Blue Righ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4381500" y="0"/>
            <a:ext cx="7810500"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815786"/>
            <a:ext cx="3412236" cy="1429677"/>
          </a:xfrm>
        </p:spPr>
        <p:txBody>
          <a:bodyPr vert="horz"/>
          <a:lstStyle>
            <a:lvl1pPr>
              <a:defRPr>
                <a:solidFill>
                  <a:schemeClr val="tx1"/>
                </a:solidFill>
              </a:defRPr>
            </a:lvl1pPr>
          </a:lstStyle>
          <a:p>
            <a:r>
              <a:rPr lang="en-US" dirty="0"/>
              <a:t>Short slide title; Arial 32pt bold</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421340"/>
            <a:ext cx="34122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Short subtitle</a:t>
            </a:r>
          </a:p>
        </p:txBody>
      </p:sp>
      <p:sp>
        <p:nvSpPr>
          <p:cNvPr id="14" name="Text Placeholder 19">
            <a:extLst>
              <a:ext uri="{FF2B5EF4-FFF2-40B4-BE49-F238E27FC236}">
                <a16:creationId xmlns:a16="http://schemas.microsoft.com/office/drawing/2014/main" id="{063F2128-9DD7-7445-8E1E-1AA47BED6A54}"/>
              </a:ext>
            </a:extLst>
          </p:cNvPr>
          <p:cNvSpPr>
            <a:spLocks noGrp="1"/>
          </p:cNvSpPr>
          <p:nvPr>
            <p:ph type="body" sz="quarter" idx="15" hasCustomPrompt="1"/>
          </p:nvPr>
        </p:nvSpPr>
        <p:spPr>
          <a:xfrm>
            <a:off x="512064" y="2514590"/>
            <a:ext cx="3411537" cy="3590935"/>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dirty="0"/>
              <a:t>Click to type text. To activate sub-level formatting, place cursor at beginning of text/line and hit tab or shift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05BA47CF-4C75-114D-925E-3DEE36B0B108}"/>
              </a:ext>
            </a:extLst>
          </p:cNvPr>
          <p:cNvSpPr>
            <a:spLocks noGrp="1"/>
          </p:cNvSpPr>
          <p:nvPr>
            <p:ph sz="half" idx="1" hasCustomPrompt="1"/>
          </p:nvPr>
        </p:nvSpPr>
        <p:spPr>
          <a:xfrm>
            <a:off x="4838700" y="470636"/>
            <a:ext cx="6861175" cy="563488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0171857"/>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ubtitle-A +  Content Blue">
    <p:bg>
      <p:bgPr>
        <a:solidFill>
          <a:schemeClr val="tx1"/>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dirty="0"/>
              <a:t>Slide title; Arial 32pt bold, sentence case (1 line)</a:t>
            </a:r>
          </a:p>
        </p:txBody>
      </p:sp>
      <p:sp>
        <p:nvSpPr>
          <p:cNvPr id="10" name="Text Placeholder 2">
            <a:extLst>
              <a:ext uri="{FF2B5EF4-FFF2-40B4-BE49-F238E27FC236}">
                <a16:creationId xmlns:a16="http://schemas.microsoft.com/office/drawing/2014/main" id="{F29F3FD6-A58A-E748-A11A-7D0F672AD0A7}"/>
              </a:ext>
            </a:extLst>
          </p:cNvPr>
          <p:cNvSpPr>
            <a:spLocks noGrp="1"/>
          </p:cNvSpPr>
          <p:nvPr>
            <p:ph type="body" idx="12" hasCustomPrompt="1"/>
          </p:nvPr>
        </p:nvSpPr>
        <p:spPr>
          <a:xfrm>
            <a:off x="512064" y="421340"/>
            <a:ext cx="11184422" cy="295276"/>
          </a:xfrm>
        </p:spPr>
        <p:txBody>
          <a:bodyPr anchor="b"/>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83358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ubtitle-A + Two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dirty="0"/>
              <a:t>Slide title; Arial 32pt bold, sentence case (1 line)</a:t>
            </a:r>
          </a:p>
        </p:txBody>
      </p:sp>
      <p:sp>
        <p:nvSpPr>
          <p:cNvPr id="11" name="Text Placeholder 2">
            <a:extLst>
              <a:ext uri="{FF2B5EF4-FFF2-40B4-BE49-F238E27FC236}">
                <a16:creationId xmlns:a16="http://schemas.microsoft.com/office/drawing/2014/main" id="{4F286C39-0E82-734F-AB13-0063DC613DC8}"/>
              </a:ext>
            </a:extLst>
          </p:cNvPr>
          <p:cNvSpPr>
            <a:spLocks noGrp="1"/>
          </p:cNvSpPr>
          <p:nvPr>
            <p:ph type="body" idx="13"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75479859"/>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ubtitle-A + Three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dirty="0"/>
              <a:t>Slide title; Arial 32pt bold, sentence case (1 line)</a:t>
            </a:r>
          </a:p>
        </p:txBody>
      </p:sp>
      <p:sp>
        <p:nvSpPr>
          <p:cNvPr id="11" name="Text Placeholder 2">
            <a:extLst>
              <a:ext uri="{FF2B5EF4-FFF2-40B4-BE49-F238E27FC236}">
                <a16:creationId xmlns:a16="http://schemas.microsoft.com/office/drawing/2014/main" id="{6474099B-156D-7348-B7A4-5FB85DB30944}"/>
              </a:ext>
            </a:extLst>
          </p:cNvPr>
          <p:cNvSpPr>
            <a:spLocks noGrp="1"/>
          </p:cNvSpPr>
          <p:nvPr>
            <p:ph type="body" idx="14"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4852635"/>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ubtitle-A + Four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dirty="0"/>
              <a:t>Slide title; Arial 32pt bold, sentence case (1 line)</a:t>
            </a:r>
          </a:p>
        </p:txBody>
      </p:sp>
      <p:sp>
        <p:nvSpPr>
          <p:cNvPr id="13" name="Text Placeholder 2">
            <a:extLst>
              <a:ext uri="{FF2B5EF4-FFF2-40B4-BE49-F238E27FC236}">
                <a16:creationId xmlns:a16="http://schemas.microsoft.com/office/drawing/2014/main" id="{804B53DC-1086-544D-9442-160B5564CE8C}"/>
              </a:ext>
            </a:extLst>
          </p:cNvPr>
          <p:cNvSpPr>
            <a:spLocks noGrp="1"/>
          </p:cNvSpPr>
          <p:nvPr>
            <p:ph type="body" idx="15"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51650005"/>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ubtitle-A + Title Only Blue">
    <p:bg>
      <p:bgPr>
        <a:solidFill>
          <a:schemeClr val="tx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dirty="0"/>
              <a:t>Slide title; Arial 32pt bold, sentence case (1 line)</a:t>
            </a:r>
          </a:p>
        </p:txBody>
      </p:sp>
      <p:sp>
        <p:nvSpPr>
          <p:cNvPr id="10" name="Text Placeholder 2">
            <a:extLst>
              <a:ext uri="{FF2B5EF4-FFF2-40B4-BE49-F238E27FC236}">
                <a16:creationId xmlns:a16="http://schemas.microsoft.com/office/drawing/2014/main" id="{4E3BD865-48DE-664B-B59C-69BE9486EDEB}"/>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31007870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ntent Title and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1997839"/>
            <a:ext cx="12191999" cy="2862322"/>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Title and Subtitle-Below layouts</a:t>
            </a:r>
          </a:p>
        </p:txBody>
      </p:sp>
    </p:spTree>
    <p:extLst>
      <p:ext uri="{BB962C8B-B14F-4D97-AF65-F5344CB8AC3E}">
        <p14:creationId xmlns:p14="http://schemas.microsoft.com/office/powerpoint/2010/main" val="4931743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ubtitle-B + Conten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5" name="Title 4">
            <a:extLst>
              <a:ext uri="{FF2B5EF4-FFF2-40B4-BE49-F238E27FC236}">
                <a16:creationId xmlns:a16="http://schemas.microsoft.com/office/drawing/2014/main" id="{39313C93-2B4C-9844-9284-03EC104B15BA}"/>
              </a:ext>
            </a:extLst>
          </p:cNvPr>
          <p:cNvSpPr>
            <a:spLocks noGrp="1"/>
          </p:cNvSpPr>
          <p:nvPr>
            <p:ph type="title" hasCustomPrompt="1"/>
          </p:nvPr>
        </p:nvSpPr>
        <p:spPr>
          <a:xfrm>
            <a:off x="512063" y="457201"/>
            <a:ext cx="11184423" cy="557784"/>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D6C7144E-2BC5-BB49-A627-9076B48806A8}"/>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idx="1" hasCustomPrompt="1"/>
          </p:nvPr>
        </p:nvSpPr>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3064674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ubtitle-B + Two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2582284"/>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ubtitle-B + Content Half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256062-B5BB-6048-9E24-6C230ACEACFF}"/>
              </a:ext>
            </a:extLst>
          </p:cNvPr>
          <p:cNvSpPr/>
          <p:nvPr/>
        </p:nvSpPr>
        <p:spPr>
          <a:xfrm>
            <a:off x="6096001"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CD4D23E9-F985-964A-8260-25166ABD836C}"/>
              </a:ext>
            </a:extLst>
          </p:cNvPr>
          <p:cNvSpPr/>
          <p:nvPr/>
        </p:nvSpPr>
        <p:spPr>
          <a:xfrm rot="5400000">
            <a:off x="5899286" y="3271798"/>
            <a:ext cx="685800" cy="3144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5143286"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0"/>
            <a:ext cx="5126736" cy="555813"/>
          </a:xfrm>
        </p:spPr>
        <p:txBody>
          <a:bodyPr vert="horz"/>
          <a:lstStyle/>
          <a:p>
            <a:r>
              <a:rPr lang="en-US" dirty="0"/>
              <a:t>Slide title; short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1051560"/>
            <a:ext cx="51267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short (1 line)</a:t>
            </a:r>
          </a:p>
        </p:txBody>
      </p:sp>
      <p:sp>
        <p:nvSpPr>
          <p:cNvPr id="3" name="Content Placeholder 2"/>
          <p:cNvSpPr>
            <a:spLocks noGrp="1"/>
          </p:cNvSpPr>
          <p:nvPr>
            <p:ph sz="half" idx="1" hasCustomPrompt="1"/>
          </p:nvPr>
        </p:nvSpPr>
        <p:spPr>
          <a:xfrm>
            <a:off x="512064" y="1698625"/>
            <a:ext cx="5126736"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41739946"/>
      </p:ext>
    </p:extLst>
  </p:cSld>
  <p:clrMapOvr>
    <a:masterClrMapping/>
  </p:clrMapOvr>
  <p:extLst>
    <p:ext uri="{DCECCB84-F9BA-43D5-87BE-67443E8EF086}">
      <p15:sldGuideLst xmlns:p15="http://schemas.microsoft.com/office/powerpoint/2012/main">
        <p15:guide id="1" pos="3552">
          <p15:clr>
            <a:srgbClr val="FBAE40"/>
          </p15:clr>
        </p15:guide>
        <p15:guide id="2" pos="427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ubtitle-B + Three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20558265"/>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ubtitle-B + Four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dirty="0"/>
              <a:t>Slide title; Arial 32pt bold, sentence case (1 line)</a:t>
            </a:r>
          </a:p>
        </p:txBody>
      </p:sp>
      <p:sp>
        <p:nvSpPr>
          <p:cNvPr id="13" name="Text Placeholder 2">
            <a:extLst>
              <a:ext uri="{FF2B5EF4-FFF2-40B4-BE49-F238E27FC236}">
                <a16:creationId xmlns:a16="http://schemas.microsoft.com/office/drawing/2014/main" id="{8F05DDA7-2CBD-E44C-A62E-E1C57509DCA3}"/>
              </a:ext>
            </a:extLst>
          </p:cNvPr>
          <p:cNvSpPr>
            <a:spLocks noGrp="1"/>
          </p:cNvSpPr>
          <p:nvPr>
            <p:ph type="body" idx="15"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08535582"/>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ubtitle-B + Title Only">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dirty="0"/>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425122222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ubtitle-B + Title Only Light Blue">
    <p:bg>
      <p:bgPr>
        <a:solidFill>
          <a:srgbClr val="F0F7FF"/>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dirty="0"/>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6932621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ubtitle-B + Content on Blue Lef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0" y="0"/>
            <a:ext cx="4382814"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1"/>
            <a:ext cx="3412236" cy="594360"/>
          </a:xfrm>
        </p:spPr>
        <p:txBody>
          <a:bodyPr vert="horz"/>
          <a:lstStyle>
            <a:lvl1pPr>
              <a:defRPr>
                <a:solidFill>
                  <a:schemeClr val="bg1"/>
                </a:solidFill>
              </a:defRPr>
            </a:lvl1pPr>
          </a:lstStyle>
          <a:p>
            <a:r>
              <a:rPr lang="en-US" dirty="0"/>
              <a:t>Short slide title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1051560"/>
            <a:ext cx="3412236"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Short slide subtitle</a:t>
            </a:r>
          </a:p>
        </p:txBody>
      </p:sp>
      <p:sp>
        <p:nvSpPr>
          <p:cNvPr id="20" name="Text Placeholder 19">
            <a:extLst>
              <a:ext uri="{FF2B5EF4-FFF2-40B4-BE49-F238E27FC236}">
                <a16:creationId xmlns:a16="http://schemas.microsoft.com/office/drawing/2014/main" id="{FA4A34C6-AA67-B74C-9387-5C2077CE6A33}"/>
              </a:ext>
            </a:extLst>
          </p:cNvPr>
          <p:cNvSpPr>
            <a:spLocks noGrp="1"/>
          </p:cNvSpPr>
          <p:nvPr>
            <p:ph type="body" sz="quarter" idx="15" hasCustomPrompt="1"/>
          </p:nvPr>
        </p:nvSpPr>
        <p:spPr>
          <a:xfrm>
            <a:off x="512064" y="2514590"/>
            <a:ext cx="3411537" cy="359093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half" idx="1" hasCustomPrompt="1"/>
          </p:nvPr>
        </p:nvSpPr>
        <p:spPr>
          <a:xfrm>
            <a:off x="4838700" y="470636"/>
            <a:ext cx="6861175" cy="5634889"/>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88289368"/>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ubtitle-B + Content on Blue Righ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4381500" y="0"/>
            <a:ext cx="7810500"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1"/>
            <a:ext cx="3412236" cy="594360"/>
          </a:xfrm>
        </p:spPr>
        <p:txBody>
          <a:bodyPr vert="horz"/>
          <a:lstStyle>
            <a:lvl1pPr>
              <a:defRPr>
                <a:solidFill>
                  <a:schemeClr val="tx1"/>
                </a:solidFill>
              </a:defRPr>
            </a:lvl1pPr>
          </a:lstStyle>
          <a:p>
            <a:r>
              <a:rPr lang="en-US" dirty="0"/>
              <a:t>Short slide title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1051560"/>
            <a:ext cx="34122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Short slide subtitle</a:t>
            </a:r>
          </a:p>
        </p:txBody>
      </p:sp>
      <p:sp>
        <p:nvSpPr>
          <p:cNvPr id="14" name="Text Placeholder 19">
            <a:extLst>
              <a:ext uri="{FF2B5EF4-FFF2-40B4-BE49-F238E27FC236}">
                <a16:creationId xmlns:a16="http://schemas.microsoft.com/office/drawing/2014/main" id="{063F2128-9DD7-7445-8E1E-1AA47BED6A54}"/>
              </a:ext>
            </a:extLst>
          </p:cNvPr>
          <p:cNvSpPr>
            <a:spLocks noGrp="1"/>
          </p:cNvSpPr>
          <p:nvPr>
            <p:ph type="body" sz="quarter" idx="15" hasCustomPrompt="1"/>
          </p:nvPr>
        </p:nvSpPr>
        <p:spPr>
          <a:xfrm>
            <a:off x="512064" y="2514590"/>
            <a:ext cx="3411537" cy="3590935"/>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dirty="0"/>
              <a:t>Click to type text. To activate sub-level formatting, place cursor at beginning of text/line and hit tab or shift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05BA47CF-4C75-114D-925E-3DEE36B0B108}"/>
              </a:ext>
            </a:extLst>
          </p:cNvPr>
          <p:cNvSpPr>
            <a:spLocks noGrp="1"/>
          </p:cNvSpPr>
          <p:nvPr>
            <p:ph sz="half" idx="1" hasCustomPrompt="1"/>
          </p:nvPr>
        </p:nvSpPr>
        <p:spPr>
          <a:xfrm>
            <a:off x="4838700" y="470636"/>
            <a:ext cx="6861175" cy="563488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74259784"/>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ubtitle-B +  Content Blue">
    <p:bg>
      <p:bgPr>
        <a:solidFill>
          <a:schemeClr val="tx1"/>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dirty="0"/>
              <a:t>Slide title; Arial 32pt bold, sentence case (1 line)</a:t>
            </a:r>
          </a:p>
        </p:txBody>
      </p:sp>
      <p:sp>
        <p:nvSpPr>
          <p:cNvPr id="10" name="Text Placeholder 2">
            <a:extLst>
              <a:ext uri="{FF2B5EF4-FFF2-40B4-BE49-F238E27FC236}">
                <a16:creationId xmlns:a16="http://schemas.microsoft.com/office/drawing/2014/main" id="{F29F3FD6-A58A-E748-A11A-7D0F672AD0A7}"/>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8927050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btitle-B + Two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dirty="0"/>
              <a:t>Slide title; Arial 32pt bold, sentence case (1 line)</a:t>
            </a:r>
          </a:p>
        </p:txBody>
      </p:sp>
      <p:sp>
        <p:nvSpPr>
          <p:cNvPr id="11" name="Text Placeholder 2">
            <a:extLst>
              <a:ext uri="{FF2B5EF4-FFF2-40B4-BE49-F238E27FC236}">
                <a16:creationId xmlns:a16="http://schemas.microsoft.com/office/drawing/2014/main" id="{4F286C39-0E82-734F-AB13-0063DC613DC8}"/>
              </a:ext>
            </a:extLst>
          </p:cNvPr>
          <p:cNvSpPr>
            <a:spLocks noGrp="1"/>
          </p:cNvSpPr>
          <p:nvPr>
            <p:ph type="body" idx="13"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98693906"/>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ubtitle-B + Three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dirty="0"/>
              <a:t>Slide title; Arial 32pt bold, sentence case (1 line)</a:t>
            </a:r>
          </a:p>
        </p:txBody>
      </p:sp>
      <p:sp>
        <p:nvSpPr>
          <p:cNvPr id="11" name="Text Placeholder 2">
            <a:extLst>
              <a:ext uri="{FF2B5EF4-FFF2-40B4-BE49-F238E27FC236}">
                <a16:creationId xmlns:a16="http://schemas.microsoft.com/office/drawing/2014/main" id="{6474099B-156D-7348-B7A4-5FB85DB30944}"/>
              </a:ext>
            </a:extLst>
          </p:cNvPr>
          <p:cNvSpPr>
            <a:spLocks noGrp="1"/>
          </p:cNvSpPr>
          <p:nvPr>
            <p:ph type="body" idx="14"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726091"/>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ubtitle-B + Four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dirty="0"/>
              <a:t>Slide title; Arial 32pt bold, sentence case (1 line)</a:t>
            </a:r>
          </a:p>
        </p:txBody>
      </p:sp>
      <p:sp>
        <p:nvSpPr>
          <p:cNvPr id="13" name="Text Placeholder 2">
            <a:extLst>
              <a:ext uri="{FF2B5EF4-FFF2-40B4-BE49-F238E27FC236}">
                <a16:creationId xmlns:a16="http://schemas.microsoft.com/office/drawing/2014/main" id="{804B53DC-1086-544D-9442-160B5564CE8C}"/>
              </a:ext>
            </a:extLst>
          </p:cNvPr>
          <p:cNvSpPr>
            <a:spLocks noGrp="1"/>
          </p:cNvSpPr>
          <p:nvPr>
            <p:ph type="body" idx="15"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69534253"/>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ubtitle-B + Title Only Blue">
    <p:bg>
      <p:bgPr>
        <a:solidFill>
          <a:schemeClr val="tx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dirty="0"/>
              <a:t>Slide title; Arial 32pt bold, sentence case (1 line)</a:t>
            </a:r>
          </a:p>
        </p:txBody>
      </p:sp>
      <p:sp>
        <p:nvSpPr>
          <p:cNvPr id="10" name="Text Placeholder 2">
            <a:extLst>
              <a:ext uri="{FF2B5EF4-FFF2-40B4-BE49-F238E27FC236}">
                <a16:creationId xmlns:a16="http://schemas.microsoft.com/office/drawing/2014/main" id="{4E3BD865-48DE-664B-B59C-69BE9486EDEB}"/>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4414612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Special layou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2690337"/>
            <a:ext cx="12191999" cy="1477328"/>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Special layouts</a:t>
            </a:r>
          </a:p>
        </p:txBody>
      </p:sp>
    </p:spTree>
    <p:extLst>
      <p:ext uri="{BB962C8B-B14F-4D97-AF65-F5344CB8AC3E}">
        <p14:creationId xmlns:p14="http://schemas.microsoft.com/office/powerpoint/2010/main" val="9578300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Intro 2 Presenter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AEAF8F1-C826-6F47-BE7A-44717A37D861}"/>
              </a:ext>
            </a:extLst>
          </p:cNvPr>
          <p:cNvSpPr/>
          <p:nvPr/>
        </p:nvSpPr>
        <p:spPr>
          <a:xfrm>
            <a:off x="0" y="3666565"/>
            <a:ext cx="12192000" cy="3191436"/>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b"/>
          <a:lstStyle/>
          <a:p>
            <a:pPr algn="ctr"/>
            <a:endParaRPr lang="en-US">
              <a:latin typeface="Arial" panose="020B0604020202020204" pitchFamily="34" charset="0"/>
              <a:cs typeface="Arial" panose="020B0604020202020204" pitchFamily="34" charset="0"/>
            </a:endParaRPr>
          </a:p>
        </p:txBody>
      </p:sp>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title; Arial 20pt bold, sentence case (1 line)</a:t>
            </a:r>
          </a:p>
        </p:txBody>
      </p:sp>
      <p:sp>
        <p:nvSpPr>
          <p:cNvPr id="21" name="Text Placeholder 20">
            <a:extLst>
              <a:ext uri="{FF2B5EF4-FFF2-40B4-BE49-F238E27FC236}">
                <a16:creationId xmlns:a16="http://schemas.microsoft.com/office/drawing/2014/main" id="{83520AB0-B15D-4644-8232-A1DA7A34C60E}"/>
              </a:ext>
            </a:extLst>
          </p:cNvPr>
          <p:cNvSpPr>
            <a:spLocks noGrp="1"/>
          </p:cNvSpPr>
          <p:nvPr>
            <p:ph type="body" sz="quarter" idx="15" hasCustomPrompt="1"/>
          </p:nvPr>
        </p:nvSpPr>
        <p:spPr>
          <a:xfrm>
            <a:off x="2549141" y="1909334"/>
            <a:ext cx="2740035" cy="1102154"/>
          </a:xfrm>
        </p:spPr>
        <p:txBody>
          <a:bodyPr/>
          <a:lstStyle>
            <a:lvl1pPr>
              <a:defRPr sz="2400" b="1"/>
            </a:lvl1pPr>
            <a:lvl2pPr marL="0" indent="0">
              <a:buNone/>
              <a:defRPr sz="1400">
                <a:solidFill>
                  <a:schemeClr val="accent1"/>
                </a:solidFill>
              </a:defRPr>
            </a:lvl2pPr>
          </a:lstStyle>
          <a:p>
            <a:pPr lvl="0"/>
            <a:r>
              <a:rPr lang="en-US" dirty="0"/>
              <a:t>First </a:t>
            </a:r>
            <a:r>
              <a:rPr lang="en-US" dirty="0" err="1"/>
              <a:t>Lastname</a:t>
            </a:r>
            <a:endParaRPr lang="en-US" dirty="0"/>
          </a:p>
          <a:p>
            <a:pPr lvl="1"/>
            <a:r>
              <a:rPr lang="en-US" dirty="0"/>
              <a:t>Add title</a:t>
            </a:r>
          </a:p>
        </p:txBody>
      </p:sp>
      <p:sp>
        <p:nvSpPr>
          <p:cNvPr id="23" name="Text Placeholder 20">
            <a:extLst>
              <a:ext uri="{FF2B5EF4-FFF2-40B4-BE49-F238E27FC236}">
                <a16:creationId xmlns:a16="http://schemas.microsoft.com/office/drawing/2014/main" id="{A186D89A-9D30-6C4F-925D-4091D0F3D93A}"/>
              </a:ext>
            </a:extLst>
          </p:cNvPr>
          <p:cNvSpPr>
            <a:spLocks noGrp="1"/>
          </p:cNvSpPr>
          <p:nvPr>
            <p:ph type="body" sz="quarter" idx="17" hasCustomPrompt="1"/>
          </p:nvPr>
        </p:nvSpPr>
        <p:spPr>
          <a:xfrm>
            <a:off x="8501706" y="1909334"/>
            <a:ext cx="2740035" cy="1102154"/>
          </a:xfrm>
        </p:spPr>
        <p:txBody>
          <a:bodyPr/>
          <a:lstStyle>
            <a:lvl1pPr>
              <a:defRPr sz="2400" b="1"/>
            </a:lvl1pPr>
            <a:lvl2pPr marL="0" indent="0">
              <a:buNone/>
              <a:defRPr sz="1400">
                <a:solidFill>
                  <a:schemeClr val="accent1"/>
                </a:solidFill>
              </a:defRPr>
            </a:lvl2pPr>
          </a:lstStyle>
          <a:p>
            <a:pPr lvl="0"/>
            <a:r>
              <a:rPr lang="en-US" dirty="0"/>
              <a:t>First </a:t>
            </a:r>
            <a:r>
              <a:rPr lang="en-US" dirty="0" err="1"/>
              <a:t>Lastname</a:t>
            </a:r>
            <a:endParaRPr lang="en-US" dirty="0"/>
          </a:p>
          <a:p>
            <a:pPr lvl="1"/>
            <a:r>
              <a:rPr lang="en-US" dirty="0"/>
              <a:t>Add title</a:t>
            </a:r>
          </a:p>
        </p:txBody>
      </p:sp>
      <p:sp>
        <p:nvSpPr>
          <p:cNvPr id="18" name="Picture Placeholder 17">
            <a:extLst>
              <a:ext uri="{FF2B5EF4-FFF2-40B4-BE49-F238E27FC236}">
                <a16:creationId xmlns:a16="http://schemas.microsoft.com/office/drawing/2014/main" id="{E68A2CBF-6F30-2D4C-BD65-7D6157EA8B3A}"/>
              </a:ext>
            </a:extLst>
          </p:cNvPr>
          <p:cNvSpPr>
            <a:spLocks noGrp="1"/>
          </p:cNvSpPr>
          <p:nvPr>
            <p:ph type="pic" sz="quarter" idx="13" hasCustomPrompt="1"/>
          </p:nvPr>
        </p:nvSpPr>
        <p:spPr>
          <a:xfrm>
            <a:off x="471702" y="1255958"/>
            <a:ext cx="1793168" cy="2014784"/>
          </a:xfrm>
          <a:custGeom>
            <a:avLst/>
            <a:gdLst>
              <a:gd name="connsiteX0" fmla="*/ 896584 w 1793168"/>
              <a:gd name="connsiteY0" fmla="*/ 0 h 2014784"/>
              <a:gd name="connsiteX1" fmla="*/ 1569239 w 1793168"/>
              <a:gd name="connsiteY1" fmla="*/ 261487 h 2014784"/>
              <a:gd name="connsiteX2" fmla="*/ 1793168 w 1793168"/>
              <a:gd name="connsiteY2" fmla="*/ 1007392 h 2014784"/>
              <a:gd name="connsiteX3" fmla="*/ 1569239 w 1793168"/>
              <a:gd name="connsiteY3" fmla="*/ 1753297 h 2014784"/>
              <a:gd name="connsiteX4" fmla="*/ 896584 w 1793168"/>
              <a:gd name="connsiteY4" fmla="*/ 2014784 h 2014784"/>
              <a:gd name="connsiteX5" fmla="*/ 223928 w 1793168"/>
              <a:gd name="connsiteY5" fmla="*/ 1753297 h 2014784"/>
              <a:gd name="connsiteX6" fmla="*/ 0 w 1793168"/>
              <a:gd name="connsiteY6" fmla="*/ 1007392 h 2014784"/>
              <a:gd name="connsiteX7" fmla="*/ 223928 w 1793168"/>
              <a:gd name="connsiteY7" fmla="*/ 261487 h 2014784"/>
              <a:gd name="connsiteX8" fmla="*/ 896584 w 1793168"/>
              <a:gd name="connsiteY8" fmla="*/ 0 h 201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3168" h="2014784">
                <a:moveTo>
                  <a:pt x="896584" y="0"/>
                </a:moveTo>
                <a:cubicBezTo>
                  <a:pt x="1190802" y="0"/>
                  <a:pt x="1417125" y="87983"/>
                  <a:pt x="1569239" y="261487"/>
                </a:cubicBezTo>
                <a:cubicBezTo>
                  <a:pt x="1717872" y="430859"/>
                  <a:pt x="1793168" y="681837"/>
                  <a:pt x="1793168" y="1007392"/>
                </a:cubicBezTo>
                <a:cubicBezTo>
                  <a:pt x="1793168" y="1332946"/>
                  <a:pt x="1717799" y="1583925"/>
                  <a:pt x="1569239" y="1753297"/>
                </a:cubicBezTo>
                <a:cubicBezTo>
                  <a:pt x="1417052" y="1926800"/>
                  <a:pt x="1191093" y="2014784"/>
                  <a:pt x="896584" y="2014784"/>
                </a:cubicBezTo>
                <a:cubicBezTo>
                  <a:pt x="602075" y="2014784"/>
                  <a:pt x="376043" y="1926800"/>
                  <a:pt x="223928" y="1753297"/>
                </a:cubicBezTo>
                <a:cubicBezTo>
                  <a:pt x="75295" y="1583852"/>
                  <a:pt x="0" y="1332946"/>
                  <a:pt x="0" y="1007392"/>
                </a:cubicBezTo>
                <a:cubicBezTo>
                  <a:pt x="0" y="681837"/>
                  <a:pt x="75368" y="430859"/>
                  <a:pt x="223928" y="261487"/>
                </a:cubicBezTo>
                <a:cubicBezTo>
                  <a:pt x="376115" y="87983"/>
                  <a:pt x="602365" y="0"/>
                  <a:pt x="896584" y="0"/>
                </a:cubicBezTo>
                <a:close/>
              </a:path>
            </a:pathLst>
          </a:custGeom>
          <a:solidFill>
            <a:schemeClr val="bg1">
              <a:lumMod val="95000"/>
            </a:schemeClr>
          </a:solidFill>
        </p:spPr>
        <p:txBody>
          <a:bodyPr wrap="square" lIns="0" tIns="457200" anchor="t">
            <a:noAutofit/>
          </a:bodyPr>
          <a:lstStyle>
            <a:lvl1pPr algn="ctr">
              <a:defRPr sz="1200">
                <a:solidFill>
                  <a:srgbClr val="FF0000"/>
                </a:solidFill>
              </a:defRPr>
            </a:lvl1pPr>
          </a:lstStyle>
          <a:p>
            <a:r>
              <a:rPr lang="en-US" dirty="0"/>
              <a:t>Insert person’s photo</a:t>
            </a:r>
          </a:p>
        </p:txBody>
      </p:sp>
      <p:sp>
        <p:nvSpPr>
          <p:cNvPr id="19" name="Picture Placeholder 18">
            <a:extLst>
              <a:ext uri="{FF2B5EF4-FFF2-40B4-BE49-F238E27FC236}">
                <a16:creationId xmlns:a16="http://schemas.microsoft.com/office/drawing/2014/main" id="{1AA6058B-210D-DD48-8898-100F31B78D58}"/>
              </a:ext>
            </a:extLst>
          </p:cNvPr>
          <p:cNvSpPr>
            <a:spLocks noGrp="1"/>
          </p:cNvSpPr>
          <p:nvPr>
            <p:ph type="pic" sz="quarter" idx="14" hasCustomPrompt="1"/>
          </p:nvPr>
        </p:nvSpPr>
        <p:spPr>
          <a:xfrm>
            <a:off x="6447798" y="1255958"/>
            <a:ext cx="1793168" cy="2014784"/>
          </a:xfrm>
          <a:custGeom>
            <a:avLst/>
            <a:gdLst>
              <a:gd name="connsiteX0" fmla="*/ 896584 w 1793168"/>
              <a:gd name="connsiteY0" fmla="*/ 0 h 2014784"/>
              <a:gd name="connsiteX1" fmla="*/ 1569239 w 1793168"/>
              <a:gd name="connsiteY1" fmla="*/ 261487 h 2014784"/>
              <a:gd name="connsiteX2" fmla="*/ 1793168 w 1793168"/>
              <a:gd name="connsiteY2" fmla="*/ 1007392 h 2014784"/>
              <a:gd name="connsiteX3" fmla="*/ 1569239 w 1793168"/>
              <a:gd name="connsiteY3" fmla="*/ 1753297 h 2014784"/>
              <a:gd name="connsiteX4" fmla="*/ 896584 w 1793168"/>
              <a:gd name="connsiteY4" fmla="*/ 2014784 h 2014784"/>
              <a:gd name="connsiteX5" fmla="*/ 223928 w 1793168"/>
              <a:gd name="connsiteY5" fmla="*/ 1753297 h 2014784"/>
              <a:gd name="connsiteX6" fmla="*/ 0 w 1793168"/>
              <a:gd name="connsiteY6" fmla="*/ 1007392 h 2014784"/>
              <a:gd name="connsiteX7" fmla="*/ 223928 w 1793168"/>
              <a:gd name="connsiteY7" fmla="*/ 261487 h 2014784"/>
              <a:gd name="connsiteX8" fmla="*/ 896584 w 1793168"/>
              <a:gd name="connsiteY8" fmla="*/ 0 h 201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3168" h="2014784">
                <a:moveTo>
                  <a:pt x="896584" y="0"/>
                </a:moveTo>
                <a:cubicBezTo>
                  <a:pt x="1190802" y="0"/>
                  <a:pt x="1417125" y="87983"/>
                  <a:pt x="1569239" y="261487"/>
                </a:cubicBezTo>
                <a:cubicBezTo>
                  <a:pt x="1717872" y="430859"/>
                  <a:pt x="1793168" y="681837"/>
                  <a:pt x="1793168" y="1007392"/>
                </a:cubicBezTo>
                <a:cubicBezTo>
                  <a:pt x="1793168" y="1332946"/>
                  <a:pt x="1717799" y="1583925"/>
                  <a:pt x="1569239" y="1753297"/>
                </a:cubicBezTo>
                <a:cubicBezTo>
                  <a:pt x="1417052" y="1926800"/>
                  <a:pt x="1191093" y="2014784"/>
                  <a:pt x="896584" y="2014784"/>
                </a:cubicBezTo>
                <a:cubicBezTo>
                  <a:pt x="602075" y="2014784"/>
                  <a:pt x="376043" y="1926800"/>
                  <a:pt x="223928" y="1753297"/>
                </a:cubicBezTo>
                <a:cubicBezTo>
                  <a:pt x="75295" y="1583852"/>
                  <a:pt x="0" y="1332946"/>
                  <a:pt x="0" y="1007392"/>
                </a:cubicBezTo>
                <a:cubicBezTo>
                  <a:pt x="0" y="681837"/>
                  <a:pt x="75368" y="430859"/>
                  <a:pt x="223928" y="261487"/>
                </a:cubicBezTo>
                <a:cubicBezTo>
                  <a:pt x="376115" y="87983"/>
                  <a:pt x="602365" y="0"/>
                  <a:pt x="896584" y="0"/>
                </a:cubicBezTo>
                <a:close/>
              </a:path>
            </a:pathLst>
          </a:custGeom>
          <a:solidFill>
            <a:schemeClr val="bg1">
              <a:lumMod val="95000"/>
            </a:schemeClr>
          </a:solidFill>
        </p:spPr>
        <p:txBody>
          <a:bodyPr wrap="square" tIns="457200" anchor="t">
            <a:noAutofit/>
          </a:bodyPr>
          <a:lstStyle>
            <a:lvl1pPr algn="ctr">
              <a:defRPr sz="1200">
                <a:solidFill>
                  <a:srgbClr val="FF0000"/>
                </a:solidFill>
              </a:defRPr>
            </a:lvl1pPr>
          </a:lstStyle>
          <a:p>
            <a:r>
              <a:rPr lang="en-US" dirty="0"/>
              <a:t>Insert person’s photo</a:t>
            </a:r>
          </a:p>
        </p:txBody>
      </p:sp>
      <p:sp>
        <p:nvSpPr>
          <p:cNvPr id="25" name="Text Placeholder 24">
            <a:extLst>
              <a:ext uri="{FF2B5EF4-FFF2-40B4-BE49-F238E27FC236}">
                <a16:creationId xmlns:a16="http://schemas.microsoft.com/office/drawing/2014/main" id="{67ECDB41-474A-6442-AFDC-C46B467A134A}"/>
              </a:ext>
            </a:extLst>
          </p:cNvPr>
          <p:cNvSpPr>
            <a:spLocks noGrp="1"/>
          </p:cNvSpPr>
          <p:nvPr>
            <p:ph type="body" sz="quarter" idx="18" hasCustomPrompt="1"/>
          </p:nvPr>
        </p:nvSpPr>
        <p:spPr>
          <a:xfrm>
            <a:off x="512763" y="4016187"/>
            <a:ext cx="11187112" cy="2089337"/>
          </a:xfrm>
        </p:spPr>
        <p:txBody>
          <a:bodyPr/>
          <a:lstStyle>
            <a:lvl1pPr marL="231775" indent="-231775">
              <a:spcBef>
                <a:spcPts val="1000"/>
              </a:spcBef>
              <a:buFont typeface="Arial" panose="020B0604020202020204" pitchFamily="34" charset="0"/>
              <a:buChar char="•"/>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bullet points</a:t>
            </a:r>
          </a:p>
        </p:txBody>
      </p:sp>
    </p:spTree>
    <p:extLst>
      <p:ext uri="{BB962C8B-B14F-4D97-AF65-F5344CB8AC3E}">
        <p14:creationId xmlns:p14="http://schemas.microsoft.com/office/powerpoint/2010/main" val="253744081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tatement with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B008058-B9DB-5E41-ADFA-69BE9568002B}"/>
              </a:ext>
            </a:extLst>
          </p:cNvPr>
          <p:cNvSpPr>
            <a:spLocks noGrp="1"/>
          </p:cNvSpPr>
          <p:nvPr>
            <p:ph type="pic" sz="quarter" idx="13" hasCustomPrompt="1"/>
          </p:nvPr>
        </p:nvSpPr>
        <p:spPr>
          <a:xfrm>
            <a:off x="0" y="0"/>
            <a:ext cx="12192000" cy="6858000"/>
          </a:xfrm>
          <a:solidFill>
            <a:schemeClr val="bg1">
              <a:lumMod val="95000"/>
            </a:schemeClr>
          </a:solidFill>
        </p:spPr>
        <p:txBody>
          <a:bodyPr/>
          <a:lstStyle>
            <a:lvl1pPr>
              <a:defRPr sz="1200">
                <a:solidFill>
                  <a:srgbClr val="FF0000"/>
                </a:solidFill>
              </a:defRPr>
            </a:lvl1pPr>
          </a:lstStyle>
          <a:p>
            <a:r>
              <a:rPr lang="en-US" dirty="0"/>
              <a:t>Bring placeholder to front. Drag picture to placeholder or click icon to add. Send placeholder to back. </a:t>
            </a:r>
            <a:br>
              <a:rPr lang="en-US" dirty="0"/>
            </a:br>
            <a:r>
              <a:rPr lang="en-US" dirty="0"/>
              <a:t>Note that the overlay sits on top of the slide; it will need to be pasted onto any new slide using this layout.</a:t>
            </a:r>
          </a:p>
        </p:txBody>
      </p:sp>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6961399" cy="2519084"/>
          </a:xfrm>
        </p:spPr>
        <p:txBody>
          <a:bodyPr vert="horz"/>
          <a:lstStyle>
            <a:lvl1pPr>
              <a:defRPr>
                <a:solidFill>
                  <a:schemeClr val="bg1"/>
                </a:solidFill>
              </a:defRPr>
            </a:lvl1pPr>
          </a:lstStyle>
          <a:p>
            <a:r>
              <a:rPr lang="en-US" dirty="0"/>
              <a:t>Large statement; Arial 32pt bold, sentence case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6961398" cy="295276"/>
          </a:xfrm>
        </p:spPr>
        <p:txBody>
          <a:bodyPr anchor="b"/>
          <a:lstStyle>
            <a:lvl1pPr marL="0" inden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261124920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Quote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64D66BA-EC5A-D945-99FE-DA74D720C612}"/>
              </a:ext>
            </a:extLst>
          </p:cNvPr>
          <p:cNvSpPr>
            <a:spLocks noGrp="1"/>
          </p:cNvSpPr>
          <p:nvPr>
            <p:ph type="pic" sz="quarter" idx="12" hasCustomPrompt="1"/>
          </p:nvPr>
        </p:nvSpPr>
        <p:spPr>
          <a:xfrm>
            <a:off x="0" y="0"/>
            <a:ext cx="12192000" cy="6858000"/>
          </a:xfrm>
          <a:solidFill>
            <a:schemeClr val="bg1">
              <a:lumMod val="95000"/>
            </a:schemeClr>
          </a:solidFill>
        </p:spPr>
        <p:txBody>
          <a:bodyPr/>
          <a:lstStyle>
            <a:lvl1pPr>
              <a:defRPr sz="1200">
                <a:solidFill>
                  <a:srgbClr val="FF0000"/>
                </a:solidFill>
              </a:defRPr>
            </a:lvl1pPr>
          </a:lstStyle>
          <a:p>
            <a:r>
              <a:rPr lang="en-US" dirty="0"/>
              <a:t>Drag picture to placeholder or click icon to add. Send placeholder to back.</a:t>
            </a:r>
          </a:p>
        </p:txBody>
      </p:sp>
      <p:sp>
        <p:nvSpPr>
          <p:cNvPr id="4" name="Slide Number Placeholder 3">
            <a:extLst>
              <a:ext uri="{FF2B5EF4-FFF2-40B4-BE49-F238E27FC236}">
                <a16:creationId xmlns:a16="http://schemas.microsoft.com/office/drawing/2014/main" id="{E044F558-9BFF-B14B-8BE9-C6BBD3865858}"/>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3" name="Footer Placeholder 2">
            <a:extLst>
              <a:ext uri="{FF2B5EF4-FFF2-40B4-BE49-F238E27FC236}">
                <a16:creationId xmlns:a16="http://schemas.microsoft.com/office/drawing/2014/main" id="{E3BBCD08-FF08-374A-9A06-80B682368766}"/>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3" name="Text Placeholder 12">
            <a:extLst>
              <a:ext uri="{FF2B5EF4-FFF2-40B4-BE49-F238E27FC236}">
                <a16:creationId xmlns:a16="http://schemas.microsoft.com/office/drawing/2014/main" id="{04CC9F91-EFE4-A54B-B9C5-6BBAE3D75CC2}"/>
              </a:ext>
            </a:extLst>
          </p:cNvPr>
          <p:cNvSpPr>
            <a:spLocks noGrp="1"/>
          </p:cNvSpPr>
          <p:nvPr>
            <p:ph type="body" sz="quarter" idx="13" hasCustomPrompt="1"/>
          </p:nvPr>
        </p:nvSpPr>
        <p:spPr>
          <a:xfrm>
            <a:off x="0" y="1039089"/>
            <a:ext cx="5029200" cy="5029200"/>
          </a:xfrm>
          <a:solidFill>
            <a:schemeClr val="bg1"/>
          </a:solidFill>
        </p:spPr>
        <p:txBody>
          <a:bodyPr lIns="457200" tIns="1097280" rIns="457200"/>
          <a:lstStyle>
            <a:lvl1pPr>
              <a:defRPr sz="2400"/>
            </a:lvl1pPr>
            <a:lvl2pPr marL="0" indent="0">
              <a:buNone/>
              <a:defRPr>
                <a:solidFill>
                  <a:schemeClr val="accent1"/>
                </a:solidFill>
              </a:defRPr>
            </a:lvl2pPr>
          </a:lstStyle>
          <a:p>
            <a:pPr lvl="0"/>
            <a:r>
              <a:rPr lang="en-US" dirty="0"/>
              <a:t>Use this box to include quote. To activate sub-level formatting of attribution, place cursor at beginning of text/line and hit tab or shift tab. Do not modify size or placement of textbox.</a:t>
            </a:r>
          </a:p>
          <a:p>
            <a:pPr lvl="1"/>
            <a:r>
              <a:rPr lang="en-US" dirty="0"/>
              <a:t>Attribution name</a:t>
            </a:r>
          </a:p>
        </p:txBody>
      </p:sp>
    </p:spTree>
    <p:extLst>
      <p:ext uri="{BB962C8B-B14F-4D97-AF65-F5344CB8AC3E}">
        <p14:creationId xmlns:p14="http://schemas.microsoft.com/office/powerpoint/2010/main" val="107610015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and Large Quote">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7" name="Freeform 16">
            <a:extLst>
              <a:ext uri="{FF2B5EF4-FFF2-40B4-BE49-F238E27FC236}">
                <a16:creationId xmlns:a16="http://schemas.microsoft.com/office/drawing/2014/main" id="{2A7B38F7-2661-CE4A-817E-73C2E2DCC1FB}"/>
              </a:ext>
            </a:extLst>
          </p:cNvPr>
          <p:cNvSpPr/>
          <p:nvPr/>
        </p:nvSpPr>
        <p:spPr>
          <a:xfrm>
            <a:off x="502080" y="1067823"/>
            <a:ext cx="553045" cy="409575"/>
          </a:xfrm>
          <a:custGeom>
            <a:avLst/>
            <a:gdLst/>
            <a:ahLst/>
            <a:cxnLst/>
            <a:rect l="l" t="t" r="r" b="b"/>
            <a:pathLst>
              <a:path w="553045" h="409575">
                <a:moveTo>
                  <a:pt x="530423" y="0"/>
                </a:moveTo>
                <a:lnTo>
                  <a:pt x="544711" y="26789"/>
                </a:lnTo>
                <a:cubicBezTo>
                  <a:pt x="508992" y="51792"/>
                  <a:pt x="481607" y="73819"/>
                  <a:pt x="462557" y="92869"/>
                </a:cubicBezTo>
                <a:cubicBezTo>
                  <a:pt x="428823" y="126603"/>
                  <a:pt x="411956" y="157956"/>
                  <a:pt x="411956" y="186928"/>
                </a:cubicBezTo>
                <a:cubicBezTo>
                  <a:pt x="411956" y="195262"/>
                  <a:pt x="414139" y="202009"/>
                  <a:pt x="418504" y="207169"/>
                </a:cubicBezTo>
                <a:cubicBezTo>
                  <a:pt x="422870" y="212328"/>
                  <a:pt x="428823" y="214908"/>
                  <a:pt x="436364" y="214908"/>
                </a:cubicBezTo>
                <a:cubicBezTo>
                  <a:pt x="451445" y="212923"/>
                  <a:pt x="461367" y="211931"/>
                  <a:pt x="466129" y="211931"/>
                </a:cubicBezTo>
                <a:cubicBezTo>
                  <a:pt x="491132" y="211931"/>
                  <a:pt x="511869" y="221059"/>
                  <a:pt x="528339" y="239316"/>
                </a:cubicBezTo>
                <a:cubicBezTo>
                  <a:pt x="544810" y="257572"/>
                  <a:pt x="553045" y="279995"/>
                  <a:pt x="553045" y="306586"/>
                </a:cubicBezTo>
                <a:cubicBezTo>
                  <a:pt x="553045" y="337542"/>
                  <a:pt x="543917" y="362446"/>
                  <a:pt x="525661" y="381298"/>
                </a:cubicBezTo>
                <a:cubicBezTo>
                  <a:pt x="507404" y="400149"/>
                  <a:pt x="482600" y="409575"/>
                  <a:pt x="451247" y="409575"/>
                </a:cubicBezTo>
                <a:cubicBezTo>
                  <a:pt x="415528" y="409575"/>
                  <a:pt x="386159" y="396379"/>
                  <a:pt x="363140" y="369987"/>
                </a:cubicBezTo>
                <a:cubicBezTo>
                  <a:pt x="340122" y="343594"/>
                  <a:pt x="328612" y="308372"/>
                  <a:pt x="328612" y="264319"/>
                </a:cubicBezTo>
                <a:cubicBezTo>
                  <a:pt x="328612" y="219869"/>
                  <a:pt x="344090" y="174030"/>
                  <a:pt x="375047" y="126801"/>
                </a:cubicBezTo>
                <a:cubicBezTo>
                  <a:pt x="406003" y="79573"/>
                  <a:pt x="457795" y="37306"/>
                  <a:pt x="530423" y="0"/>
                </a:cubicBezTo>
                <a:close/>
                <a:moveTo>
                  <a:pt x="201811" y="0"/>
                </a:moveTo>
                <a:lnTo>
                  <a:pt x="216098" y="26789"/>
                </a:lnTo>
                <a:cubicBezTo>
                  <a:pt x="177998" y="53776"/>
                  <a:pt x="149820" y="76398"/>
                  <a:pt x="131564" y="94655"/>
                </a:cubicBezTo>
                <a:cubicBezTo>
                  <a:pt x="99417" y="127595"/>
                  <a:pt x="83343" y="159147"/>
                  <a:pt x="83343" y="189309"/>
                </a:cubicBezTo>
                <a:cubicBezTo>
                  <a:pt x="83343" y="199628"/>
                  <a:pt x="86320" y="206375"/>
                  <a:pt x="92273" y="209550"/>
                </a:cubicBezTo>
                <a:cubicBezTo>
                  <a:pt x="98226" y="213122"/>
                  <a:pt x="103386" y="214908"/>
                  <a:pt x="107751" y="214908"/>
                </a:cubicBezTo>
                <a:cubicBezTo>
                  <a:pt x="122832" y="212923"/>
                  <a:pt x="132754" y="211931"/>
                  <a:pt x="137517" y="211931"/>
                </a:cubicBezTo>
                <a:cubicBezTo>
                  <a:pt x="162917" y="211931"/>
                  <a:pt x="183753" y="221158"/>
                  <a:pt x="200025" y="239613"/>
                </a:cubicBezTo>
                <a:cubicBezTo>
                  <a:pt x="216297" y="258068"/>
                  <a:pt x="224433" y="280392"/>
                  <a:pt x="224433" y="306586"/>
                </a:cubicBezTo>
                <a:cubicBezTo>
                  <a:pt x="224433" y="335955"/>
                  <a:pt x="215503" y="360462"/>
                  <a:pt x="197643" y="380107"/>
                </a:cubicBezTo>
                <a:cubicBezTo>
                  <a:pt x="179784" y="399752"/>
                  <a:pt x="155178" y="409575"/>
                  <a:pt x="123825" y="409575"/>
                </a:cubicBezTo>
                <a:cubicBezTo>
                  <a:pt x="86915" y="409575"/>
                  <a:pt x="57050" y="396379"/>
                  <a:pt x="34230" y="369987"/>
                </a:cubicBezTo>
                <a:cubicBezTo>
                  <a:pt x="11410" y="343594"/>
                  <a:pt x="0" y="308372"/>
                  <a:pt x="0" y="264319"/>
                </a:cubicBezTo>
                <a:cubicBezTo>
                  <a:pt x="0" y="222250"/>
                  <a:pt x="14585" y="177502"/>
                  <a:pt x="43755" y="130076"/>
                </a:cubicBezTo>
                <a:cubicBezTo>
                  <a:pt x="72925" y="82649"/>
                  <a:pt x="125611" y="39291"/>
                  <a:pt x="201811" y="0"/>
                </a:cubicBez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600" b="1" i="0" u="none" strike="noStrike" kern="1200" cap="none" spc="0" normalizeH="0" baseline="0" noProof="0" dirty="0">
              <a:ln>
                <a:noFill/>
              </a:ln>
              <a:solidFill>
                <a:srgbClr val="2E5FF4"/>
              </a:solidFill>
              <a:effectLst/>
              <a:uLnTx/>
              <a:uFillTx/>
              <a:latin typeface="Times" pitchFamily="2" charset="0"/>
              <a:ea typeface="+mn-ea"/>
              <a:cs typeface="Arial" panose="020B0604020202020204" pitchFamily="34" charset="0"/>
            </a:endParaRPr>
          </a:p>
        </p:txBody>
      </p:sp>
      <p:sp>
        <p:nvSpPr>
          <p:cNvPr id="2" name="Title 1"/>
          <p:cNvSpPr>
            <a:spLocks noGrp="1"/>
          </p:cNvSpPr>
          <p:nvPr>
            <p:ph type="title" hasCustomPrompt="1"/>
          </p:nvPr>
        </p:nvSpPr>
        <p:spPr>
          <a:xfrm>
            <a:off x="512063" y="405743"/>
            <a:ext cx="11184423" cy="307226"/>
          </a:xfrm>
        </p:spPr>
        <p:txBody>
          <a:bodyPr vert="horz" lIns="0" tIns="0" rIns="0" bIns="0" rtlCol="0" anchor="b">
            <a:noAutofit/>
          </a:bodyPr>
          <a:lstStyle>
            <a:lvl1pPr>
              <a:defRPr lang="en-US" sz="2000" b="1" dirty="0">
                <a:solidFill>
                  <a:schemeClr val="accent1"/>
                </a:solidFill>
                <a:latin typeface="+mn-lt"/>
                <a:ea typeface="+mn-ea"/>
                <a:cs typeface="+mn-cs"/>
              </a:defRPr>
            </a:lvl1pPr>
          </a:lstStyle>
          <a:p>
            <a:pPr lvl="0"/>
            <a:r>
              <a:rPr lang="en-US" dirty="0"/>
              <a:t>Slide title; Arial 20pt bold, sentence case (1 line)</a:t>
            </a:r>
          </a:p>
        </p:txBody>
      </p:sp>
      <p:sp>
        <p:nvSpPr>
          <p:cNvPr id="19" name="Text Placeholder 18">
            <a:extLst>
              <a:ext uri="{FF2B5EF4-FFF2-40B4-BE49-F238E27FC236}">
                <a16:creationId xmlns:a16="http://schemas.microsoft.com/office/drawing/2014/main" id="{1CEC1C1C-7C15-B146-89D1-4673F3599949}"/>
              </a:ext>
            </a:extLst>
          </p:cNvPr>
          <p:cNvSpPr>
            <a:spLocks noGrp="1"/>
          </p:cNvSpPr>
          <p:nvPr>
            <p:ph type="body" sz="quarter" idx="12" hasCustomPrompt="1"/>
          </p:nvPr>
        </p:nvSpPr>
        <p:spPr>
          <a:xfrm>
            <a:off x="1312863" y="1175491"/>
            <a:ext cx="8928100" cy="3870325"/>
          </a:xfrm>
        </p:spPr>
        <p:txBody>
          <a:bodyPr/>
          <a:lstStyle>
            <a:lvl1pPr>
              <a:defRPr sz="2800" b="1"/>
            </a:lvl1pPr>
            <a:lvl2pPr marL="285750" indent="-285750">
              <a:buFont typeface="System Font Regular"/>
              <a:buChar char="–"/>
              <a:defRPr i="1"/>
            </a:lvl2pPr>
          </a:lstStyle>
          <a:p>
            <a:pPr lvl="0"/>
            <a:r>
              <a:rPr lang="en-US" dirty="0"/>
              <a:t>Use this box to include quote. To activate sub-level formatting of attribution, place cursor at beginning of text/line and hit tab or shift tab. Do not modify size or placement of textbox.</a:t>
            </a:r>
          </a:p>
          <a:p>
            <a:pPr lvl="1"/>
            <a:r>
              <a:rPr lang="en-US" dirty="0"/>
              <a:t>Attribution name</a:t>
            </a:r>
          </a:p>
        </p:txBody>
      </p:sp>
    </p:spTree>
    <p:extLst>
      <p:ext uri="{BB962C8B-B14F-4D97-AF65-F5344CB8AC3E}">
        <p14:creationId xmlns:p14="http://schemas.microsoft.com/office/powerpoint/2010/main" val="294589579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ntent + 1/3 Image Lef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0" y="0"/>
            <a:ext cx="43815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4847761" y="457201"/>
            <a:ext cx="6848725" cy="324444"/>
          </a:xfrm>
          <a:noFill/>
        </p:spPr>
        <p:txBody>
          <a:bodyPr vert="horz"/>
          <a:lstStyle>
            <a:lvl1pPr>
              <a:defRPr sz="2000" b="1">
                <a:solidFill>
                  <a:schemeClr val="accent1"/>
                </a:solidFill>
              </a:defRPr>
            </a:lvl1pPr>
          </a:lstStyle>
          <a:p>
            <a:pPr lvl="0"/>
            <a:r>
              <a:rPr lang="en-US" dirty="0"/>
              <a:t>Slide title; Arial 20pt bold, sentence case (1 line)</a:t>
            </a:r>
          </a:p>
        </p:txBody>
      </p:sp>
      <p:sp>
        <p:nvSpPr>
          <p:cNvPr id="4" name="Content Placeholder 3"/>
          <p:cNvSpPr>
            <a:spLocks noGrp="1"/>
          </p:cNvSpPr>
          <p:nvPr>
            <p:ph sz="half" idx="2" hasCustomPrompt="1"/>
          </p:nvPr>
        </p:nvSpPr>
        <p:spPr>
          <a:xfrm>
            <a:off x="4846638" y="1011250"/>
            <a:ext cx="6853236"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52234672"/>
      </p:ext>
    </p:extLst>
  </p:cSld>
  <p:clrMapOvr>
    <a:masterClrMapping/>
  </p:clrMapOvr>
  <p:extLst>
    <p:ext uri="{DCECCB84-F9BA-43D5-87BE-67443E8EF086}">
      <p15:sldGuideLst xmlns:p15="http://schemas.microsoft.com/office/powerpoint/2012/main">
        <p15:guide id="1" pos="2763">
          <p15:clr>
            <a:srgbClr val="FBAE40"/>
          </p15:clr>
        </p15:guide>
        <p15:guide id="2" pos="3053">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Content + 1/2 Image Lef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0" y="0"/>
            <a:ext cx="60960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6553200" y="457201"/>
            <a:ext cx="5143286" cy="324444"/>
          </a:xfrm>
        </p:spPr>
        <p:txBody>
          <a:bodyPr vert="horz"/>
          <a:lstStyle>
            <a:lvl1pPr>
              <a:defRPr sz="2000" b="1">
                <a:solidFill>
                  <a:schemeClr val="accent1"/>
                </a:solidFill>
              </a:defRPr>
            </a:lvl1pPr>
          </a:lstStyle>
          <a:p>
            <a:pPr lvl="0"/>
            <a:r>
              <a:rPr lang="en-US" dirty="0"/>
              <a:t>Slide title; Arial 20pt bold, short (1 line)</a:t>
            </a:r>
          </a:p>
        </p:txBody>
      </p:sp>
      <p:sp>
        <p:nvSpPr>
          <p:cNvPr id="4" name="Content Placeholder 3"/>
          <p:cNvSpPr>
            <a:spLocks noGrp="1"/>
          </p:cNvSpPr>
          <p:nvPr>
            <p:ph sz="half" idx="2" hasCustomPrompt="1"/>
          </p:nvPr>
        </p:nvSpPr>
        <p:spPr>
          <a:xfrm>
            <a:off x="6553200" y="1011250"/>
            <a:ext cx="5146674"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19097546"/>
      </p:ext>
    </p:extLst>
  </p:cSld>
  <p:clrMapOvr>
    <a:masterClrMapping/>
  </p:clrMapOvr>
  <p:extLst>
    <p:ext uri="{DCECCB84-F9BA-43D5-87BE-67443E8EF086}">
      <p15:sldGuideLst xmlns:p15="http://schemas.microsoft.com/office/powerpoint/2012/main">
        <p15:guide id="1" pos="3840">
          <p15:clr>
            <a:srgbClr val="FBAE40"/>
          </p15:clr>
        </p15:guide>
        <p15:guide id="2" pos="412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 + 2/3 Image Lef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0" y="0"/>
            <a:ext cx="7810500" cy="6858000"/>
          </a:xfrm>
          <a:solidFill>
            <a:schemeClr val="bg1">
              <a:lumMod val="95000"/>
            </a:schemeClr>
          </a:solidFill>
        </p:spPr>
        <p:txBody>
          <a:bodyPr/>
          <a:lstStyle>
            <a:lvl1pPr>
              <a:defRPr sz="1200">
                <a:solidFill>
                  <a:srgbClr val="FF0000"/>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8284948" y="457201"/>
            <a:ext cx="3411538" cy="324444"/>
          </a:xfrm>
        </p:spPr>
        <p:txBody>
          <a:bodyPr vert="horz"/>
          <a:lstStyle>
            <a:lvl1pPr>
              <a:defRPr sz="2000" b="1">
                <a:solidFill>
                  <a:schemeClr val="accent1"/>
                </a:solidFill>
              </a:defRPr>
            </a:lvl1pPr>
          </a:lstStyle>
          <a:p>
            <a:pPr lvl="0"/>
            <a:r>
              <a:rPr lang="en-US" dirty="0"/>
              <a:t>Slide title; short (1 line)</a:t>
            </a:r>
          </a:p>
        </p:txBody>
      </p:sp>
      <p:sp>
        <p:nvSpPr>
          <p:cNvPr id="4" name="Content Placeholder 3"/>
          <p:cNvSpPr>
            <a:spLocks noGrp="1"/>
          </p:cNvSpPr>
          <p:nvPr>
            <p:ph sz="half" idx="2" hasCustomPrompt="1"/>
          </p:nvPr>
        </p:nvSpPr>
        <p:spPr>
          <a:xfrm>
            <a:off x="8284948" y="1011250"/>
            <a:ext cx="3411538"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02875700"/>
      </p:ext>
    </p:extLst>
  </p:cSld>
  <p:clrMapOvr>
    <a:masterClrMapping/>
  </p:clrMapOvr>
  <p:extLst>
    <p:ext uri="{DCECCB84-F9BA-43D5-87BE-67443E8EF086}">
      <p15:sldGuideLst xmlns:p15="http://schemas.microsoft.com/office/powerpoint/2012/main">
        <p15:guide id="1" pos="5209">
          <p15:clr>
            <a:srgbClr val="FBAE40"/>
          </p15:clr>
        </p15:guide>
        <p15:guide id="2" pos="4924">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 +1/3 Image Right">
    <p:spTree>
      <p:nvGrpSpPr>
        <p:cNvPr id="1" name=""/>
        <p:cNvGrpSpPr/>
        <p:nvPr/>
      </p:nvGrpSpPr>
      <p:grpSpPr>
        <a:xfrm>
          <a:off x="0" y="0"/>
          <a:ext cx="0" cy="0"/>
          <a:chOff x="0" y="0"/>
          <a:chExt cx="0" cy="0"/>
        </a:xfrm>
      </p:grpSpPr>
      <p:sp>
        <p:nvSpPr>
          <p:cNvPr id="12" name="Picture Placeholder 12">
            <a:extLst>
              <a:ext uri="{FF2B5EF4-FFF2-40B4-BE49-F238E27FC236}">
                <a16:creationId xmlns:a16="http://schemas.microsoft.com/office/drawing/2014/main" id="{D5400A53-EBCB-4C45-958D-0060F4E1C0AE}"/>
              </a:ext>
            </a:extLst>
          </p:cNvPr>
          <p:cNvSpPr>
            <a:spLocks noGrp="1"/>
          </p:cNvSpPr>
          <p:nvPr>
            <p:ph type="pic" sz="quarter" idx="14"/>
          </p:nvPr>
        </p:nvSpPr>
        <p:spPr>
          <a:xfrm>
            <a:off x="7810500" y="0"/>
            <a:ext cx="4381500" cy="6858000"/>
          </a:xfrm>
          <a:solidFill>
            <a:schemeClr val="bg1">
              <a:lumMod val="95000"/>
            </a:schemeClr>
          </a:solidFill>
        </p:spPr>
        <p:txBody>
          <a:bodyPr/>
          <a:lstStyle>
            <a:lvl1pPr>
              <a:defRPr sz="1200">
                <a:solidFill>
                  <a:srgbClr val="FF0000"/>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1" name="Footnote Placeholder">
            <a:extLst>
              <a:ext uri="{FF2B5EF4-FFF2-40B4-BE49-F238E27FC236}">
                <a16:creationId xmlns:a16="http://schemas.microsoft.com/office/drawing/2014/main" id="{F20ACA8E-6072-8043-8EC3-B4E2FDB9B091}"/>
              </a:ext>
            </a:extLst>
          </p:cNvPr>
          <p:cNvSpPr>
            <a:spLocks noGrp="1"/>
          </p:cNvSpPr>
          <p:nvPr>
            <p:ph type="body" sz="half" idx="13"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1"/>
            <a:ext cx="6829689" cy="324444"/>
          </a:xfrm>
        </p:spPr>
        <p:txBody>
          <a:bodyPr vert="horz"/>
          <a:lstStyle>
            <a:lvl1pPr>
              <a:defRPr sz="2000" b="1">
                <a:solidFill>
                  <a:schemeClr val="accent1"/>
                </a:solidFill>
              </a:defRPr>
            </a:lvl1pPr>
          </a:lstStyle>
          <a:p>
            <a:pPr lvl="0"/>
            <a:r>
              <a:rPr lang="en-US" dirty="0"/>
              <a:t>Slide title; Arial 20pt bold, sentence case (1 line)</a:t>
            </a:r>
          </a:p>
        </p:txBody>
      </p:sp>
      <p:sp>
        <p:nvSpPr>
          <p:cNvPr id="4" name="Content Placeholder 3"/>
          <p:cNvSpPr>
            <a:spLocks noGrp="1"/>
          </p:cNvSpPr>
          <p:nvPr>
            <p:ph sz="half" idx="2" hasCustomPrompt="1"/>
          </p:nvPr>
        </p:nvSpPr>
        <p:spPr>
          <a:xfrm>
            <a:off x="512064" y="1011250"/>
            <a:ext cx="6834188"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49587521"/>
      </p:ext>
    </p:extLst>
  </p:cSld>
  <p:clrMapOvr>
    <a:masterClrMapping/>
  </p:clrMapOvr>
  <p:extLst>
    <p:ext uri="{DCECCB84-F9BA-43D5-87BE-67443E8EF086}">
      <p15:sldGuideLst xmlns:p15="http://schemas.microsoft.com/office/powerpoint/2012/main">
        <p15:guide id="1" pos="4914">
          <p15:clr>
            <a:srgbClr val="FBAE40"/>
          </p15:clr>
        </p15:guide>
        <p15:guide id="2" pos="4623">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Content + 1/2 Image R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6096000" y="0"/>
            <a:ext cx="60960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1" name="Footnote Placeholder">
            <a:extLst>
              <a:ext uri="{FF2B5EF4-FFF2-40B4-BE49-F238E27FC236}">
                <a16:creationId xmlns:a16="http://schemas.microsoft.com/office/drawing/2014/main" id="{F20ACA8E-6072-8043-8EC3-B4E2FDB9B091}"/>
              </a:ext>
            </a:extLst>
          </p:cNvPr>
          <p:cNvSpPr>
            <a:spLocks noGrp="1"/>
          </p:cNvSpPr>
          <p:nvPr>
            <p:ph type="body" sz="half" idx="13" hasCustomPrompt="1"/>
          </p:nvPr>
        </p:nvSpPr>
        <p:spPr>
          <a:xfrm>
            <a:off x="512064" y="6374651"/>
            <a:ext cx="5152597"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1"/>
            <a:ext cx="5143286" cy="324444"/>
          </a:xfrm>
        </p:spPr>
        <p:txBody>
          <a:bodyPr vert="horz"/>
          <a:lstStyle>
            <a:lvl1pPr>
              <a:defRPr sz="2000" b="1">
                <a:solidFill>
                  <a:schemeClr val="accent1"/>
                </a:solidFill>
              </a:defRPr>
            </a:lvl1pPr>
          </a:lstStyle>
          <a:p>
            <a:pPr lvl="0"/>
            <a:r>
              <a:rPr lang="en-US" dirty="0"/>
              <a:t>Slide title; Arial 20pt bold, short (1 line)</a:t>
            </a:r>
          </a:p>
        </p:txBody>
      </p:sp>
      <p:sp>
        <p:nvSpPr>
          <p:cNvPr id="4" name="Content Placeholder 3"/>
          <p:cNvSpPr>
            <a:spLocks noGrp="1"/>
          </p:cNvSpPr>
          <p:nvPr>
            <p:ph sz="half" idx="2" hasCustomPrompt="1"/>
          </p:nvPr>
        </p:nvSpPr>
        <p:spPr>
          <a:xfrm>
            <a:off x="512064" y="1011250"/>
            <a:ext cx="5146674"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24022555"/>
      </p:ext>
    </p:extLst>
  </p:cSld>
  <p:clrMapOvr>
    <a:masterClrMapping/>
  </p:clrMapOvr>
  <p:extLst>
    <p:ext uri="{DCECCB84-F9BA-43D5-87BE-67443E8EF086}">
      <p15:sldGuideLst xmlns:p15="http://schemas.microsoft.com/office/powerpoint/2012/main">
        <p15:guide id="1" pos="3840">
          <p15:clr>
            <a:srgbClr val="FBAE40"/>
          </p15:clr>
        </p15:guide>
        <p15:guide id="2" pos="3552">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ntent + 2/3 Image R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4381500" y="0"/>
            <a:ext cx="78105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1" name="Footnote Placeholder">
            <a:extLst>
              <a:ext uri="{FF2B5EF4-FFF2-40B4-BE49-F238E27FC236}">
                <a16:creationId xmlns:a16="http://schemas.microsoft.com/office/drawing/2014/main" id="{F20ACA8E-6072-8043-8EC3-B4E2FDB9B091}"/>
              </a:ext>
            </a:extLst>
          </p:cNvPr>
          <p:cNvSpPr>
            <a:spLocks noGrp="1"/>
          </p:cNvSpPr>
          <p:nvPr>
            <p:ph type="body" sz="half" idx="13" hasCustomPrompt="1"/>
          </p:nvPr>
        </p:nvSpPr>
        <p:spPr>
          <a:xfrm>
            <a:off x="512064" y="6374651"/>
            <a:ext cx="3411539"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1"/>
            <a:ext cx="3411538" cy="324444"/>
          </a:xfrm>
        </p:spPr>
        <p:txBody>
          <a:bodyPr vert="horz"/>
          <a:lstStyle>
            <a:lvl1pPr>
              <a:defRPr sz="2000" b="1">
                <a:solidFill>
                  <a:schemeClr val="accent1"/>
                </a:solidFill>
              </a:defRPr>
            </a:lvl1pPr>
          </a:lstStyle>
          <a:p>
            <a:pPr lvl="0"/>
            <a:r>
              <a:rPr lang="en-US" dirty="0"/>
              <a:t>Slide title; short (1 line)</a:t>
            </a:r>
          </a:p>
        </p:txBody>
      </p:sp>
      <p:sp>
        <p:nvSpPr>
          <p:cNvPr id="4" name="Content Placeholder 3"/>
          <p:cNvSpPr>
            <a:spLocks noGrp="1"/>
          </p:cNvSpPr>
          <p:nvPr>
            <p:ph sz="half" idx="2" hasCustomPrompt="1"/>
          </p:nvPr>
        </p:nvSpPr>
        <p:spPr>
          <a:xfrm>
            <a:off x="512064" y="1011250"/>
            <a:ext cx="3411538"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8979163"/>
      </p:ext>
    </p:extLst>
  </p:cSld>
  <p:clrMapOvr>
    <a:masterClrMapping/>
  </p:clrMapOvr>
  <p:extLst>
    <p:ext uri="{DCECCB84-F9BA-43D5-87BE-67443E8EF086}">
      <p15:sldGuideLst xmlns:p15="http://schemas.microsoft.com/office/powerpoint/2012/main">
        <p15:guide id="1" pos="2467">
          <p15:clr>
            <a:srgbClr val="FBAE40"/>
          </p15:clr>
        </p15:guide>
        <p15:guide id="2" pos="2753">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Back P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2690337"/>
            <a:ext cx="12191999" cy="1477328"/>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End Page layouts</a:t>
            </a:r>
          </a:p>
        </p:txBody>
      </p:sp>
    </p:spTree>
    <p:extLst>
      <p:ext uri="{BB962C8B-B14F-4D97-AF65-F5344CB8AC3E}">
        <p14:creationId xmlns:p14="http://schemas.microsoft.com/office/powerpoint/2010/main" val="320706772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Back Pag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EF54C89-1860-6542-AE68-06CDC85D9DE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481346" y="2628924"/>
            <a:ext cx="3229307" cy="1600150"/>
          </a:xfrm>
          <a:prstGeom prst="rect">
            <a:avLst/>
          </a:prstGeom>
        </p:spPr>
      </p:pic>
    </p:spTree>
    <p:extLst>
      <p:ext uri="{BB962C8B-B14F-4D97-AF65-F5344CB8AC3E}">
        <p14:creationId xmlns:p14="http://schemas.microsoft.com/office/powerpoint/2010/main" val="141663893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Back Page Blue">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EF54C89-1860-6542-AE68-06CDC85D9DE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481346" y="2628924"/>
            <a:ext cx="3229307" cy="1600151"/>
          </a:xfrm>
          <a:prstGeom prst="rect">
            <a:avLst/>
          </a:prstGeom>
        </p:spPr>
      </p:pic>
    </p:spTree>
    <p:extLst>
      <p:ext uri="{BB962C8B-B14F-4D97-AF65-F5344CB8AC3E}">
        <p14:creationId xmlns:p14="http://schemas.microsoft.com/office/powerpoint/2010/main" val="333421175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Warning">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B7B9861-91E9-C742-B7A7-F218EA9C1F1A}"/>
              </a:ext>
            </a:extLst>
          </p:cNvPr>
          <p:cNvSpPr txBox="1"/>
          <p:nvPr/>
        </p:nvSpPr>
        <p:spPr>
          <a:xfrm>
            <a:off x="2" y="1651589"/>
            <a:ext cx="12191999" cy="3554819"/>
          </a:xfrm>
          <a:prstGeom prst="rect">
            <a:avLst/>
          </a:prstGeom>
          <a:noFill/>
        </p:spPr>
        <p:txBody>
          <a:bodyPr wrap="square" lIns="337500" rIns="337500" rtlCol="0" anchor="ctr" anchorCtr="0">
            <a:spAutoFit/>
          </a:bodyPr>
          <a:lstStyle/>
          <a:p>
            <a:pPr algn="ctr"/>
            <a:r>
              <a:rPr lang="en-CA" sz="7500" noProof="0" dirty="0">
                <a:solidFill>
                  <a:schemeClr val="tx2"/>
                </a:solidFill>
                <a:latin typeface="+mj-lt"/>
              </a:rPr>
              <a:t>Do not use any of the layouts that may appear after this one</a:t>
            </a:r>
          </a:p>
        </p:txBody>
      </p:sp>
    </p:spTree>
    <p:extLst>
      <p:ext uri="{BB962C8B-B14F-4D97-AF65-F5344CB8AC3E}">
        <p14:creationId xmlns:p14="http://schemas.microsoft.com/office/powerpoint/2010/main" val="2602059868"/>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1241741" y="6378130"/>
            <a:ext cx="454745" cy="245223"/>
          </a:xfrm>
          <a:prstGeom prst="rect">
            <a:avLst/>
          </a:prstGeom>
        </p:spPr>
        <p:txBody>
          <a:bodyPr lIns="0" tIns="0" rIns="0" bIns="0" anchor="b"/>
          <a:lstStyle>
            <a:lvl1pPr algn="r">
              <a:defRPr lang="en-US" sz="1000" smtClean="0">
                <a:solidFill>
                  <a:schemeClr val="bg1">
                    <a:lumMod val="75000"/>
                  </a:schemeClr>
                </a:solidFill>
                <a:latin typeface="+mn-lt"/>
                <a:cs typeface="Arial" panose="020B0604020202020204" pitchFamily="34" charset="0"/>
              </a:defRPr>
            </a:lvl1pPr>
          </a:lstStyle>
          <a:p>
            <a:fld id="{523A240F-EAFE-E84F-B44C-6D7A08E0E409}" type="slidenum">
              <a:rPr lang="en-US" smtClean="0"/>
              <a:t>‹#›</a:t>
            </a:fld>
            <a:endParaRPr lang="en-US"/>
          </a:p>
        </p:txBody>
      </p:sp>
      <p:sp>
        <p:nvSpPr>
          <p:cNvPr id="5" name="Footer Placeholder 4"/>
          <p:cNvSpPr>
            <a:spLocks noGrp="1"/>
          </p:cNvSpPr>
          <p:nvPr>
            <p:ph type="ftr" sz="quarter" idx="3"/>
          </p:nvPr>
        </p:nvSpPr>
        <p:spPr>
          <a:xfrm>
            <a:off x="8839199" y="6378130"/>
            <a:ext cx="2241177" cy="245223"/>
          </a:xfrm>
          <a:prstGeom prst="rect">
            <a:avLst/>
          </a:prstGeom>
        </p:spPr>
        <p:txBody>
          <a:bodyPr lIns="0" tIns="0" rIns="0" bIns="0" anchor="b"/>
          <a:lstStyle>
            <a:lvl1pPr algn="r">
              <a:defRPr lang="en-US" sz="1000" smtClean="0">
                <a:solidFill>
                  <a:schemeClr val="bg1">
                    <a:lumMod val="75000"/>
                  </a:schemeClr>
                </a:solidFill>
                <a:latin typeface="+mn-lt"/>
                <a:cs typeface="Arial" panose="020B0604020202020204" pitchFamily="34" charset="0"/>
              </a:defRPr>
            </a:lvl1pPr>
          </a:lstStyle>
          <a:p>
            <a:r>
              <a:rPr lang="en-US"/>
              <a:t>MSK Confidential — do not distribute</a:t>
            </a:r>
          </a:p>
        </p:txBody>
      </p:sp>
      <p:sp>
        <p:nvSpPr>
          <p:cNvPr id="2" name="Title Placeholder 1"/>
          <p:cNvSpPr>
            <a:spLocks noGrp="1"/>
          </p:cNvSpPr>
          <p:nvPr>
            <p:ph type="title"/>
          </p:nvPr>
        </p:nvSpPr>
        <p:spPr>
          <a:xfrm>
            <a:off x="512063" y="457201"/>
            <a:ext cx="11184423" cy="91440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512064" y="1700783"/>
            <a:ext cx="11184422" cy="440474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611884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Lst>
  <p:hf hdr="0" dt="0"/>
  <p:txStyles>
    <p:titleStyle>
      <a:lvl1pPr algn="l" defTabSz="914400" rtl="0" eaLnBrk="1" latinLnBrk="0" hangingPunct="1">
        <a:lnSpc>
          <a:spcPct val="90000"/>
        </a:lnSpc>
        <a:spcBef>
          <a:spcPct val="0"/>
        </a:spcBef>
        <a:buNone/>
        <a:defRPr sz="32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rgbClr val="272524"/>
          </a:solidFill>
          <a:latin typeface="+mn-lt"/>
          <a:ea typeface="+mn-ea"/>
          <a:cs typeface="+mn-cs"/>
        </a:defRPr>
      </a:lvl1pPr>
      <a:lvl2pPr marL="228600" indent="-228600" algn="l" defTabSz="914400" rtl="0" eaLnBrk="1" latinLnBrk="0" hangingPunct="1">
        <a:lnSpc>
          <a:spcPct val="100000"/>
        </a:lnSpc>
        <a:spcBef>
          <a:spcPts val="0"/>
        </a:spcBef>
        <a:spcAft>
          <a:spcPts val="600"/>
        </a:spcAft>
        <a:buFont typeface="Arial" panose="020B0604020202020204" pitchFamily="34" charset="0"/>
        <a:buChar char="•"/>
        <a:tabLst/>
        <a:defRPr sz="1800" kern="1200">
          <a:solidFill>
            <a:srgbClr val="272524"/>
          </a:solidFill>
          <a:latin typeface="+mn-lt"/>
          <a:ea typeface="+mn-ea"/>
          <a:cs typeface="+mn-cs"/>
        </a:defRPr>
      </a:lvl2pPr>
      <a:lvl3pPr marL="457200" indent="-228600" algn="l" defTabSz="914400" rtl="0" eaLnBrk="1" latinLnBrk="0" hangingPunct="1">
        <a:lnSpc>
          <a:spcPct val="100000"/>
        </a:lnSpc>
        <a:spcBef>
          <a:spcPts val="0"/>
        </a:spcBef>
        <a:spcAft>
          <a:spcPts val="600"/>
        </a:spcAft>
        <a:buFont typeface="System Font Regular"/>
        <a:buChar char="–"/>
        <a:tabLst/>
        <a:defRPr sz="1800" kern="1200">
          <a:solidFill>
            <a:srgbClr val="272524"/>
          </a:solidFill>
          <a:latin typeface="+mn-lt"/>
          <a:ea typeface="+mn-ea"/>
          <a:cs typeface="+mn-cs"/>
        </a:defRPr>
      </a:lvl3pPr>
      <a:lvl4pPr marL="685800" indent="-228600" algn="l" defTabSz="914400" rtl="0" eaLnBrk="1" latinLnBrk="0" hangingPunct="1">
        <a:lnSpc>
          <a:spcPct val="100000"/>
        </a:lnSpc>
        <a:spcBef>
          <a:spcPts val="0"/>
        </a:spcBef>
        <a:spcAft>
          <a:spcPts val="600"/>
        </a:spcAft>
        <a:buFont typeface="Arial" panose="020B0604020202020204" pitchFamily="34" charset="0"/>
        <a:buChar char="•"/>
        <a:tabLst/>
        <a:defRPr sz="1800" kern="1200">
          <a:solidFill>
            <a:srgbClr val="272524"/>
          </a:solidFill>
          <a:latin typeface="+mn-lt"/>
          <a:ea typeface="+mn-ea"/>
          <a:cs typeface="+mn-cs"/>
        </a:defRPr>
      </a:lvl4pPr>
      <a:lvl5pPr marL="914400" indent="-228600" algn="l" defTabSz="914400" rtl="0" eaLnBrk="1" latinLnBrk="0" hangingPunct="1">
        <a:lnSpc>
          <a:spcPct val="100000"/>
        </a:lnSpc>
        <a:spcBef>
          <a:spcPts val="0"/>
        </a:spcBef>
        <a:spcAft>
          <a:spcPts val="600"/>
        </a:spcAft>
        <a:buFont typeface="System Font Regular"/>
        <a:buChar char="–"/>
        <a:tabLst/>
        <a:defRPr sz="1800" kern="1200">
          <a:solidFill>
            <a:srgbClr val="27252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p15:clr>
            <a:srgbClr val="F26B43"/>
          </p15:clr>
        </p15:guide>
        <p15:guide id="2" pos="318">
          <p15:clr>
            <a:srgbClr val="F26B43"/>
          </p15:clr>
        </p15:guide>
        <p15:guide id="3" pos="7370">
          <p15:clr>
            <a:srgbClr val="F26B43"/>
          </p15:clr>
        </p15:guide>
        <p15:guide id="4" orient="horz" pos="4170">
          <p15:clr>
            <a:srgbClr val="F26B43"/>
          </p15:clr>
        </p15:guide>
        <p15:guide id="5" orient="horz" pos="864">
          <p15:clr>
            <a:srgbClr val="F26B43"/>
          </p15:clr>
        </p15:guide>
        <p15:guide id="6" orient="horz" pos="1070">
          <p15:clr>
            <a:srgbClr val="F26B43"/>
          </p15:clr>
        </p15:guide>
        <p15:guide id="7" orient="horz" pos="38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18" Type="http://schemas.openxmlformats.org/officeDocument/2006/relationships/diagramData" Target="../diagrams/data4.xml"/><Relationship Id="rId3" Type="http://schemas.openxmlformats.org/officeDocument/2006/relationships/diagramData" Target="../diagrams/data1.xml"/><Relationship Id="rId21" Type="http://schemas.openxmlformats.org/officeDocument/2006/relationships/diagramColors" Target="../diagrams/colors4.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2.xml"/><Relationship Id="rId16" Type="http://schemas.openxmlformats.org/officeDocument/2006/relationships/diagramColors" Target="../diagrams/colors3.xml"/><Relationship Id="rId20" Type="http://schemas.openxmlformats.org/officeDocument/2006/relationships/diagramQuickStyle" Target="../diagrams/quickStyle4.xml"/><Relationship Id="rId1" Type="http://schemas.openxmlformats.org/officeDocument/2006/relationships/slideLayout" Target="../slideLayouts/slideLayout18.xml"/><Relationship Id="rId6" Type="http://schemas.openxmlformats.org/officeDocument/2006/relationships/diagramColors" Target="../diagrams/colors1.xml"/><Relationship Id="rId11" Type="http://schemas.openxmlformats.org/officeDocument/2006/relationships/diagramColors" Target="../diagrams/colors2.xml"/><Relationship Id="rId24" Type="http://schemas.openxmlformats.org/officeDocument/2006/relationships/image" Target="../media/image12.png"/><Relationship Id="rId5" Type="http://schemas.openxmlformats.org/officeDocument/2006/relationships/diagramQuickStyle" Target="../diagrams/quickStyle1.xml"/><Relationship Id="rId15" Type="http://schemas.openxmlformats.org/officeDocument/2006/relationships/diagramQuickStyle" Target="../diagrams/quickStyle3.xml"/><Relationship Id="rId23" Type="http://schemas.openxmlformats.org/officeDocument/2006/relationships/image" Target="../media/image11.jpeg"/><Relationship Id="rId10" Type="http://schemas.openxmlformats.org/officeDocument/2006/relationships/diagramQuickStyle" Target="../diagrams/quickStyle2.xml"/><Relationship Id="rId19" Type="http://schemas.openxmlformats.org/officeDocument/2006/relationships/diagramLayout" Target="../diagrams/layout4.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 Id="rId22" Type="http://schemas.microsoft.com/office/2007/relationships/diagramDrawing" Target="../diagrams/drawing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hyperlink" Target="https://www.bing.com/images/search?view=detailV2&amp;ccid=yLgu3B9G&amp;id=218CC952B39F644F743E790A3C0B1CCF572D3E8F&amp;thid=OIP.yLgu3B9Gi0Aehh7wNjPSxwHaEK&amp;mediaurl=https%3A%2F%2Fi.ytimg.com%2Fvi%2F0OwLCtLZjwE%2Fmaxresdefault.jpg&amp;cdnurl=https%3A%2F%2Fth.bing.com%2Fth%2Fid%2FR.c8b82edc1f468b401e861ef03633d2c7%3Frik%3Djz4tV88cCzwKeQ%26pid%3DImgRaw%26r%3D0&amp;exph=720&amp;expw=1280&amp;q=man+going+into+surgery+anesthesia&amp;FORM=IRPRST&amp;ck=CBD44F3E03CD9C0C7385105D97646FA3&amp;selectedIndex=12&amp;itb=0&amp;cw=1564&amp;ch=752&amp;ajaxhist=0&amp;ajaxserp=0" TargetMode="External"/><Relationship Id="rId2" Type="http://schemas.openxmlformats.org/officeDocument/2006/relationships/notesSlide" Target="../notesSlides/notesSlide4.xml"/><Relationship Id="rId1" Type="http://schemas.openxmlformats.org/officeDocument/2006/relationships/slideLayout" Target="../slideLayouts/slideLayout20.xml"/><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hyperlink" Target="https://doi.org/10.1093/bja/aer195" TargetMode="Externa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170.png"/><Relationship Id="rId7" Type="http://schemas.openxmlformats.org/officeDocument/2006/relationships/image" Target="../media/image21.png"/><Relationship Id="rId2" Type="http://schemas.openxmlformats.org/officeDocument/2006/relationships/image" Target="../media/image160.png"/><Relationship Id="rId1" Type="http://schemas.openxmlformats.org/officeDocument/2006/relationships/slideLayout" Target="../slideLayouts/slideLayout20.xml"/><Relationship Id="rId6" Type="http://schemas.openxmlformats.org/officeDocument/2006/relationships/image" Target="../media/image20.png"/><Relationship Id="rId5" Type="http://schemas.openxmlformats.org/officeDocument/2006/relationships/image" Target="../media/image190.png"/><Relationship Id="rId4" Type="http://schemas.openxmlformats.org/officeDocument/2006/relationships/image" Target="../media/image180.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0.xml"/><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F019372-61BC-2EDC-FCA3-BFFCC09211E6}"/>
              </a:ext>
            </a:extLst>
          </p:cNvPr>
          <p:cNvSpPr>
            <a:spLocks noGrp="1"/>
          </p:cNvSpPr>
          <p:nvPr>
            <p:ph type="ftr" sz="quarter" idx="10"/>
          </p:nvPr>
        </p:nvSpPr>
        <p:spPr/>
        <p:txBody>
          <a:bodyPr/>
          <a:lstStyle/>
          <a:p>
            <a:r>
              <a:rPr lang="en-US"/>
              <a:t>MSK Confidential — do not distribute</a:t>
            </a:r>
          </a:p>
        </p:txBody>
      </p:sp>
      <p:sp>
        <p:nvSpPr>
          <p:cNvPr id="3" name="Title 2">
            <a:extLst>
              <a:ext uri="{FF2B5EF4-FFF2-40B4-BE49-F238E27FC236}">
                <a16:creationId xmlns:a16="http://schemas.microsoft.com/office/drawing/2014/main" id="{3DD20320-9BF0-B541-60ED-CEA2F498D19D}"/>
              </a:ext>
            </a:extLst>
          </p:cNvPr>
          <p:cNvSpPr>
            <a:spLocks noGrp="1"/>
          </p:cNvSpPr>
          <p:nvPr>
            <p:ph type="ctrTitle"/>
          </p:nvPr>
        </p:nvSpPr>
        <p:spPr>
          <a:xfrm>
            <a:off x="504825" y="441702"/>
            <a:ext cx="10413731" cy="1813301"/>
          </a:xfrm>
        </p:spPr>
        <p:txBody>
          <a:bodyPr/>
          <a:lstStyle/>
          <a:p>
            <a:pPr marL="0" marR="0">
              <a:lnSpc>
                <a:spcPct val="107000"/>
              </a:lnSpc>
              <a:spcBef>
                <a:spcPts val="0"/>
              </a:spcBef>
              <a:spcAft>
                <a:spcPts val="800"/>
              </a:spcAft>
            </a:pPr>
            <a:r>
              <a:rPr lang="en-US" sz="3200" b="1" kern="100" dirty="0">
                <a:effectLst/>
                <a:ea typeface="Aptos" panose="020B0004020202020204" pitchFamily="34" charset="0"/>
                <a:cs typeface="Times New Roman" panose="02020603050405020304" pitchFamily="18" charset="0"/>
              </a:rPr>
              <a:t>When Stratified Randomization goes wrong: Analyzing postoperative pain with deep neuromuscular blockade in robot-assisted prostatectomies</a:t>
            </a:r>
            <a:endParaRPr lang="en-US" sz="3200" kern="100" dirty="0">
              <a:effectLst/>
              <a:ea typeface="Aptos" panose="020B0004020202020204" pitchFamily="34" charset="0"/>
              <a:cs typeface="Times New Roman" panose="02020603050405020304" pitchFamily="18" charset="0"/>
            </a:endParaRPr>
          </a:p>
        </p:txBody>
      </p:sp>
      <p:sp>
        <p:nvSpPr>
          <p:cNvPr id="4" name="Text Placeholder 3">
            <a:extLst>
              <a:ext uri="{FF2B5EF4-FFF2-40B4-BE49-F238E27FC236}">
                <a16:creationId xmlns:a16="http://schemas.microsoft.com/office/drawing/2014/main" id="{419D10C9-6E56-EB86-606C-5EFF164F766C}"/>
              </a:ext>
            </a:extLst>
          </p:cNvPr>
          <p:cNvSpPr>
            <a:spLocks noGrp="1"/>
          </p:cNvSpPr>
          <p:nvPr>
            <p:ph type="body" sz="quarter" idx="12"/>
          </p:nvPr>
        </p:nvSpPr>
        <p:spPr>
          <a:xfrm>
            <a:off x="504823" y="4730857"/>
            <a:ext cx="1130246" cy="457200"/>
          </a:xfrm>
        </p:spPr>
        <p:txBody>
          <a:bodyPr/>
          <a:lstStyle/>
          <a:p>
            <a:r>
              <a:rPr lang="en-US" dirty="0"/>
              <a:t>Aug 7, 2025</a:t>
            </a:r>
          </a:p>
          <a:p>
            <a:endParaRPr lang="en-US" dirty="0"/>
          </a:p>
        </p:txBody>
      </p:sp>
      <p:sp>
        <p:nvSpPr>
          <p:cNvPr id="5" name="Text Placeholder 4">
            <a:extLst>
              <a:ext uri="{FF2B5EF4-FFF2-40B4-BE49-F238E27FC236}">
                <a16:creationId xmlns:a16="http://schemas.microsoft.com/office/drawing/2014/main" id="{AFC307E9-C062-967B-D7E3-28A682E326E1}"/>
              </a:ext>
            </a:extLst>
          </p:cNvPr>
          <p:cNvSpPr>
            <a:spLocks noGrp="1"/>
          </p:cNvSpPr>
          <p:nvPr>
            <p:ph type="body" sz="quarter" idx="13"/>
          </p:nvPr>
        </p:nvSpPr>
        <p:spPr>
          <a:xfrm>
            <a:off x="504823" y="2383802"/>
            <a:ext cx="4439133" cy="2143888"/>
          </a:xfrm>
        </p:spPr>
        <p:txBody>
          <a:bodyPr/>
          <a:lstStyle/>
          <a:p>
            <a:r>
              <a:rPr lang="en-US" sz="2800" b="1" dirty="0"/>
              <a:t>Daniel Jang</a:t>
            </a:r>
          </a:p>
          <a:p>
            <a:r>
              <a:rPr lang="en-US" sz="1600" dirty="0"/>
              <a:t>Amherst College</a:t>
            </a:r>
          </a:p>
          <a:p>
            <a:endParaRPr lang="en-US" sz="1600" dirty="0"/>
          </a:p>
          <a:p>
            <a:r>
              <a:rPr lang="en-US" sz="2800" b="1" dirty="0"/>
              <a:t>Mentor: Dr. Kay See Tan</a:t>
            </a:r>
          </a:p>
          <a:p>
            <a:r>
              <a:rPr lang="en-US" sz="1600" dirty="0"/>
              <a:t>Dept of Epidemiology and Biostatistics</a:t>
            </a:r>
          </a:p>
        </p:txBody>
      </p:sp>
      <p:pic>
        <p:nvPicPr>
          <p:cNvPr id="1026" name="Picture 2" descr="Current Clinical Trials | Division of Gastroenterology">
            <a:extLst>
              <a:ext uri="{FF2B5EF4-FFF2-40B4-BE49-F238E27FC236}">
                <a16:creationId xmlns:a16="http://schemas.microsoft.com/office/drawing/2014/main" id="{A2B68594-7288-5646-D8B4-06C29E5952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5236" y="2335401"/>
            <a:ext cx="5450722" cy="3317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584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C920B0-A451-3782-423C-5B270218DFAF}"/>
              </a:ext>
            </a:extLst>
          </p:cNvPr>
          <p:cNvSpPr>
            <a:spLocks noGrp="1"/>
          </p:cNvSpPr>
          <p:nvPr>
            <p:ph type="sldNum" sz="quarter" idx="11"/>
          </p:nvPr>
        </p:nvSpPr>
        <p:spPr/>
        <p:txBody>
          <a:bodyPr/>
          <a:lstStyle/>
          <a:p>
            <a:fld id="{523A240F-EAFE-E84F-B44C-6D7A08E0E409}" type="slidenum">
              <a:rPr lang="en-US" smtClean="0"/>
              <a:t>2</a:t>
            </a:fld>
            <a:endParaRPr lang="en-US"/>
          </a:p>
        </p:txBody>
      </p:sp>
      <p:sp>
        <p:nvSpPr>
          <p:cNvPr id="3" name="Footer Placeholder 2">
            <a:extLst>
              <a:ext uri="{FF2B5EF4-FFF2-40B4-BE49-F238E27FC236}">
                <a16:creationId xmlns:a16="http://schemas.microsoft.com/office/drawing/2014/main" id="{81F61540-F21E-D4EC-F3F0-B5FCC06F654B}"/>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5A37AFAD-F65C-18B6-E2E1-612BCF416CFC}"/>
              </a:ext>
            </a:extLst>
          </p:cNvPr>
          <p:cNvSpPr>
            <a:spLocks noGrp="1"/>
          </p:cNvSpPr>
          <p:nvPr>
            <p:ph type="body" sz="half" idx="12"/>
          </p:nvPr>
        </p:nvSpPr>
        <p:spPr/>
        <p:txBody>
          <a:bodyPr/>
          <a:lstStyle/>
          <a:p>
            <a:endParaRPr lang="en-US"/>
          </a:p>
        </p:txBody>
      </p:sp>
      <p:sp>
        <p:nvSpPr>
          <p:cNvPr id="5" name="Title 4">
            <a:extLst>
              <a:ext uri="{FF2B5EF4-FFF2-40B4-BE49-F238E27FC236}">
                <a16:creationId xmlns:a16="http://schemas.microsoft.com/office/drawing/2014/main" id="{D6528746-7C98-50A4-AE59-69A1F2050E15}"/>
              </a:ext>
            </a:extLst>
          </p:cNvPr>
          <p:cNvSpPr>
            <a:spLocks noGrp="1"/>
          </p:cNvSpPr>
          <p:nvPr>
            <p:ph type="title"/>
          </p:nvPr>
        </p:nvSpPr>
        <p:spPr/>
        <p:txBody>
          <a:bodyPr/>
          <a:lstStyle/>
          <a:p>
            <a:r>
              <a:rPr lang="en-US" sz="2800" dirty="0"/>
              <a:t>We addressed a specific issue in stratified randomization errors in the context of ordinal logistic regression for an MSK clinical trial </a:t>
            </a:r>
          </a:p>
        </p:txBody>
      </p:sp>
      <p:graphicFrame>
        <p:nvGraphicFramePr>
          <p:cNvPr id="11" name="Content Placeholder 10">
            <a:extLst>
              <a:ext uri="{FF2B5EF4-FFF2-40B4-BE49-F238E27FC236}">
                <a16:creationId xmlns:a16="http://schemas.microsoft.com/office/drawing/2014/main" id="{493C885D-4FCA-B69D-36D8-73BB89DAAA81}"/>
              </a:ext>
            </a:extLst>
          </p:cNvPr>
          <p:cNvGraphicFramePr>
            <a:graphicFrameLocks noGrp="1"/>
          </p:cNvGraphicFramePr>
          <p:nvPr>
            <p:ph sz="half" idx="1"/>
            <p:extLst>
              <p:ext uri="{D42A27DB-BD31-4B8C-83A1-F6EECF244321}">
                <p14:modId xmlns:p14="http://schemas.microsoft.com/office/powerpoint/2010/main" val="3453083867"/>
              </p:ext>
            </p:extLst>
          </p:nvPr>
        </p:nvGraphicFramePr>
        <p:xfrm>
          <a:off x="985624" y="1706932"/>
          <a:ext cx="2330296" cy="5873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2" name="Content Placeholder 11">
            <a:extLst>
              <a:ext uri="{FF2B5EF4-FFF2-40B4-BE49-F238E27FC236}">
                <a16:creationId xmlns:a16="http://schemas.microsoft.com/office/drawing/2014/main" id="{F6192D74-E1F7-B92F-EF3E-1DAE5B312A21}"/>
              </a:ext>
            </a:extLst>
          </p:cNvPr>
          <p:cNvGraphicFramePr>
            <a:graphicFrameLocks noGrp="1"/>
          </p:cNvGraphicFramePr>
          <p:nvPr>
            <p:ph sz="half" idx="2"/>
            <p:extLst>
              <p:ext uri="{D42A27DB-BD31-4B8C-83A1-F6EECF244321}">
                <p14:modId xmlns:p14="http://schemas.microsoft.com/office/powerpoint/2010/main" val="3972321182"/>
              </p:ext>
            </p:extLst>
          </p:nvPr>
        </p:nvGraphicFramePr>
        <p:xfrm>
          <a:off x="3586095" y="2725390"/>
          <a:ext cx="2771565" cy="58737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3" name="Content Placeholder 12">
            <a:extLst>
              <a:ext uri="{FF2B5EF4-FFF2-40B4-BE49-F238E27FC236}">
                <a16:creationId xmlns:a16="http://schemas.microsoft.com/office/drawing/2014/main" id="{CEDA8F37-F6D1-707B-83B1-A09E3A1BC4DE}"/>
              </a:ext>
            </a:extLst>
          </p:cNvPr>
          <p:cNvGraphicFramePr>
            <a:graphicFrameLocks noGrp="1"/>
          </p:cNvGraphicFramePr>
          <p:nvPr>
            <p:ph sz="half" idx="13"/>
            <p:extLst>
              <p:ext uri="{D42A27DB-BD31-4B8C-83A1-F6EECF244321}">
                <p14:modId xmlns:p14="http://schemas.microsoft.com/office/powerpoint/2010/main" val="1794370831"/>
              </p:ext>
            </p:extLst>
          </p:nvPr>
        </p:nvGraphicFramePr>
        <p:xfrm>
          <a:off x="6433835" y="3870749"/>
          <a:ext cx="1965512" cy="385897"/>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4" name="Content Placeholder 13">
            <a:extLst>
              <a:ext uri="{FF2B5EF4-FFF2-40B4-BE49-F238E27FC236}">
                <a16:creationId xmlns:a16="http://schemas.microsoft.com/office/drawing/2014/main" id="{8B322B98-DF1E-6C92-35F3-35F99EF08D51}"/>
              </a:ext>
            </a:extLst>
          </p:cNvPr>
          <p:cNvGraphicFramePr>
            <a:graphicFrameLocks noGrp="1"/>
          </p:cNvGraphicFramePr>
          <p:nvPr>
            <p:ph sz="half" idx="14"/>
            <p:extLst>
              <p:ext uri="{D42A27DB-BD31-4B8C-83A1-F6EECF244321}">
                <p14:modId xmlns:p14="http://schemas.microsoft.com/office/powerpoint/2010/main" val="2461307488"/>
              </p:ext>
            </p:extLst>
          </p:nvPr>
        </p:nvGraphicFramePr>
        <p:xfrm>
          <a:off x="8399346" y="4805596"/>
          <a:ext cx="2522770" cy="1036826"/>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cxnSp>
        <p:nvCxnSpPr>
          <p:cNvPr id="24" name="Straight Arrow Connector 23">
            <a:extLst>
              <a:ext uri="{FF2B5EF4-FFF2-40B4-BE49-F238E27FC236}">
                <a16:creationId xmlns:a16="http://schemas.microsoft.com/office/drawing/2014/main" id="{9BFE37B5-35F0-E98F-1665-F3F5A5BAC9D9}"/>
              </a:ext>
            </a:extLst>
          </p:cNvPr>
          <p:cNvCxnSpPr>
            <a:cxnSpLocks/>
          </p:cNvCxnSpPr>
          <p:nvPr/>
        </p:nvCxnSpPr>
        <p:spPr>
          <a:xfrm>
            <a:off x="3358812" y="2286244"/>
            <a:ext cx="152351" cy="346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BB9B68E-42F6-1F8D-58E2-4448B85F91A4}"/>
              </a:ext>
            </a:extLst>
          </p:cNvPr>
          <p:cNvCxnSpPr/>
          <p:nvPr/>
        </p:nvCxnSpPr>
        <p:spPr>
          <a:xfrm>
            <a:off x="6281484" y="3412232"/>
            <a:ext cx="152351" cy="346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4B239BE-DA2F-A5D9-819F-0D3F9D78EA5A}"/>
              </a:ext>
            </a:extLst>
          </p:cNvPr>
          <p:cNvCxnSpPr/>
          <p:nvPr/>
        </p:nvCxnSpPr>
        <p:spPr>
          <a:xfrm>
            <a:off x="8323171" y="4368765"/>
            <a:ext cx="152351" cy="346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C629F062-E999-BF47-3F03-D8DCC2258148}"/>
              </a:ext>
            </a:extLst>
          </p:cNvPr>
          <p:cNvSpPr/>
          <p:nvPr/>
        </p:nvSpPr>
        <p:spPr>
          <a:xfrm>
            <a:off x="3095379" y="1605496"/>
            <a:ext cx="441082" cy="34871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8" name="Oval 27">
            <a:extLst>
              <a:ext uri="{FF2B5EF4-FFF2-40B4-BE49-F238E27FC236}">
                <a16:creationId xmlns:a16="http://schemas.microsoft.com/office/drawing/2014/main" id="{75D306EE-E814-27BA-757D-77C75CD68BAC}"/>
              </a:ext>
            </a:extLst>
          </p:cNvPr>
          <p:cNvSpPr/>
          <p:nvPr/>
        </p:nvSpPr>
        <p:spPr>
          <a:xfrm>
            <a:off x="6137118" y="2565530"/>
            <a:ext cx="441082" cy="34871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9" name="Oval 28">
            <a:extLst>
              <a:ext uri="{FF2B5EF4-FFF2-40B4-BE49-F238E27FC236}">
                <a16:creationId xmlns:a16="http://schemas.microsoft.com/office/drawing/2014/main" id="{661D0730-0B26-BB35-2834-6F32CBDD8E4A}"/>
              </a:ext>
            </a:extLst>
          </p:cNvPr>
          <p:cNvSpPr/>
          <p:nvPr/>
        </p:nvSpPr>
        <p:spPr>
          <a:xfrm>
            <a:off x="8323171" y="3696393"/>
            <a:ext cx="441082" cy="34871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0" name="Oval 29">
            <a:extLst>
              <a:ext uri="{FF2B5EF4-FFF2-40B4-BE49-F238E27FC236}">
                <a16:creationId xmlns:a16="http://schemas.microsoft.com/office/drawing/2014/main" id="{38ECC71C-2D58-3AAD-A3CC-9FB5E27DEF58}"/>
              </a:ext>
            </a:extLst>
          </p:cNvPr>
          <p:cNvSpPr/>
          <p:nvPr/>
        </p:nvSpPr>
        <p:spPr>
          <a:xfrm>
            <a:off x="10750851" y="4805596"/>
            <a:ext cx="441082" cy="34871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pic>
        <p:nvPicPr>
          <p:cNvPr id="6" name="Picture 4" descr="Man going under Deep Sleep Anesthesia Before Surgery - YouTube">
            <a:extLst>
              <a:ext uri="{FF2B5EF4-FFF2-40B4-BE49-F238E27FC236}">
                <a16:creationId xmlns:a16="http://schemas.microsoft.com/office/drawing/2014/main" id="{AD836B83-9764-D8F1-DEC9-94CBB30E74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00067" y="3603052"/>
            <a:ext cx="4107117" cy="231025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graph of a graph of a graph&#10;&#10;AI-generated content may be incorrect.">
            <a:extLst>
              <a:ext uri="{FF2B5EF4-FFF2-40B4-BE49-F238E27FC236}">
                <a16:creationId xmlns:a16="http://schemas.microsoft.com/office/drawing/2014/main" id="{A90476DA-12A2-4FAA-DA99-093819CA242B}"/>
              </a:ext>
            </a:extLst>
          </p:cNvPr>
          <p:cNvPicPr>
            <a:picLocks noChangeAspect="1"/>
          </p:cNvPicPr>
          <p:nvPr/>
        </p:nvPicPr>
        <p:blipFill>
          <a:blip r:embed="rId24"/>
          <a:stretch>
            <a:fillRect/>
          </a:stretch>
        </p:blipFill>
        <p:spPr>
          <a:xfrm>
            <a:off x="7693462" y="1377201"/>
            <a:ext cx="3596804" cy="2220249"/>
          </a:xfrm>
          <a:prstGeom prst="rect">
            <a:avLst/>
          </a:prstGeom>
        </p:spPr>
      </p:pic>
      <p:sp>
        <p:nvSpPr>
          <p:cNvPr id="8" name="Arrow: Bent 7">
            <a:extLst>
              <a:ext uri="{FF2B5EF4-FFF2-40B4-BE49-F238E27FC236}">
                <a16:creationId xmlns:a16="http://schemas.microsoft.com/office/drawing/2014/main" id="{D9E7D020-64A1-F1F1-B755-09E4187DF11C}"/>
              </a:ext>
            </a:extLst>
          </p:cNvPr>
          <p:cNvSpPr/>
          <p:nvPr/>
        </p:nvSpPr>
        <p:spPr>
          <a:xfrm>
            <a:off x="2256639" y="2914241"/>
            <a:ext cx="1152778" cy="587375"/>
          </a:xfrm>
          <a:prstGeom prst="ben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Arrow: Down 8">
            <a:extLst>
              <a:ext uri="{FF2B5EF4-FFF2-40B4-BE49-F238E27FC236}">
                <a16:creationId xmlns:a16="http://schemas.microsoft.com/office/drawing/2014/main" id="{9C04CD60-0C04-E64F-FE8D-35D293A578DA}"/>
              </a:ext>
            </a:extLst>
          </p:cNvPr>
          <p:cNvSpPr/>
          <p:nvPr/>
        </p:nvSpPr>
        <p:spPr>
          <a:xfrm>
            <a:off x="9664117" y="3814667"/>
            <a:ext cx="318781" cy="1036826"/>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333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FDD2DA4-B4A9-4953-9957-A7FE03E76861}"/>
              </a:ext>
            </a:extLst>
          </p:cNvPr>
          <p:cNvSpPr>
            <a:spLocks noGrp="1"/>
          </p:cNvSpPr>
          <p:nvPr>
            <p:ph type="sldNum" sz="quarter" idx="11"/>
          </p:nvPr>
        </p:nvSpPr>
        <p:spPr/>
        <p:txBody>
          <a:bodyPr/>
          <a:lstStyle/>
          <a:p>
            <a:fld id="{523A240F-EAFE-E84F-B44C-6D7A08E0E409}" type="slidenum">
              <a:rPr lang="en-US" smtClean="0"/>
              <a:pPr/>
              <a:t>3</a:t>
            </a:fld>
            <a:endParaRPr lang="en-US"/>
          </a:p>
        </p:txBody>
      </p:sp>
      <p:sp>
        <p:nvSpPr>
          <p:cNvPr id="7" name="Title 6">
            <a:extLst>
              <a:ext uri="{FF2B5EF4-FFF2-40B4-BE49-F238E27FC236}">
                <a16:creationId xmlns:a16="http://schemas.microsoft.com/office/drawing/2014/main" id="{17A580B4-D1F0-AB17-66B7-6675DAF12D80}"/>
              </a:ext>
            </a:extLst>
          </p:cNvPr>
          <p:cNvSpPr>
            <a:spLocks noGrp="1"/>
          </p:cNvSpPr>
          <p:nvPr>
            <p:ph type="title"/>
          </p:nvPr>
        </p:nvSpPr>
        <p:spPr>
          <a:xfrm>
            <a:off x="512063" y="457201"/>
            <a:ext cx="11184423" cy="913189"/>
          </a:xfrm>
        </p:spPr>
        <p:txBody>
          <a:bodyPr/>
          <a:lstStyle/>
          <a:p>
            <a:r>
              <a:rPr lang="en-US" sz="2800" i="0" dirty="0">
                <a:effectLst/>
              </a:rPr>
              <a:t>Stratified </a:t>
            </a:r>
            <a:r>
              <a:rPr lang="en-US" sz="2800"/>
              <a:t>r</a:t>
            </a:r>
            <a:r>
              <a:rPr lang="en-US" sz="2800" i="0">
                <a:effectLst/>
              </a:rPr>
              <a:t>andomization is </a:t>
            </a:r>
            <a:r>
              <a:rPr lang="en-US" sz="2800" i="0" dirty="0">
                <a:effectLst/>
              </a:rPr>
              <a:t>often used in clinical </a:t>
            </a:r>
            <a:r>
              <a:rPr lang="en-US" sz="2800" dirty="0"/>
              <a:t>t</a:t>
            </a:r>
            <a:r>
              <a:rPr lang="en-US" sz="2800" i="0" dirty="0">
                <a:effectLst/>
              </a:rPr>
              <a:t>rials to balance </a:t>
            </a:r>
            <a:r>
              <a:rPr lang="en-US" sz="2800" dirty="0"/>
              <a:t>t</a:t>
            </a:r>
            <a:r>
              <a:rPr lang="en-US" sz="2800" i="0" dirty="0">
                <a:effectLst/>
              </a:rPr>
              <a:t>reatment arms based on influential characteristic(s)  </a:t>
            </a:r>
            <a:endParaRPr lang="en-US" sz="2800" dirty="0"/>
          </a:p>
        </p:txBody>
      </p:sp>
      <p:sp>
        <p:nvSpPr>
          <p:cNvPr id="11" name="TextBox 10">
            <a:extLst>
              <a:ext uri="{FF2B5EF4-FFF2-40B4-BE49-F238E27FC236}">
                <a16:creationId xmlns:a16="http://schemas.microsoft.com/office/drawing/2014/main" id="{64D31A6C-EF06-53E8-201D-53589BE3E758}"/>
              </a:ext>
            </a:extLst>
          </p:cNvPr>
          <p:cNvSpPr txBox="1"/>
          <p:nvPr/>
        </p:nvSpPr>
        <p:spPr>
          <a:xfrm>
            <a:off x="814301" y="4334611"/>
            <a:ext cx="10128751" cy="646331"/>
          </a:xfrm>
          <a:prstGeom prst="rect">
            <a:avLst/>
          </a:prstGeom>
          <a:noFill/>
        </p:spPr>
        <p:txBody>
          <a:bodyPr wrap="square" rtlCol="0">
            <a:spAutoFit/>
          </a:bodyPr>
          <a:lstStyle/>
          <a:p>
            <a:pPr algn="ctr"/>
            <a:r>
              <a:rPr lang="en-US" dirty="0">
                <a:solidFill>
                  <a:srgbClr val="272524"/>
                </a:solidFill>
                <a:latin typeface="Calibri" panose="020F0502020204030204" pitchFamily="34" charset="0"/>
                <a:ea typeface="Calibri" panose="020F0502020204030204" pitchFamily="34" charset="0"/>
                <a:cs typeface="Calibri" panose="020F0502020204030204" pitchFamily="34" charset="0"/>
              </a:rPr>
              <a:t>Stratified Randomization balances treatment arms: </a:t>
            </a:r>
          </a:p>
          <a:p>
            <a:pPr algn="ctr"/>
            <a:r>
              <a:rPr lang="en-US" dirty="0">
                <a:solidFill>
                  <a:srgbClr val="272524"/>
                </a:solidFill>
                <a:latin typeface="Calibri" panose="020F0502020204030204" pitchFamily="34" charset="0"/>
                <a:ea typeface="Calibri" panose="020F0502020204030204" pitchFamily="34" charset="0"/>
                <a:cs typeface="Calibri" panose="020F0502020204030204" pitchFamily="34" charset="0"/>
              </a:rPr>
              <a:t>imagine if we randomize without stratifying?</a:t>
            </a:r>
          </a:p>
        </p:txBody>
      </p:sp>
      <p:sp>
        <p:nvSpPr>
          <p:cNvPr id="8" name="TextBox 7">
            <a:extLst>
              <a:ext uri="{FF2B5EF4-FFF2-40B4-BE49-F238E27FC236}">
                <a16:creationId xmlns:a16="http://schemas.microsoft.com/office/drawing/2014/main" id="{F46364A5-7030-E1B9-3CB4-000A9A7214D4}"/>
              </a:ext>
            </a:extLst>
          </p:cNvPr>
          <p:cNvSpPr txBox="1"/>
          <p:nvPr/>
        </p:nvSpPr>
        <p:spPr>
          <a:xfrm>
            <a:off x="1267325" y="2618826"/>
            <a:ext cx="1777442" cy="892552"/>
          </a:xfrm>
          <a:prstGeom prst="rect">
            <a:avLst/>
          </a:prstGeom>
          <a:noFill/>
        </p:spPr>
        <p:txBody>
          <a:bodyPr wrap="square" rtlCol="0">
            <a:spAutoFit/>
          </a:bodyPr>
          <a:lstStyle/>
          <a:p>
            <a:r>
              <a:rPr lang="en-US" sz="2600" dirty="0">
                <a:solidFill>
                  <a:srgbClr val="008937"/>
                </a:solidFill>
                <a:sym typeface="Wingdings" panose="05000000000000000000" pitchFamily="2" charset="2"/>
              </a:rPr>
              <a:t></a:t>
            </a:r>
            <a:r>
              <a:rPr lang="en-US" sz="2600" dirty="0">
                <a:solidFill>
                  <a:schemeClr val="accent2"/>
                </a:solidFill>
                <a:sym typeface="Wingdings" panose="05000000000000000000" pitchFamily="2" charset="2"/>
              </a:rPr>
              <a:t></a:t>
            </a:r>
            <a:r>
              <a:rPr lang="en-US" sz="2600" dirty="0">
                <a:solidFill>
                  <a:srgbClr val="008937"/>
                </a:solidFill>
                <a:sym typeface="Wingdings" panose="05000000000000000000" pitchFamily="2" charset="2"/>
              </a:rPr>
              <a:t></a:t>
            </a:r>
            <a:r>
              <a:rPr lang="en-US" sz="2600" dirty="0">
                <a:solidFill>
                  <a:schemeClr val="accent2"/>
                </a:solidFill>
                <a:sym typeface="Wingdings" panose="05000000000000000000" pitchFamily="2" charset="2"/>
              </a:rPr>
              <a:t></a:t>
            </a:r>
            <a:r>
              <a:rPr lang="en-US" sz="2600" dirty="0">
                <a:solidFill>
                  <a:srgbClr val="008937"/>
                </a:solidFill>
                <a:sym typeface="Wingdings" panose="05000000000000000000" pitchFamily="2" charset="2"/>
              </a:rPr>
              <a:t></a:t>
            </a:r>
            <a:r>
              <a:rPr lang="en-US" sz="2600" dirty="0">
                <a:solidFill>
                  <a:schemeClr val="accent2"/>
                </a:solidFill>
                <a:sym typeface="Wingdings" panose="05000000000000000000" pitchFamily="2" charset="2"/>
              </a:rPr>
              <a:t></a:t>
            </a:r>
            <a:endParaRPr lang="en-US" sz="2600" dirty="0">
              <a:solidFill>
                <a:srgbClr val="008937"/>
              </a:solidFill>
            </a:endParaRPr>
          </a:p>
        </p:txBody>
      </p:sp>
      <p:sp>
        <p:nvSpPr>
          <p:cNvPr id="13" name="TextBox 12">
            <a:extLst>
              <a:ext uri="{FF2B5EF4-FFF2-40B4-BE49-F238E27FC236}">
                <a16:creationId xmlns:a16="http://schemas.microsoft.com/office/drawing/2014/main" id="{A4F16A15-8E90-72BF-416D-9FE570D4155D}"/>
              </a:ext>
            </a:extLst>
          </p:cNvPr>
          <p:cNvSpPr txBox="1"/>
          <p:nvPr/>
        </p:nvSpPr>
        <p:spPr>
          <a:xfrm>
            <a:off x="1325106" y="2224404"/>
            <a:ext cx="1425844" cy="369332"/>
          </a:xfrm>
          <a:prstGeom prst="rect">
            <a:avLst/>
          </a:prstGeom>
          <a:solidFill>
            <a:schemeClr val="accent1"/>
          </a:solidFill>
        </p:spPr>
        <p:txBody>
          <a:bodyPr wrap="square" rtlCol="0">
            <a:spAutoFit/>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Participants</a:t>
            </a:r>
          </a:p>
        </p:txBody>
      </p:sp>
      <p:sp>
        <p:nvSpPr>
          <p:cNvPr id="14" name="TextBox 13">
            <a:extLst>
              <a:ext uri="{FF2B5EF4-FFF2-40B4-BE49-F238E27FC236}">
                <a16:creationId xmlns:a16="http://schemas.microsoft.com/office/drawing/2014/main" id="{CF0B308F-D684-37B7-5ACB-AE48A0D7790B}"/>
              </a:ext>
            </a:extLst>
          </p:cNvPr>
          <p:cNvSpPr txBox="1"/>
          <p:nvPr/>
        </p:nvSpPr>
        <p:spPr>
          <a:xfrm>
            <a:off x="3783346" y="2281933"/>
            <a:ext cx="2059342" cy="492443"/>
          </a:xfrm>
          <a:prstGeom prst="rect">
            <a:avLst/>
          </a:prstGeom>
          <a:noFill/>
        </p:spPr>
        <p:txBody>
          <a:bodyPr wrap="square" rtlCol="0">
            <a:spAutoFit/>
          </a:bodyPr>
          <a:lstStyle/>
          <a:p>
            <a:r>
              <a:rPr lang="en-US" sz="2600" dirty="0">
                <a:solidFill>
                  <a:srgbClr val="008937"/>
                </a:solidFill>
                <a:sym typeface="Wingdings" panose="05000000000000000000" pitchFamily="2" charset="2"/>
              </a:rPr>
              <a:t></a:t>
            </a:r>
            <a:endParaRPr lang="en-US" sz="2600" dirty="0">
              <a:solidFill>
                <a:srgbClr val="008937"/>
              </a:solidFill>
            </a:endParaRPr>
          </a:p>
        </p:txBody>
      </p:sp>
      <p:sp>
        <p:nvSpPr>
          <p:cNvPr id="15" name="TextBox 14">
            <a:extLst>
              <a:ext uri="{FF2B5EF4-FFF2-40B4-BE49-F238E27FC236}">
                <a16:creationId xmlns:a16="http://schemas.microsoft.com/office/drawing/2014/main" id="{E9D7019E-1EA0-9178-529E-5A531D8E532E}"/>
              </a:ext>
            </a:extLst>
          </p:cNvPr>
          <p:cNvSpPr txBox="1"/>
          <p:nvPr/>
        </p:nvSpPr>
        <p:spPr>
          <a:xfrm>
            <a:off x="6690972" y="3206586"/>
            <a:ext cx="873839" cy="492443"/>
          </a:xfrm>
          <a:prstGeom prst="rect">
            <a:avLst/>
          </a:prstGeom>
          <a:noFill/>
        </p:spPr>
        <p:txBody>
          <a:bodyPr wrap="square" rtlCol="0">
            <a:spAutoFit/>
          </a:bodyPr>
          <a:lstStyle/>
          <a:p>
            <a:r>
              <a:rPr lang="en-US" sz="2600" dirty="0">
                <a:solidFill>
                  <a:schemeClr val="accent2"/>
                </a:solidFill>
                <a:sym typeface="Wingdings" panose="05000000000000000000" pitchFamily="2" charset="2"/>
              </a:rPr>
              <a:t></a:t>
            </a:r>
            <a:endParaRPr lang="en-US" sz="2600" dirty="0">
              <a:solidFill>
                <a:srgbClr val="008937"/>
              </a:solidFill>
            </a:endParaRPr>
          </a:p>
        </p:txBody>
      </p:sp>
      <p:sp>
        <p:nvSpPr>
          <p:cNvPr id="16" name="TextBox 15">
            <a:extLst>
              <a:ext uri="{FF2B5EF4-FFF2-40B4-BE49-F238E27FC236}">
                <a16:creationId xmlns:a16="http://schemas.microsoft.com/office/drawing/2014/main" id="{1D565430-61A0-7515-C82A-4914F886BD7C}"/>
              </a:ext>
            </a:extLst>
          </p:cNvPr>
          <p:cNvSpPr txBox="1"/>
          <p:nvPr/>
        </p:nvSpPr>
        <p:spPr>
          <a:xfrm>
            <a:off x="2481256" y="5165430"/>
            <a:ext cx="2012654" cy="492443"/>
          </a:xfrm>
          <a:prstGeom prst="rect">
            <a:avLst/>
          </a:prstGeom>
          <a:noFill/>
        </p:spPr>
        <p:txBody>
          <a:bodyPr wrap="square" rtlCol="0">
            <a:spAutoFit/>
          </a:bodyPr>
          <a:lstStyle/>
          <a:p>
            <a:r>
              <a:rPr lang="en-US" sz="2600" dirty="0">
                <a:solidFill>
                  <a:schemeClr val="accent2"/>
                </a:solidFill>
                <a:sym typeface="Wingdings" panose="05000000000000000000" pitchFamily="2" charset="2"/>
              </a:rPr>
              <a:t></a:t>
            </a:r>
            <a:r>
              <a:rPr lang="en-US" sz="2600" dirty="0">
                <a:solidFill>
                  <a:srgbClr val="008937"/>
                </a:solidFill>
                <a:sym typeface="Wingdings" panose="05000000000000000000" pitchFamily="2" charset="2"/>
              </a:rPr>
              <a:t></a:t>
            </a:r>
            <a:r>
              <a:rPr lang="en-US" sz="2600" dirty="0">
                <a:solidFill>
                  <a:schemeClr val="accent2"/>
                </a:solidFill>
                <a:sym typeface="Wingdings" panose="05000000000000000000" pitchFamily="2" charset="2"/>
              </a:rPr>
              <a:t></a:t>
            </a:r>
            <a:endParaRPr lang="en-US" sz="2600" dirty="0">
              <a:solidFill>
                <a:srgbClr val="008937"/>
              </a:solidFill>
            </a:endParaRPr>
          </a:p>
        </p:txBody>
      </p:sp>
      <p:sp>
        <p:nvSpPr>
          <p:cNvPr id="17" name="TextBox 16">
            <a:extLst>
              <a:ext uri="{FF2B5EF4-FFF2-40B4-BE49-F238E27FC236}">
                <a16:creationId xmlns:a16="http://schemas.microsoft.com/office/drawing/2014/main" id="{F2ACB4D0-33AE-8DFC-A249-5BBFE4376243}"/>
              </a:ext>
            </a:extLst>
          </p:cNvPr>
          <p:cNvSpPr txBox="1"/>
          <p:nvPr/>
        </p:nvSpPr>
        <p:spPr>
          <a:xfrm>
            <a:off x="2456153" y="5809898"/>
            <a:ext cx="2012654" cy="492443"/>
          </a:xfrm>
          <a:prstGeom prst="rect">
            <a:avLst/>
          </a:prstGeom>
          <a:noFill/>
        </p:spPr>
        <p:txBody>
          <a:bodyPr wrap="square" rtlCol="0">
            <a:spAutoFit/>
          </a:bodyPr>
          <a:lstStyle/>
          <a:p>
            <a:r>
              <a:rPr lang="en-US" sz="2600" dirty="0">
                <a:solidFill>
                  <a:srgbClr val="008937"/>
                </a:solidFill>
                <a:sym typeface="Wingdings" panose="05000000000000000000" pitchFamily="2" charset="2"/>
              </a:rPr>
              <a:t></a:t>
            </a:r>
            <a:endParaRPr lang="en-US" sz="2600" dirty="0">
              <a:solidFill>
                <a:srgbClr val="008937"/>
              </a:solidFill>
            </a:endParaRPr>
          </a:p>
        </p:txBody>
      </p:sp>
      <p:sp>
        <p:nvSpPr>
          <p:cNvPr id="18" name="TextBox 17">
            <a:extLst>
              <a:ext uri="{FF2B5EF4-FFF2-40B4-BE49-F238E27FC236}">
                <a16:creationId xmlns:a16="http://schemas.microsoft.com/office/drawing/2014/main" id="{63164A94-5576-EDB2-4D05-EFDB97A3722E}"/>
              </a:ext>
            </a:extLst>
          </p:cNvPr>
          <p:cNvSpPr txBox="1"/>
          <p:nvPr/>
        </p:nvSpPr>
        <p:spPr>
          <a:xfrm>
            <a:off x="6550022" y="2537854"/>
            <a:ext cx="1200769" cy="492443"/>
          </a:xfrm>
          <a:prstGeom prst="rect">
            <a:avLst/>
          </a:prstGeom>
          <a:noFill/>
        </p:spPr>
        <p:txBody>
          <a:bodyPr wrap="square" rtlCol="0">
            <a:spAutoFit/>
          </a:bodyPr>
          <a:lstStyle/>
          <a:p>
            <a:r>
              <a:rPr lang="en-US" sz="2600" dirty="0">
                <a:solidFill>
                  <a:srgbClr val="008937"/>
                </a:solidFill>
                <a:sym typeface="Wingdings" panose="05000000000000000000" pitchFamily="2" charset="2"/>
              </a:rPr>
              <a:t></a:t>
            </a:r>
            <a:endParaRPr lang="en-US" sz="2600" dirty="0">
              <a:solidFill>
                <a:srgbClr val="008937"/>
              </a:solidFill>
            </a:endParaRPr>
          </a:p>
        </p:txBody>
      </p:sp>
      <p:sp>
        <p:nvSpPr>
          <p:cNvPr id="19" name="TextBox 18">
            <a:extLst>
              <a:ext uri="{FF2B5EF4-FFF2-40B4-BE49-F238E27FC236}">
                <a16:creationId xmlns:a16="http://schemas.microsoft.com/office/drawing/2014/main" id="{F1026616-7986-44F0-8F94-33E79755D2E4}"/>
              </a:ext>
            </a:extLst>
          </p:cNvPr>
          <p:cNvSpPr txBox="1"/>
          <p:nvPr/>
        </p:nvSpPr>
        <p:spPr>
          <a:xfrm>
            <a:off x="6550022" y="2068849"/>
            <a:ext cx="1309257" cy="492443"/>
          </a:xfrm>
          <a:prstGeom prst="rect">
            <a:avLst/>
          </a:prstGeom>
          <a:noFill/>
        </p:spPr>
        <p:txBody>
          <a:bodyPr wrap="square" rtlCol="0">
            <a:spAutoFit/>
          </a:bodyPr>
          <a:lstStyle/>
          <a:p>
            <a:r>
              <a:rPr lang="en-US" sz="2600" dirty="0">
                <a:solidFill>
                  <a:srgbClr val="008937"/>
                </a:solidFill>
                <a:sym typeface="Wingdings" panose="05000000000000000000" pitchFamily="2" charset="2"/>
              </a:rPr>
              <a:t></a:t>
            </a:r>
            <a:endParaRPr lang="en-US" sz="2600" dirty="0">
              <a:solidFill>
                <a:srgbClr val="008937"/>
              </a:solidFill>
            </a:endParaRPr>
          </a:p>
        </p:txBody>
      </p:sp>
      <p:sp>
        <p:nvSpPr>
          <p:cNvPr id="20" name="TextBox 19">
            <a:extLst>
              <a:ext uri="{FF2B5EF4-FFF2-40B4-BE49-F238E27FC236}">
                <a16:creationId xmlns:a16="http://schemas.microsoft.com/office/drawing/2014/main" id="{AD3F2177-14E0-78D8-A465-64E602747A53}"/>
              </a:ext>
            </a:extLst>
          </p:cNvPr>
          <p:cNvSpPr txBox="1"/>
          <p:nvPr/>
        </p:nvSpPr>
        <p:spPr>
          <a:xfrm>
            <a:off x="3990163" y="3427165"/>
            <a:ext cx="1510866" cy="492443"/>
          </a:xfrm>
          <a:prstGeom prst="rect">
            <a:avLst/>
          </a:prstGeom>
          <a:noFill/>
        </p:spPr>
        <p:txBody>
          <a:bodyPr wrap="square" rtlCol="0">
            <a:spAutoFit/>
          </a:bodyPr>
          <a:lstStyle/>
          <a:p>
            <a:r>
              <a:rPr lang="en-US" sz="2600" dirty="0">
                <a:solidFill>
                  <a:schemeClr val="accent2"/>
                </a:solidFill>
                <a:sym typeface="Wingdings" panose="05000000000000000000" pitchFamily="2" charset="2"/>
              </a:rPr>
              <a:t></a:t>
            </a:r>
            <a:endParaRPr lang="en-US" sz="2600" dirty="0">
              <a:solidFill>
                <a:srgbClr val="008937"/>
              </a:solidFill>
            </a:endParaRPr>
          </a:p>
        </p:txBody>
      </p:sp>
      <p:sp>
        <p:nvSpPr>
          <p:cNvPr id="21" name="TextBox 20">
            <a:extLst>
              <a:ext uri="{FF2B5EF4-FFF2-40B4-BE49-F238E27FC236}">
                <a16:creationId xmlns:a16="http://schemas.microsoft.com/office/drawing/2014/main" id="{EA8A2786-9C5F-4896-69F3-8B7454203FEE}"/>
              </a:ext>
            </a:extLst>
          </p:cNvPr>
          <p:cNvSpPr txBox="1"/>
          <p:nvPr/>
        </p:nvSpPr>
        <p:spPr>
          <a:xfrm>
            <a:off x="6690972" y="3746514"/>
            <a:ext cx="873839" cy="492443"/>
          </a:xfrm>
          <a:prstGeom prst="rect">
            <a:avLst/>
          </a:prstGeom>
          <a:noFill/>
        </p:spPr>
        <p:txBody>
          <a:bodyPr wrap="square" rtlCol="0">
            <a:spAutoFit/>
          </a:bodyPr>
          <a:lstStyle/>
          <a:p>
            <a:r>
              <a:rPr lang="en-US" sz="2600" dirty="0">
                <a:solidFill>
                  <a:schemeClr val="accent2"/>
                </a:solidFill>
                <a:sym typeface="Wingdings" panose="05000000000000000000" pitchFamily="2" charset="2"/>
              </a:rPr>
              <a:t></a:t>
            </a:r>
            <a:endParaRPr lang="en-US" sz="2600" dirty="0">
              <a:solidFill>
                <a:srgbClr val="008937"/>
              </a:solidFill>
            </a:endParaRPr>
          </a:p>
        </p:txBody>
      </p:sp>
      <p:sp>
        <p:nvSpPr>
          <p:cNvPr id="22" name="TextBox 21">
            <a:extLst>
              <a:ext uri="{FF2B5EF4-FFF2-40B4-BE49-F238E27FC236}">
                <a16:creationId xmlns:a16="http://schemas.microsoft.com/office/drawing/2014/main" id="{CD48E05C-006C-E300-BCAB-4FF97626076D}"/>
              </a:ext>
            </a:extLst>
          </p:cNvPr>
          <p:cNvSpPr txBox="1"/>
          <p:nvPr/>
        </p:nvSpPr>
        <p:spPr>
          <a:xfrm>
            <a:off x="9690296" y="2307279"/>
            <a:ext cx="1699298" cy="492443"/>
          </a:xfrm>
          <a:prstGeom prst="rect">
            <a:avLst/>
          </a:prstGeom>
          <a:noFill/>
        </p:spPr>
        <p:txBody>
          <a:bodyPr wrap="square" rtlCol="0">
            <a:spAutoFit/>
          </a:bodyPr>
          <a:lstStyle/>
          <a:p>
            <a:r>
              <a:rPr lang="en-US" sz="2600" dirty="0">
                <a:solidFill>
                  <a:srgbClr val="008937"/>
                </a:solidFill>
                <a:sym typeface="Wingdings" panose="05000000000000000000" pitchFamily="2" charset="2"/>
              </a:rPr>
              <a:t></a:t>
            </a:r>
            <a:r>
              <a:rPr lang="en-US" sz="2600" dirty="0">
                <a:solidFill>
                  <a:schemeClr val="accent2"/>
                </a:solidFill>
                <a:sym typeface="Wingdings" panose="05000000000000000000" pitchFamily="2" charset="2"/>
              </a:rPr>
              <a:t></a:t>
            </a:r>
            <a:endParaRPr lang="en-US" sz="2600" dirty="0">
              <a:solidFill>
                <a:srgbClr val="008937"/>
              </a:solidFill>
            </a:endParaRPr>
          </a:p>
        </p:txBody>
      </p:sp>
      <p:sp>
        <p:nvSpPr>
          <p:cNvPr id="23" name="TextBox 22">
            <a:extLst>
              <a:ext uri="{FF2B5EF4-FFF2-40B4-BE49-F238E27FC236}">
                <a16:creationId xmlns:a16="http://schemas.microsoft.com/office/drawing/2014/main" id="{05174927-459D-BE23-5299-699FB9EDD804}"/>
              </a:ext>
            </a:extLst>
          </p:cNvPr>
          <p:cNvSpPr txBox="1"/>
          <p:nvPr/>
        </p:nvSpPr>
        <p:spPr>
          <a:xfrm>
            <a:off x="9690296" y="3458002"/>
            <a:ext cx="1699298" cy="492443"/>
          </a:xfrm>
          <a:prstGeom prst="rect">
            <a:avLst/>
          </a:prstGeom>
          <a:noFill/>
        </p:spPr>
        <p:txBody>
          <a:bodyPr wrap="square" rtlCol="0">
            <a:spAutoFit/>
          </a:bodyPr>
          <a:lstStyle/>
          <a:p>
            <a:r>
              <a:rPr lang="en-US" sz="2600" dirty="0">
                <a:solidFill>
                  <a:srgbClr val="008937"/>
                </a:solidFill>
                <a:sym typeface="Wingdings" panose="05000000000000000000" pitchFamily="2" charset="2"/>
              </a:rPr>
              <a:t></a:t>
            </a:r>
            <a:r>
              <a:rPr lang="en-US" sz="2600" dirty="0">
                <a:solidFill>
                  <a:schemeClr val="accent2"/>
                </a:solidFill>
                <a:sym typeface="Wingdings" panose="05000000000000000000" pitchFamily="2" charset="2"/>
              </a:rPr>
              <a:t></a:t>
            </a:r>
            <a:endParaRPr lang="en-US" sz="2600" dirty="0">
              <a:solidFill>
                <a:srgbClr val="008937"/>
              </a:solidFill>
            </a:endParaRPr>
          </a:p>
        </p:txBody>
      </p:sp>
      <p:sp>
        <p:nvSpPr>
          <p:cNvPr id="26" name="TextBox 25">
            <a:extLst>
              <a:ext uri="{FF2B5EF4-FFF2-40B4-BE49-F238E27FC236}">
                <a16:creationId xmlns:a16="http://schemas.microsoft.com/office/drawing/2014/main" id="{130AD0ED-6EAC-3BFE-4F64-A5F1A937E472}"/>
              </a:ext>
            </a:extLst>
          </p:cNvPr>
          <p:cNvSpPr txBox="1"/>
          <p:nvPr/>
        </p:nvSpPr>
        <p:spPr>
          <a:xfrm>
            <a:off x="4199860" y="1882349"/>
            <a:ext cx="983664" cy="369332"/>
          </a:xfrm>
          <a:prstGeom prst="rect">
            <a:avLst/>
          </a:prstGeom>
          <a:solidFill>
            <a:schemeClr val="accent1"/>
          </a:solidFill>
        </p:spPr>
        <p:txBody>
          <a:bodyPr wrap="square" rtlCol="0">
            <a:spAutoFit/>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Strata</a:t>
            </a:r>
          </a:p>
        </p:txBody>
      </p:sp>
      <p:sp>
        <p:nvSpPr>
          <p:cNvPr id="27" name="TextBox 26">
            <a:extLst>
              <a:ext uri="{FF2B5EF4-FFF2-40B4-BE49-F238E27FC236}">
                <a16:creationId xmlns:a16="http://schemas.microsoft.com/office/drawing/2014/main" id="{A6BDB8F6-37F5-C979-3719-3500059DA2CB}"/>
              </a:ext>
            </a:extLst>
          </p:cNvPr>
          <p:cNvSpPr txBox="1"/>
          <p:nvPr/>
        </p:nvSpPr>
        <p:spPr>
          <a:xfrm>
            <a:off x="6183404" y="1692570"/>
            <a:ext cx="1823634" cy="369332"/>
          </a:xfrm>
          <a:prstGeom prst="rect">
            <a:avLst/>
          </a:prstGeom>
          <a:solidFill>
            <a:schemeClr val="accent1"/>
          </a:solidFill>
        </p:spPr>
        <p:txBody>
          <a:bodyPr wrap="square" rtlCol="0">
            <a:spAutoFit/>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Randomization</a:t>
            </a:r>
          </a:p>
        </p:txBody>
      </p:sp>
      <p:sp>
        <p:nvSpPr>
          <p:cNvPr id="29" name="TextBox 28">
            <a:extLst>
              <a:ext uri="{FF2B5EF4-FFF2-40B4-BE49-F238E27FC236}">
                <a16:creationId xmlns:a16="http://schemas.microsoft.com/office/drawing/2014/main" id="{103AC862-4008-A769-04C1-CDFAEBF0C2F8}"/>
              </a:ext>
            </a:extLst>
          </p:cNvPr>
          <p:cNvSpPr txBox="1"/>
          <p:nvPr/>
        </p:nvSpPr>
        <p:spPr>
          <a:xfrm>
            <a:off x="4401514" y="5223922"/>
            <a:ext cx="1425844" cy="369332"/>
          </a:xfrm>
          <a:prstGeom prst="rect">
            <a:avLst/>
          </a:prstGeom>
          <a:solidFill>
            <a:schemeClr val="accent1"/>
          </a:solidFill>
        </p:spPr>
        <p:txBody>
          <a:bodyPr wrap="square" rtlCol="0">
            <a:spAutoFit/>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Control</a:t>
            </a:r>
          </a:p>
        </p:txBody>
      </p:sp>
      <p:sp>
        <p:nvSpPr>
          <p:cNvPr id="30" name="TextBox 29">
            <a:extLst>
              <a:ext uri="{FF2B5EF4-FFF2-40B4-BE49-F238E27FC236}">
                <a16:creationId xmlns:a16="http://schemas.microsoft.com/office/drawing/2014/main" id="{BFE9452C-5D74-06BB-3A3A-756CE85FD2BF}"/>
              </a:ext>
            </a:extLst>
          </p:cNvPr>
          <p:cNvSpPr txBox="1"/>
          <p:nvPr/>
        </p:nvSpPr>
        <p:spPr>
          <a:xfrm>
            <a:off x="4401514" y="5851262"/>
            <a:ext cx="1425844" cy="369332"/>
          </a:xfrm>
          <a:prstGeom prst="rect">
            <a:avLst/>
          </a:prstGeom>
          <a:solidFill>
            <a:schemeClr val="accent1"/>
          </a:solidFill>
        </p:spPr>
        <p:txBody>
          <a:bodyPr wrap="square" rtlCol="0">
            <a:spAutoFit/>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Treatment</a:t>
            </a:r>
          </a:p>
        </p:txBody>
      </p:sp>
      <p:sp>
        <p:nvSpPr>
          <p:cNvPr id="36" name="TextBox 35">
            <a:extLst>
              <a:ext uri="{FF2B5EF4-FFF2-40B4-BE49-F238E27FC236}">
                <a16:creationId xmlns:a16="http://schemas.microsoft.com/office/drawing/2014/main" id="{00E01A6B-3D09-93E7-31FB-2440A5988A7F}"/>
              </a:ext>
            </a:extLst>
          </p:cNvPr>
          <p:cNvSpPr txBox="1"/>
          <p:nvPr/>
        </p:nvSpPr>
        <p:spPr>
          <a:xfrm>
            <a:off x="7726885" y="2191959"/>
            <a:ext cx="960821" cy="246221"/>
          </a:xfrm>
          <a:prstGeom prst="rect">
            <a:avLst/>
          </a:prstGeom>
          <a:solidFill>
            <a:schemeClr val="accent1"/>
          </a:solidFill>
        </p:spPr>
        <p:txBody>
          <a:bodyPr wrap="square" rtlCol="0">
            <a:spAutoFit/>
          </a:bodyPr>
          <a:lstStyle/>
          <a:p>
            <a:pPr algn="ct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Control Arm</a:t>
            </a:r>
          </a:p>
        </p:txBody>
      </p:sp>
      <p:sp>
        <p:nvSpPr>
          <p:cNvPr id="37" name="TextBox 36">
            <a:extLst>
              <a:ext uri="{FF2B5EF4-FFF2-40B4-BE49-F238E27FC236}">
                <a16:creationId xmlns:a16="http://schemas.microsoft.com/office/drawing/2014/main" id="{B7F94EBE-53FE-B511-4779-6BEBDF4F5DAB}"/>
              </a:ext>
            </a:extLst>
          </p:cNvPr>
          <p:cNvSpPr txBox="1"/>
          <p:nvPr/>
        </p:nvSpPr>
        <p:spPr>
          <a:xfrm>
            <a:off x="7726885" y="3328313"/>
            <a:ext cx="960821" cy="246221"/>
          </a:xfrm>
          <a:prstGeom prst="rect">
            <a:avLst/>
          </a:prstGeom>
          <a:solidFill>
            <a:schemeClr val="accent1"/>
          </a:solidFill>
        </p:spPr>
        <p:txBody>
          <a:bodyPr wrap="square" rtlCol="0">
            <a:spAutoFit/>
          </a:bodyPr>
          <a:lstStyle/>
          <a:p>
            <a:pPr algn="ct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Control Arm</a:t>
            </a:r>
          </a:p>
        </p:txBody>
      </p:sp>
      <p:sp>
        <p:nvSpPr>
          <p:cNvPr id="38" name="TextBox 37">
            <a:extLst>
              <a:ext uri="{FF2B5EF4-FFF2-40B4-BE49-F238E27FC236}">
                <a16:creationId xmlns:a16="http://schemas.microsoft.com/office/drawing/2014/main" id="{AD3A248B-536D-0079-F03C-F41366185CDB}"/>
              </a:ext>
            </a:extLst>
          </p:cNvPr>
          <p:cNvSpPr txBox="1"/>
          <p:nvPr/>
        </p:nvSpPr>
        <p:spPr>
          <a:xfrm>
            <a:off x="7644716" y="2655947"/>
            <a:ext cx="1104077" cy="246221"/>
          </a:xfrm>
          <a:prstGeom prst="rect">
            <a:avLst/>
          </a:prstGeom>
          <a:solidFill>
            <a:schemeClr val="accent1"/>
          </a:solidFill>
        </p:spPr>
        <p:txBody>
          <a:bodyPr wrap="square" rtlCol="0">
            <a:spAutoFit/>
          </a:bodyPr>
          <a:lstStyle/>
          <a:p>
            <a:pPr algn="ct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Treatment Arm</a:t>
            </a:r>
          </a:p>
        </p:txBody>
      </p:sp>
      <p:sp>
        <p:nvSpPr>
          <p:cNvPr id="39" name="TextBox 38">
            <a:extLst>
              <a:ext uri="{FF2B5EF4-FFF2-40B4-BE49-F238E27FC236}">
                <a16:creationId xmlns:a16="http://schemas.microsoft.com/office/drawing/2014/main" id="{1AFE4914-93CB-16D5-3213-35FAC2AE7E9C}"/>
              </a:ext>
            </a:extLst>
          </p:cNvPr>
          <p:cNvSpPr txBox="1"/>
          <p:nvPr/>
        </p:nvSpPr>
        <p:spPr>
          <a:xfrm>
            <a:off x="7644715" y="3846618"/>
            <a:ext cx="1104077" cy="246221"/>
          </a:xfrm>
          <a:prstGeom prst="rect">
            <a:avLst/>
          </a:prstGeom>
          <a:solidFill>
            <a:schemeClr val="accent1"/>
          </a:solidFill>
        </p:spPr>
        <p:txBody>
          <a:bodyPr wrap="square" rtlCol="0">
            <a:spAutoFit/>
          </a:bodyPr>
          <a:lstStyle/>
          <a:p>
            <a:pPr algn="ct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Treatment Arm</a:t>
            </a:r>
          </a:p>
        </p:txBody>
      </p:sp>
      <p:cxnSp>
        <p:nvCxnSpPr>
          <p:cNvPr id="41" name="Straight Arrow Connector 40">
            <a:extLst>
              <a:ext uri="{FF2B5EF4-FFF2-40B4-BE49-F238E27FC236}">
                <a16:creationId xmlns:a16="http://schemas.microsoft.com/office/drawing/2014/main" id="{41E075C1-F83A-6BB4-9AA3-1221A1C3244B}"/>
              </a:ext>
            </a:extLst>
          </p:cNvPr>
          <p:cNvCxnSpPr>
            <a:cxnSpLocks/>
            <a:endCxn id="22" idx="1"/>
          </p:cNvCxnSpPr>
          <p:nvPr/>
        </p:nvCxnSpPr>
        <p:spPr>
          <a:xfrm>
            <a:off x="8826285" y="2281933"/>
            <a:ext cx="864011" cy="271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06BB138-3EA1-8E08-393A-164E4DC93C6E}"/>
              </a:ext>
            </a:extLst>
          </p:cNvPr>
          <p:cNvCxnSpPr>
            <a:cxnSpLocks/>
          </p:cNvCxnSpPr>
          <p:nvPr/>
        </p:nvCxnSpPr>
        <p:spPr>
          <a:xfrm flipV="1">
            <a:off x="8880529" y="2750938"/>
            <a:ext cx="809767" cy="676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2EE60C9-7134-2F10-2EC3-5B41628E99FD}"/>
              </a:ext>
            </a:extLst>
          </p:cNvPr>
          <p:cNvCxnSpPr/>
          <p:nvPr/>
        </p:nvCxnSpPr>
        <p:spPr>
          <a:xfrm>
            <a:off x="8973519" y="2799722"/>
            <a:ext cx="716777" cy="7748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C1AD8A3-48FE-FDB0-00EA-CADC97360FF8}"/>
              </a:ext>
            </a:extLst>
          </p:cNvPr>
          <p:cNvCxnSpPr>
            <a:cxnSpLocks/>
          </p:cNvCxnSpPr>
          <p:nvPr/>
        </p:nvCxnSpPr>
        <p:spPr>
          <a:xfrm flipV="1">
            <a:off x="8930879" y="3744353"/>
            <a:ext cx="759417" cy="211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Arrow: Bent-Up 52">
            <a:extLst>
              <a:ext uri="{FF2B5EF4-FFF2-40B4-BE49-F238E27FC236}">
                <a16:creationId xmlns:a16="http://schemas.microsoft.com/office/drawing/2014/main" id="{55992831-6ECA-0879-E927-A686AE43866D}"/>
              </a:ext>
            </a:extLst>
          </p:cNvPr>
          <p:cNvSpPr/>
          <p:nvPr/>
        </p:nvSpPr>
        <p:spPr>
          <a:xfrm rot="16200000" flipH="1" flipV="1">
            <a:off x="962064" y="4419803"/>
            <a:ext cx="2110869" cy="687396"/>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4" name="Straight Arrow Connector 53">
            <a:extLst>
              <a:ext uri="{FF2B5EF4-FFF2-40B4-BE49-F238E27FC236}">
                <a16:creationId xmlns:a16="http://schemas.microsoft.com/office/drawing/2014/main" id="{D145522E-A4CD-804A-A511-CE4943D3EADB}"/>
              </a:ext>
            </a:extLst>
          </p:cNvPr>
          <p:cNvCxnSpPr>
            <a:cxnSpLocks/>
          </p:cNvCxnSpPr>
          <p:nvPr/>
        </p:nvCxnSpPr>
        <p:spPr>
          <a:xfrm flipV="1">
            <a:off x="2923837" y="2580148"/>
            <a:ext cx="864011" cy="3945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895B31E1-9619-F392-3497-0094E8467430}"/>
              </a:ext>
            </a:extLst>
          </p:cNvPr>
          <p:cNvCxnSpPr>
            <a:cxnSpLocks/>
          </p:cNvCxnSpPr>
          <p:nvPr/>
        </p:nvCxnSpPr>
        <p:spPr>
          <a:xfrm>
            <a:off x="2934087" y="3286335"/>
            <a:ext cx="990208" cy="387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FAD26BE5-D7DF-D04D-54C3-EA15D2C74291}"/>
              </a:ext>
            </a:extLst>
          </p:cNvPr>
          <p:cNvCxnSpPr>
            <a:cxnSpLocks/>
          </p:cNvCxnSpPr>
          <p:nvPr/>
        </p:nvCxnSpPr>
        <p:spPr>
          <a:xfrm flipV="1">
            <a:off x="5733668" y="2315069"/>
            <a:ext cx="729546" cy="1850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388002C-079B-2B9F-32D2-8EF7FF391B90}"/>
              </a:ext>
            </a:extLst>
          </p:cNvPr>
          <p:cNvCxnSpPr>
            <a:cxnSpLocks/>
            <a:endCxn id="15" idx="1"/>
          </p:cNvCxnSpPr>
          <p:nvPr/>
        </p:nvCxnSpPr>
        <p:spPr>
          <a:xfrm flipV="1">
            <a:off x="5408890" y="3452808"/>
            <a:ext cx="1282082" cy="212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20E006B6-A0F2-41F4-62CB-49A7FDF8FD7F}"/>
              </a:ext>
            </a:extLst>
          </p:cNvPr>
          <p:cNvCxnSpPr>
            <a:cxnSpLocks/>
          </p:cNvCxnSpPr>
          <p:nvPr/>
        </p:nvCxnSpPr>
        <p:spPr>
          <a:xfrm>
            <a:off x="5735346" y="2631721"/>
            <a:ext cx="749004" cy="131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BF86D34F-DC7B-0BFA-568B-7510040550A5}"/>
              </a:ext>
            </a:extLst>
          </p:cNvPr>
          <p:cNvCxnSpPr>
            <a:cxnSpLocks/>
            <a:endCxn id="21" idx="1"/>
          </p:cNvCxnSpPr>
          <p:nvPr/>
        </p:nvCxnSpPr>
        <p:spPr>
          <a:xfrm>
            <a:off x="5408890" y="3853845"/>
            <a:ext cx="1282082" cy="138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93DEA41-A9C2-8B1A-B32C-A8E4E4B1DF0E}"/>
              </a:ext>
            </a:extLst>
          </p:cNvPr>
          <p:cNvSpPr txBox="1"/>
          <p:nvPr/>
        </p:nvSpPr>
        <p:spPr>
          <a:xfrm>
            <a:off x="7372444" y="5137271"/>
            <a:ext cx="3422979" cy="1200329"/>
          </a:xfrm>
          <a:prstGeom prst="rect">
            <a:avLst/>
          </a:prstGeom>
          <a:solidFill>
            <a:schemeClr val="accent1"/>
          </a:solidFill>
        </p:spPr>
        <p:txBody>
          <a:bodyPr wrap="square" rtlCol="0">
            <a:spAutoFit/>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If there is a significant difference between the arms, how would we know if it’s because of the treatment or by the green factor?</a:t>
            </a:r>
          </a:p>
        </p:txBody>
      </p:sp>
      <p:sp>
        <p:nvSpPr>
          <p:cNvPr id="4" name="TextBox 3">
            <a:extLst>
              <a:ext uri="{FF2B5EF4-FFF2-40B4-BE49-F238E27FC236}">
                <a16:creationId xmlns:a16="http://schemas.microsoft.com/office/drawing/2014/main" id="{434BB26D-CFB3-072E-BB26-094FCD2F088A}"/>
              </a:ext>
            </a:extLst>
          </p:cNvPr>
          <p:cNvSpPr txBox="1"/>
          <p:nvPr/>
        </p:nvSpPr>
        <p:spPr>
          <a:xfrm>
            <a:off x="9968103" y="2044864"/>
            <a:ext cx="960821" cy="246221"/>
          </a:xfrm>
          <a:prstGeom prst="rect">
            <a:avLst/>
          </a:prstGeom>
          <a:solidFill>
            <a:schemeClr val="accent1"/>
          </a:solidFill>
        </p:spPr>
        <p:txBody>
          <a:bodyPr wrap="square" rtlCol="0">
            <a:spAutoFit/>
          </a:bodyPr>
          <a:lstStyle/>
          <a:p>
            <a:pPr algn="ct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Control Arm</a:t>
            </a:r>
          </a:p>
        </p:txBody>
      </p:sp>
      <p:sp>
        <p:nvSpPr>
          <p:cNvPr id="5" name="TextBox 4">
            <a:extLst>
              <a:ext uri="{FF2B5EF4-FFF2-40B4-BE49-F238E27FC236}">
                <a16:creationId xmlns:a16="http://schemas.microsoft.com/office/drawing/2014/main" id="{414B2F16-D3FE-4C60-A0B7-288113C0931C}"/>
              </a:ext>
            </a:extLst>
          </p:cNvPr>
          <p:cNvSpPr txBox="1"/>
          <p:nvPr/>
        </p:nvSpPr>
        <p:spPr>
          <a:xfrm>
            <a:off x="9929558" y="3180046"/>
            <a:ext cx="1037910" cy="246221"/>
          </a:xfrm>
          <a:prstGeom prst="rect">
            <a:avLst/>
          </a:prstGeom>
          <a:solidFill>
            <a:schemeClr val="accent1"/>
          </a:solidFill>
        </p:spPr>
        <p:txBody>
          <a:bodyPr wrap="square" rtlCol="0">
            <a:spAutoFit/>
          </a:bodyPr>
          <a:lstStyle/>
          <a:p>
            <a:pPr algn="ct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Treatment Arm</a:t>
            </a:r>
          </a:p>
        </p:txBody>
      </p:sp>
    </p:spTree>
    <p:extLst>
      <p:ext uri="{BB962C8B-B14F-4D97-AF65-F5344CB8AC3E}">
        <p14:creationId xmlns:p14="http://schemas.microsoft.com/office/powerpoint/2010/main" val="2817966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54"/>
                                        </p:tgtEl>
                                        <p:attrNameLst>
                                          <p:attrName>style.visibility</p:attrName>
                                        </p:attrNameLst>
                                      </p:cBhvr>
                                      <p:to>
                                        <p:strVal val="visible"/>
                                      </p:to>
                                    </p:set>
                                    <p:animEffect transition="in" filter="fade">
                                      <p:cBhvr>
                                        <p:cTn id="13" dur="500"/>
                                        <p:tgtEl>
                                          <p:spTgt spid="5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 presetClass="entr" presetSubtype="0" fill="hold" nodeType="with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0"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par>
                                <p:cTn id="32" presetID="10" presetClass="entr" presetSubtype="0" fill="hold" nodeType="with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fade">
                                      <p:cBhvr>
                                        <p:cTn id="34" dur="500"/>
                                        <p:tgtEl>
                                          <p:spTgt spid="58"/>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0" presetClass="entr" presetSubtype="0"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500"/>
                                        <p:tgtEl>
                                          <p:spTgt spid="37"/>
                                        </p:tgtEl>
                                      </p:cBhvr>
                                    </p:animEffect>
                                  </p:childTnLst>
                                </p:cTn>
                              </p:par>
                              <p:par>
                                <p:cTn id="50" presetID="10" presetClass="entr" presetSubtype="0" fill="hold" nodeType="withEffect">
                                  <p:stCondLst>
                                    <p:cond delay="0"/>
                                  </p:stCondLst>
                                  <p:childTnLst>
                                    <p:set>
                                      <p:cBhvr>
                                        <p:cTn id="51" dur="1" fill="hold">
                                          <p:stCondLst>
                                            <p:cond delay="0"/>
                                          </p:stCondLst>
                                        </p:cTn>
                                        <p:tgtEl>
                                          <p:spTgt spid="61"/>
                                        </p:tgtEl>
                                        <p:attrNameLst>
                                          <p:attrName>style.visibility</p:attrName>
                                        </p:attrNameLst>
                                      </p:cBhvr>
                                      <p:to>
                                        <p:strVal val="visible"/>
                                      </p:to>
                                    </p:set>
                                    <p:animEffect transition="in" filter="fade">
                                      <p:cBhvr>
                                        <p:cTn id="52" dur="500"/>
                                        <p:tgtEl>
                                          <p:spTgt spid="61"/>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0"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500"/>
                                        <p:tgtEl>
                                          <p:spTgt spid="39"/>
                                        </p:tgtEl>
                                      </p:cBhvr>
                                    </p:animEffect>
                                  </p:childTnLst>
                                </p:cTn>
                              </p:par>
                              <p:par>
                                <p:cTn id="60" presetID="10" presetClass="entr" presetSubtype="0" fill="hold" nodeType="with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fade">
                                      <p:cBhvr>
                                        <p:cTn id="62" dur="500"/>
                                        <p:tgtEl>
                                          <p:spTgt spid="6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 presetClass="entr" presetSubtype="0" fill="hold" nodeType="withEffect">
                                  <p:stCondLst>
                                    <p:cond delay="0"/>
                                  </p:stCondLst>
                                  <p:childTnLst>
                                    <p:set>
                                      <p:cBhvr>
                                        <p:cTn id="69" dur="1" fill="hold">
                                          <p:stCondLst>
                                            <p:cond delay="0"/>
                                          </p:stCondLst>
                                        </p:cTn>
                                        <p:tgtEl>
                                          <p:spTgt spid="41"/>
                                        </p:tgtEl>
                                        <p:attrNameLst>
                                          <p:attrName>style.visibility</p:attrName>
                                        </p:attrNameLst>
                                      </p:cBhvr>
                                      <p:to>
                                        <p:strVal val="visible"/>
                                      </p:to>
                                    </p:set>
                                  </p:childTnLst>
                                </p:cTn>
                              </p:par>
                              <p:par>
                                <p:cTn id="70" presetID="10" presetClass="entr" presetSubtype="0" fill="hold" nodeType="with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fade">
                                      <p:cBhvr>
                                        <p:cTn id="72" dur="500"/>
                                        <p:tgtEl>
                                          <p:spTgt spid="4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
                                        </p:tgtEl>
                                        <p:attrNameLst>
                                          <p:attrName>style.visibility</p:attrName>
                                        </p:attrNameLst>
                                      </p:cBhvr>
                                      <p:to>
                                        <p:strVal val="visible"/>
                                      </p:to>
                                    </p:set>
                                    <p:animEffect transition="in" filter="fade">
                                      <p:cBhvr>
                                        <p:cTn id="75" dur="500"/>
                                        <p:tgtEl>
                                          <p:spTgt spid="4"/>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fade">
                                      <p:cBhvr>
                                        <p:cTn id="80" dur="500"/>
                                        <p:tgtEl>
                                          <p:spTgt spid="23"/>
                                        </p:tgtEl>
                                      </p:cBhvr>
                                    </p:animEffect>
                                  </p:childTnLst>
                                </p:cTn>
                              </p:par>
                              <p:par>
                                <p:cTn id="81" presetID="1" presetClass="entr" presetSubtype="0" fill="hold" nodeType="with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par>
                                <p:cTn id="83" presetID="10" presetClass="entr" presetSubtype="0" fill="hold" nodeType="withEffect">
                                  <p:stCondLst>
                                    <p:cond delay="0"/>
                                  </p:stCondLst>
                                  <p:childTnLst>
                                    <p:set>
                                      <p:cBhvr>
                                        <p:cTn id="84" dur="1" fill="hold">
                                          <p:stCondLst>
                                            <p:cond delay="0"/>
                                          </p:stCondLst>
                                        </p:cTn>
                                        <p:tgtEl>
                                          <p:spTgt spid="46"/>
                                        </p:tgtEl>
                                        <p:attrNameLst>
                                          <p:attrName>style.visibility</p:attrName>
                                        </p:attrNameLst>
                                      </p:cBhvr>
                                      <p:to>
                                        <p:strVal val="visible"/>
                                      </p:to>
                                    </p:set>
                                    <p:animEffect transition="in" filter="fade">
                                      <p:cBhvr>
                                        <p:cTn id="85" dur="500"/>
                                        <p:tgtEl>
                                          <p:spTgt spid="4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
                                        </p:tgtEl>
                                        <p:attrNameLst>
                                          <p:attrName>style.visibility</p:attrName>
                                        </p:attrNameLst>
                                      </p:cBhvr>
                                      <p:to>
                                        <p:strVal val="visible"/>
                                      </p:to>
                                    </p:set>
                                    <p:animEffect transition="in" filter="fade">
                                      <p:cBhvr>
                                        <p:cTn id="88" dur="500"/>
                                        <p:tgtEl>
                                          <p:spTgt spid="5"/>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11"/>
                                        </p:tgtEl>
                                        <p:attrNameLst>
                                          <p:attrName>style.visibility</p:attrName>
                                        </p:attrNameLst>
                                      </p:cBhvr>
                                      <p:to>
                                        <p:strVal val="visible"/>
                                      </p:to>
                                    </p:set>
                                    <p:animEffect transition="in" filter="fade">
                                      <p:cBhvr>
                                        <p:cTn id="93" dur="500"/>
                                        <p:tgtEl>
                                          <p:spTgt spid="11"/>
                                        </p:tgtEl>
                                      </p:cBhvr>
                                    </p:animEffect>
                                  </p:childTnLst>
                                </p:cTn>
                              </p:par>
                            </p:childTnLst>
                          </p:cTn>
                        </p:par>
                      </p:childTnLst>
                    </p:cTn>
                  </p:par>
                  <p:par>
                    <p:cTn id="94" fill="hold">
                      <p:stCondLst>
                        <p:cond delay="indefinite"/>
                      </p:stCondLst>
                      <p:childTnLst>
                        <p:par>
                          <p:cTn id="95" fill="hold">
                            <p:stCondLst>
                              <p:cond delay="0"/>
                            </p:stCondLst>
                            <p:childTnLst>
                              <p:par>
                                <p:cTn id="96" presetID="14" presetClass="entr" presetSubtype="10" fill="hold" grpId="0" nodeType="click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randombar(horizontal)">
                                      <p:cBhvr>
                                        <p:cTn id="98" dur="500"/>
                                        <p:tgtEl>
                                          <p:spTgt spid="16"/>
                                        </p:tgtEl>
                                      </p:cBhvr>
                                    </p:animEffect>
                                  </p:childTnLst>
                                </p:cTn>
                              </p:par>
                              <p:par>
                                <p:cTn id="99" presetID="14" presetClass="entr" presetSubtype="10" fill="hold" grpId="0" nodeType="withEffect">
                                  <p:stCondLst>
                                    <p:cond delay="0"/>
                                  </p:stCondLst>
                                  <p:childTnLst>
                                    <p:set>
                                      <p:cBhvr>
                                        <p:cTn id="100" dur="1" fill="hold">
                                          <p:stCondLst>
                                            <p:cond delay="0"/>
                                          </p:stCondLst>
                                        </p:cTn>
                                        <p:tgtEl>
                                          <p:spTgt spid="17"/>
                                        </p:tgtEl>
                                        <p:attrNameLst>
                                          <p:attrName>style.visibility</p:attrName>
                                        </p:attrNameLst>
                                      </p:cBhvr>
                                      <p:to>
                                        <p:strVal val="visible"/>
                                      </p:to>
                                    </p:set>
                                    <p:animEffect transition="in" filter="randombar(horizontal)">
                                      <p:cBhvr>
                                        <p:cTn id="101" dur="500"/>
                                        <p:tgtEl>
                                          <p:spTgt spid="17"/>
                                        </p:tgtEl>
                                      </p:cBhvr>
                                    </p:animEffect>
                                  </p:childTnLst>
                                </p:cTn>
                              </p:par>
                              <p:par>
                                <p:cTn id="102" presetID="14" presetClass="entr" presetSubtype="10" fill="hold" grpId="0" nodeType="withEffect">
                                  <p:stCondLst>
                                    <p:cond delay="0"/>
                                  </p:stCondLst>
                                  <p:childTnLst>
                                    <p:set>
                                      <p:cBhvr>
                                        <p:cTn id="103" dur="1" fill="hold">
                                          <p:stCondLst>
                                            <p:cond delay="0"/>
                                          </p:stCondLst>
                                        </p:cTn>
                                        <p:tgtEl>
                                          <p:spTgt spid="29"/>
                                        </p:tgtEl>
                                        <p:attrNameLst>
                                          <p:attrName>style.visibility</p:attrName>
                                        </p:attrNameLst>
                                      </p:cBhvr>
                                      <p:to>
                                        <p:strVal val="visible"/>
                                      </p:to>
                                    </p:set>
                                    <p:animEffect transition="in" filter="randombar(horizontal)">
                                      <p:cBhvr>
                                        <p:cTn id="104" dur="500"/>
                                        <p:tgtEl>
                                          <p:spTgt spid="29"/>
                                        </p:tgtEl>
                                      </p:cBhvr>
                                    </p:animEffect>
                                  </p:childTnLst>
                                </p:cTn>
                              </p:par>
                              <p:par>
                                <p:cTn id="105" presetID="14" presetClass="entr" presetSubtype="10" fill="hold" grpId="0" nodeType="withEffect">
                                  <p:stCondLst>
                                    <p:cond delay="0"/>
                                  </p:stCondLst>
                                  <p:childTnLst>
                                    <p:set>
                                      <p:cBhvr>
                                        <p:cTn id="106" dur="1" fill="hold">
                                          <p:stCondLst>
                                            <p:cond delay="0"/>
                                          </p:stCondLst>
                                        </p:cTn>
                                        <p:tgtEl>
                                          <p:spTgt spid="30"/>
                                        </p:tgtEl>
                                        <p:attrNameLst>
                                          <p:attrName>style.visibility</p:attrName>
                                        </p:attrNameLst>
                                      </p:cBhvr>
                                      <p:to>
                                        <p:strVal val="visible"/>
                                      </p:to>
                                    </p:set>
                                    <p:animEffect transition="in" filter="randombar(horizontal)">
                                      <p:cBhvr>
                                        <p:cTn id="107" dur="500"/>
                                        <p:tgtEl>
                                          <p:spTgt spid="30"/>
                                        </p:tgtEl>
                                      </p:cBhvr>
                                    </p:animEffect>
                                  </p:childTnLst>
                                </p:cTn>
                              </p:par>
                              <p:par>
                                <p:cTn id="108" presetID="14" presetClass="entr" presetSubtype="10" fill="hold" grpId="0" nodeType="withEffect">
                                  <p:stCondLst>
                                    <p:cond delay="0"/>
                                  </p:stCondLst>
                                  <p:childTnLst>
                                    <p:set>
                                      <p:cBhvr>
                                        <p:cTn id="109" dur="1" fill="hold">
                                          <p:stCondLst>
                                            <p:cond delay="0"/>
                                          </p:stCondLst>
                                        </p:cTn>
                                        <p:tgtEl>
                                          <p:spTgt spid="53"/>
                                        </p:tgtEl>
                                        <p:attrNameLst>
                                          <p:attrName>style.visibility</p:attrName>
                                        </p:attrNameLst>
                                      </p:cBhvr>
                                      <p:to>
                                        <p:strVal val="visible"/>
                                      </p:to>
                                    </p:set>
                                    <p:animEffect transition="in" filter="randombar(horizontal)">
                                      <p:cBhvr>
                                        <p:cTn id="110" dur="500"/>
                                        <p:tgtEl>
                                          <p:spTgt spid="53"/>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2"/>
                                        </p:tgtEl>
                                        <p:attrNameLst>
                                          <p:attrName>style.visibility</p:attrName>
                                        </p:attrNameLst>
                                      </p:cBhvr>
                                      <p:to>
                                        <p:strVal val="visible"/>
                                      </p:to>
                                    </p:set>
                                    <p:animEffect transition="in" filter="fade">
                                      <p:cBhvr>
                                        <p:cTn id="1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P spid="16" grpId="0"/>
      <p:bldP spid="17" grpId="0"/>
      <p:bldP spid="18" grpId="0"/>
      <p:bldP spid="19" grpId="0"/>
      <p:bldP spid="20" grpId="0"/>
      <p:bldP spid="21" grpId="0"/>
      <p:bldP spid="22" grpId="0"/>
      <p:bldP spid="23" grpId="0"/>
      <p:bldP spid="26" grpId="0" animBg="1"/>
      <p:bldP spid="27" grpId="0" animBg="1"/>
      <p:bldP spid="29" grpId="0" animBg="1"/>
      <p:bldP spid="30" grpId="0" animBg="1"/>
      <p:bldP spid="36" grpId="0" animBg="1"/>
      <p:bldP spid="37" grpId="0" animBg="1"/>
      <p:bldP spid="38" grpId="0" animBg="1"/>
      <p:bldP spid="39" grpId="0" animBg="1"/>
      <p:bldP spid="53" grpId="0" animBg="1"/>
      <p:bldP spid="2" grpId="0" animBg="1"/>
      <p:bldP spid="4"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309AC60-4997-FD06-D615-37AFF729884A}"/>
              </a:ext>
            </a:extLst>
          </p:cNvPr>
          <p:cNvSpPr>
            <a:spLocks noGrp="1"/>
          </p:cNvSpPr>
          <p:nvPr>
            <p:ph type="sldNum" sz="quarter" idx="11"/>
          </p:nvPr>
        </p:nvSpPr>
        <p:spPr/>
        <p:txBody>
          <a:bodyPr/>
          <a:lstStyle/>
          <a:p>
            <a:fld id="{523A240F-EAFE-E84F-B44C-6D7A08E0E409}" type="slidenum">
              <a:rPr lang="en-US" smtClean="0"/>
              <a:pPr/>
              <a:t>4</a:t>
            </a:fld>
            <a:endParaRPr lang="en-US"/>
          </a:p>
        </p:txBody>
      </p:sp>
      <p:sp>
        <p:nvSpPr>
          <p:cNvPr id="4" name="Footer Placeholder 3">
            <a:extLst>
              <a:ext uri="{FF2B5EF4-FFF2-40B4-BE49-F238E27FC236}">
                <a16:creationId xmlns:a16="http://schemas.microsoft.com/office/drawing/2014/main" id="{0C2BE7DA-F8C7-8340-8EF2-153D33DB2669}"/>
              </a:ext>
            </a:extLst>
          </p:cNvPr>
          <p:cNvSpPr>
            <a:spLocks noGrp="1"/>
          </p:cNvSpPr>
          <p:nvPr>
            <p:ph type="ftr" sz="quarter" idx="10"/>
          </p:nvPr>
        </p:nvSpPr>
        <p:spPr/>
        <p:txBody>
          <a:bodyPr/>
          <a:lstStyle/>
          <a:p>
            <a:r>
              <a:rPr lang="en-US"/>
              <a:t>MSK Confidential — do not distribute</a:t>
            </a:r>
          </a:p>
        </p:txBody>
      </p:sp>
      <p:sp>
        <p:nvSpPr>
          <p:cNvPr id="9" name="Text Placeholder 8">
            <a:extLst>
              <a:ext uri="{FF2B5EF4-FFF2-40B4-BE49-F238E27FC236}">
                <a16:creationId xmlns:a16="http://schemas.microsoft.com/office/drawing/2014/main" id="{E4DB3DE0-8520-8F46-BF97-5E35A7AC65A0}"/>
              </a:ext>
            </a:extLst>
          </p:cNvPr>
          <p:cNvSpPr>
            <a:spLocks noGrp="1"/>
          </p:cNvSpPr>
          <p:nvPr>
            <p:ph type="body" sz="half" idx="2"/>
          </p:nvPr>
        </p:nvSpPr>
        <p:spPr/>
        <p:txBody>
          <a:bodyPr/>
          <a:lstStyle/>
          <a:p>
            <a:br>
              <a:rPr lang="en-US" dirty="0"/>
            </a:br>
            <a:r>
              <a:rPr lang="en-US" dirty="0">
                <a:hlinkClick r:id="rId3"/>
              </a:rPr>
              <a:t>man going into surgery anesthesia - Search Images</a:t>
            </a:r>
            <a:endParaRPr lang="en-US" dirty="0"/>
          </a:p>
        </p:txBody>
      </p:sp>
      <p:sp>
        <p:nvSpPr>
          <p:cNvPr id="2" name="Title 1">
            <a:extLst>
              <a:ext uri="{FF2B5EF4-FFF2-40B4-BE49-F238E27FC236}">
                <a16:creationId xmlns:a16="http://schemas.microsoft.com/office/drawing/2014/main" id="{31276404-F8F3-A445-9CFF-8421F3D4BE72}"/>
              </a:ext>
            </a:extLst>
          </p:cNvPr>
          <p:cNvSpPr>
            <a:spLocks noGrp="1"/>
          </p:cNvSpPr>
          <p:nvPr>
            <p:ph type="title"/>
          </p:nvPr>
        </p:nvSpPr>
        <p:spPr/>
        <p:txBody>
          <a:bodyPr/>
          <a:lstStyle/>
          <a:p>
            <a:r>
              <a:rPr lang="en-US" sz="2800" dirty="0"/>
              <a:t>Deep neuromuscular blockade (NMB) has been associated with lower postoperative pain in minimally invasive surgeries</a:t>
            </a:r>
          </a:p>
        </p:txBody>
      </p:sp>
      <p:sp>
        <p:nvSpPr>
          <p:cNvPr id="13" name="TextBox 12">
            <a:extLst>
              <a:ext uri="{FF2B5EF4-FFF2-40B4-BE49-F238E27FC236}">
                <a16:creationId xmlns:a16="http://schemas.microsoft.com/office/drawing/2014/main" id="{BA95AF47-94F9-802E-38A7-E17E47038B53}"/>
              </a:ext>
            </a:extLst>
          </p:cNvPr>
          <p:cNvSpPr txBox="1"/>
          <p:nvPr/>
        </p:nvSpPr>
        <p:spPr>
          <a:xfrm>
            <a:off x="352601" y="3151610"/>
            <a:ext cx="2288134" cy="923330"/>
          </a:xfrm>
          <a:prstGeom prst="rect">
            <a:avLst/>
          </a:prstGeom>
          <a:noFill/>
        </p:spPr>
        <p:txBody>
          <a:bodyPr wrap="square" rtlCol="0">
            <a:spAutoFit/>
          </a:bodyPr>
          <a:lstStyle/>
          <a:p>
            <a:pPr algn="ctr"/>
            <a:r>
              <a:rPr lang="en-US" b="1" dirty="0">
                <a:solidFill>
                  <a:srgbClr val="272524"/>
                </a:solidFill>
              </a:rPr>
              <a:t>Moderate NMB</a:t>
            </a:r>
          </a:p>
          <a:p>
            <a:pPr algn="ctr"/>
            <a:r>
              <a:rPr lang="en-US" dirty="0">
                <a:solidFill>
                  <a:srgbClr val="272524"/>
                </a:solidFill>
              </a:rPr>
              <a:t>Light Sleep</a:t>
            </a:r>
          </a:p>
          <a:p>
            <a:pPr algn="ctr"/>
            <a:r>
              <a:rPr lang="en-US" dirty="0">
                <a:solidFill>
                  <a:srgbClr val="272524"/>
                </a:solidFill>
              </a:rPr>
              <a:t>(n = 67)</a:t>
            </a:r>
          </a:p>
        </p:txBody>
      </p:sp>
      <p:sp>
        <p:nvSpPr>
          <p:cNvPr id="14" name="TextBox 13">
            <a:extLst>
              <a:ext uri="{FF2B5EF4-FFF2-40B4-BE49-F238E27FC236}">
                <a16:creationId xmlns:a16="http://schemas.microsoft.com/office/drawing/2014/main" id="{78C9E235-8E2F-5FDB-ED75-DDFD6CF54928}"/>
              </a:ext>
            </a:extLst>
          </p:cNvPr>
          <p:cNvSpPr txBox="1"/>
          <p:nvPr/>
        </p:nvSpPr>
        <p:spPr>
          <a:xfrm>
            <a:off x="9254177" y="3151610"/>
            <a:ext cx="2288134" cy="923330"/>
          </a:xfrm>
          <a:prstGeom prst="rect">
            <a:avLst/>
          </a:prstGeom>
          <a:noFill/>
        </p:spPr>
        <p:txBody>
          <a:bodyPr wrap="square" rtlCol="0">
            <a:spAutoFit/>
          </a:bodyPr>
          <a:lstStyle/>
          <a:p>
            <a:pPr algn="ctr"/>
            <a:r>
              <a:rPr lang="en-US" b="1" dirty="0">
                <a:solidFill>
                  <a:srgbClr val="272524"/>
                </a:solidFill>
              </a:rPr>
              <a:t>Deep NMB</a:t>
            </a:r>
          </a:p>
          <a:p>
            <a:pPr algn="ctr"/>
            <a:r>
              <a:rPr lang="en-US" dirty="0">
                <a:solidFill>
                  <a:srgbClr val="272524"/>
                </a:solidFill>
              </a:rPr>
              <a:t>Deep Sleep</a:t>
            </a:r>
          </a:p>
          <a:p>
            <a:pPr algn="ctr"/>
            <a:r>
              <a:rPr lang="en-US" dirty="0">
                <a:solidFill>
                  <a:srgbClr val="272524"/>
                </a:solidFill>
              </a:rPr>
              <a:t>(n = 63)</a:t>
            </a:r>
          </a:p>
        </p:txBody>
      </p:sp>
      <p:sp>
        <p:nvSpPr>
          <p:cNvPr id="5" name="TextBox 4">
            <a:extLst>
              <a:ext uri="{FF2B5EF4-FFF2-40B4-BE49-F238E27FC236}">
                <a16:creationId xmlns:a16="http://schemas.microsoft.com/office/drawing/2014/main" id="{0EBE6D97-05FE-9CB1-B68F-5112FA06FE58}"/>
              </a:ext>
            </a:extLst>
          </p:cNvPr>
          <p:cNvSpPr txBox="1"/>
          <p:nvPr/>
        </p:nvSpPr>
        <p:spPr>
          <a:xfrm>
            <a:off x="1281723" y="5373754"/>
            <a:ext cx="9145794" cy="369332"/>
          </a:xfrm>
          <a:prstGeom prst="rect">
            <a:avLst/>
          </a:prstGeom>
          <a:noFill/>
        </p:spPr>
        <p:txBody>
          <a:bodyPr wrap="square">
            <a:spAutoFit/>
          </a:bodyPr>
          <a:lstStyle/>
          <a:p>
            <a:r>
              <a:rPr lang="en-US" dirty="0">
                <a:solidFill>
                  <a:srgbClr val="272524"/>
                </a:solidFill>
              </a:rPr>
              <a:t>Special interest in minimally invasive robot-assisted surgeries (such as prostatectomies)</a:t>
            </a:r>
            <a:endParaRPr lang="en-US" dirty="0"/>
          </a:p>
        </p:txBody>
      </p:sp>
      <p:pic>
        <p:nvPicPr>
          <p:cNvPr id="1028" name="Picture 4" descr="Man going under Deep Sleep Anesthesia Before Surgery - YouTube">
            <a:extLst>
              <a:ext uri="{FF2B5EF4-FFF2-40B4-BE49-F238E27FC236}">
                <a16:creationId xmlns:a16="http://schemas.microsoft.com/office/drawing/2014/main" id="{16C127C0-A828-0C6C-55BF-FEACAFD90E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3885" y="1557094"/>
            <a:ext cx="6380136" cy="358882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A2DEDC2-2308-18F2-B7EE-141F229B5B8D}"/>
              </a:ext>
            </a:extLst>
          </p:cNvPr>
          <p:cNvSpPr txBox="1"/>
          <p:nvPr/>
        </p:nvSpPr>
        <p:spPr>
          <a:xfrm>
            <a:off x="2834506" y="5743086"/>
            <a:ext cx="6058894" cy="369332"/>
          </a:xfrm>
          <a:prstGeom prst="rect">
            <a:avLst/>
          </a:prstGeom>
          <a:noFill/>
        </p:spPr>
        <p:txBody>
          <a:bodyPr wrap="square" rtlCol="0">
            <a:spAutoFit/>
          </a:bodyPr>
          <a:lstStyle/>
          <a:p>
            <a:pPr algn="ctr"/>
            <a:r>
              <a:rPr lang="en-US" dirty="0">
                <a:solidFill>
                  <a:srgbClr val="272524"/>
                </a:solidFill>
              </a:rPr>
              <a:t>Median Age: 63</a:t>
            </a:r>
          </a:p>
        </p:txBody>
      </p:sp>
      <p:sp>
        <p:nvSpPr>
          <p:cNvPr id="3" name="Rectangle 2">
            <a:extLst>
              <a:ext uri="{FF2B5EF4-FFF2-40B4-BE49-F238E27FC236}">
                <a16:creationId xmlns:a16="http://schemas.microsoft.com/office/drawing/2014/main" id="{BA9EBFB2-7D13-37A5-07BB-CC2D9BD26B27}"/>
              </a:ext>
            </a:extLst>
          </p:cNvPr>
          <p:cNvSpPr/>
          <p:nvPr/>
        </p:nvSpPr>
        <p:spPr>
          <a:xfrm>
            <a:off x="524866" y="2578137"/>
            <a:ext cx="1969210" cy="48656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Standard of care</a:t>
            </a:r>
          </a:p>
        </p:txBody>
      </p:sp>
      <p:sp>
        <p:nvSpPr>
          <p:cNvPr id="8" name="Rectangle 7">
            <a:extLst>
              <a:ext uri="{FF2B5EF4-FFF2-40B4-BE49-F238E27FC236}">
                <a16:creationId xmlns:a16="http://schemas.microsoft.com/office/drawing/2014/main" id="{632DE6A8-BA37-D1EE-56CC-302EFFE308DF}"/>
              </a:ext>
            </a:extLst>
          </p:cNvPr>
          <p:cNvSpPr/>
          <p:nvPr/>
        </p:nvSpPr>
        <p:spPr>
          <a:xfrm>
            <a:off x="9413639" y="2578137"/>
            <a:ext cx="1969210" cy="48656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New Treatment</a:t>
            </a:r>
          </a:p>
        </p:txBody>
      </p:sp>
    </p:spTree>
    <p:extLst>
      <p:ext uri="{BB962C8B-B14F-4D97-AF65-F5344CB8AC3E}">
        <p14:creationId xmlns:p14="http://schemas.microsoft.com/office/powerpoint/2010/main" val="3294289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309AC60-4997-FD06-D615-37AFF729884A}"/>
              </a:ext>
            </a:extLst>
          </p:cNvPr>
          <p:cNvSpPr>
            <a:spLocks noGrp="1"/>
          </p:cNvSpPr>
          <p:nvPr>
            <p:ph type="sldNum" sz="quarter" idx="11"/>
          </p:nvPr>
        </p:nvSpPr>
        <p:spPr/>
        <p:txBody>
          <a:bodyPr/>
          <a:lstStyle/>
          <a:p>
            <a:fld id="{523A240F-EAFE-E84F-B44C-6D7A08E0E409}" type="slidenum">
              <a:rPr lang="en-US" smtClean="0"/>
              <a:pPr/>
              <a:t>5</a:t>
            </a:fld>
            <a:endParaRPr lang="en-US"/>
          </a:p>
        </p:txBody>
      </p:sp>
      <p:sp>
        <p:nvSpPr>
          <p:cNvPr id="4" name="Footer Placeholder 3">
            <a:extLst>
              <a:ext uri="{FF2B5EF4-FFF2-40B4-BE49-F238E27FC236}">
                <a16:creationId xmlns:a16="http://schemas.microsoft.com/office/drawing/2014/main" id="{0C2BE7DA-F8C7-8340-8EF2-153D33DB2669}"/>
              </a:ext>
            </a:extLst>
          </p:cNvPr>
          <p:cNvSpPr>
            <a:spLocks noGrp="1"/>
          </p:cNvSpPr>
          <p:nvPr>
            <p:ph type="ftr" sz="quarter" idx="10"/>
          </p:nvPr>
        </p:nvSpPr>
        <p:spPr/>
        <p:txBody>
          <a:bodyPr/>
          <a:lstStyle/>
          <a:p>
            <a:r>
              <a:rPr lang="en-US"/>
              <a:t>MSK Confidential — do not distribute</a:t>
            </a:r>
          </a:p>
        </p:txBody>
      </p:sp>
      <p:sp>
        <p:nvSpPr>
          <p:cNvPr id="2" name="Title 1">
            <a:extLst>
              <a:ext uri="{FF2B5EF4-FFF2-40B4-BE49-F238E27FC236}">
                <a16:creationId xmlns:a16="http://schemas.microsoft.com/office/drawing/2014/main" id="{31276404-F8F3-A445-9CFF-8421F3D4BE72}"/>
              </a:ext>
            </a:extLst>
          </p:cNvPr>
          <p:cNvSpPr>
            <a:spLocks noGrp="1"/>
          </p:cNvSpPr>
          <p:nvPr>
            <p:ph type="title"/>
          </p:nvPr>
        </p:nvSpPr>
        <p:spPr/>
        <p:txBody>
          <a:bodyPr/>
          <a:lstStyle/>
          <a:p>
            <a:r>
              <a:rPr lang="en-US" sz="2800" dirty="0"/>
              <a:t>MSK conducted a clinical trial comparing moderate and deep NMB, but errors in stratified randomization with BMI occurred</a:t>
            </a:r>
          </a:p>
        </p:txBody>
      </p:sp>
      <p:sp>
        <p:nvSpPr>
          <p:cNvPr id="15" name="Oval 14">
            <a:extLst>
              <a:ext uri="{FF2B5EF4-FFF2-40B4-BE49-F238E27FC236}">
                <a16:creationId xmlns:a16="http://schemas.microsoft.com/office/drawing/2014/main" id="{2D43C76D-B13E-3399-A39A-775E20CE68B5}"/>
              </a:ext>
            </a:extLst>
          </p:cNvPr>
          <p:cNvSpPr/>
          <p:nvPr/>
        </p:nvSpPr>
        <p:spPr>
          <a:xfrm>
            <a:off x="500095" y="1606882"/>
            <a:ext cx="3269952" cy="135084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Patients’ BMI recorded at multiple timepoints</a:t>
            </a:r>
          </a:p>
        </p:txBody>
      </p:sp>
      <p:sp>
        <p:nvSpPr>
          <p:cNvPr id="16" name="Oval 15">
            <a:extLst>
              <a:ext uri="{FF2B5EF4-FFF2-40B4-BE49-F238E27FC236}">
                <a16:creationId xmlns:a16="http://schemas.microsoft.com/office/drawing/2014/main" id="{E922E26D-541D-8EE5-3AD6-DA0057990903}"/>
              </a:ext>
            </a:extLst>
          </p:cNvPr>
          <p:cNvSpPr/>
          <p:nvPr/>
        </p:nvSpPr>
        <p:spPr>
          <a:xfrm>
            <a:off x="500095" y="3266399"/>
            <a:ext cx="3269952" cy="135084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Inconsistent timepoints used for stratification</a:t>
            </a:r>
          </a:p>
        </p:txBody>
      </p:sp>
      <p:sp>
        <p:nvSpPr>
          <p:cNvPr id="17" name="Oval 16">
            <a:extLst>
              <a:ext uri="{FF2B5EF4-FFF2-40B4-BE49-F238E27FC236}">
                <a16:creationId xmlns:a16="http://schemas.microsoft.com/office/drawing/2014/main" id="{5A737F95-C4EE-EC44-01C4-5EB33D5289FB}"/>
              </a:ext>
            </a:extLst>
          </p:cNvPr>
          <p:cNvSpPr/>
          <p:nvPr/>
        </p:nvSpPr>
        <p:spPr>
          <a:xfrm>
            <a:off x="360727" y="4955026"/>
            <a:ext cx="3531765" cy="135084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Discovered consistent timepoint after surgeries</a:t>
            </a:r>
          </a:p>
        </p:txBody>
      </p:sp>
      <p:sp>
        <p:nvSpPr>
          <p:cNvPr id="18" name="TextBox 17">
            <a:extLst>
              <a:ext uri="{FF2B5EF4-FFF2-40B4-BE49-F238E27FC236}">
                <a16:creationId xmlns:a16="http://schemas.microsoft.com/office/drawing/2014/main" id="{057A7D82-B55A-1A71-C354-68D19B97C398}"/>
              </a:ext>
            </a:extLst>
          </p:cNvPr>
          <p:cNvSpPr txBox="1"/>
          <p:nvPr/>
        </p:nvSpPr>
        <p:spPr>
          <a:xfrm>
            <a:off x="4031579" y="3757155"/>
            <a:ext cx="6949172" cy="369332"/>
          </a:xfrm>
          <a:prstGeom prst="rect">
            <a:avLst/>
          </a:prstGeom>
          <a:noFill/>
        </p:spPr>
        <p:txBody>
          <a:bodyPr wrap="square" rtlCol="0">
            <a:spAutoFit/>
          </a:bodyPr>
          <a:lstStyle/>
          <a:p>
            <a:pPr algn="ctr"/>
            <a:r>
              <a:rPr lang="en-US" b="1" dirty="0">
                <a:solidFill>
                  <a:srgbClr val="272524"/>
                </a:solidFill>
              </a:rPr>
              <a:t>Per-Randomized covariate </a:t>
            </a:r>
            <a:r>
              <a:rPr lang="en-US" dirty="0">
                <a:solidFill>
                  <a:srgbClr val="272524"/>
                </a:solidFill>
              </a:rPr>
              <a:t>with so-called “measurement error”</a:t>
            </a:r>
          </a:p>
        </p:txBody>
      </p:sp>
      <p:sp>
        <p:nvSpPr>
          <p:cNvPr id="21" name="TextBox 20">
            <a:extLst>
              <a:ext uri="{FF2B5EF4-FFF2-40B4-BE49-F238E27FC236}">
                <a16:creationId xmlns:a16="http://schemas.microsoft.com/office/drawing/2014/main" id="{D29D46C3-7FC1-87F7-355E-1E1A0761A031}"/>
              </a:ext>
            </a:extLst>
          </p:cNvPr>
          <p:cNvSpPr txBox="1"/>
          <p:nvPr/>
        </p:nvSpPr>
        <p:spPr>
          <a:xfrm>
            <a:off x="4156375" y="5433326"/>
            <a:ext cx="2469149" cy="369332"/>
          </a:xfrm>
          <a:prstGeom prst="rect">
            <a:avLst/>
          </a:prstGeom>
          <a:noFill/>
        </p:spPr>
        <p:txBody>
          <a:bodyPr wrap="square" rtlCol="0">
            <a:spAutoFit/>
          </a:bodyPr>
          <a:lstStyle/>
          <a:p>
            <a:pPr algn="ctr"/>
            <a:r>
              <a:rPr lang="en-US" b="1" dirty="0">
                <a:solidFill>
                  <a:srgbClr val="272524"/>
                </a:solidFill>
              </a:rPr>
              <a:t>Corrected covariate</a:t>
            </a:r>
          </a:p>
        </p:txBody>
      </p:sp>
      <p:sp>
        <p:nvSpPr>
          <p:cNvPr id="23" name="Arrow: Down 22">
            <a:extLst>
              <a:ext uri="{FF2B5EF4-FFF2-40B4-BE49-F238E27FC236}">
                <a16:creationId xmlns:a16="http://schemas.microsoft.com/office/drawing/2014/main" id="{F81852D0-8D96-D814-E2FA-3BF04F2CFBD1}"/>
              </a:ext>
            </a:extLst>
          </p:cNvPr>
          <p:cNvSpPr/>
          <p:nvPr/>
        </p:nvSpPr>
        <p:spPr>
          <a:xfrm>
            <a:off x="1778610" y="2850099"/>
            <a:ext cx="712922" cy="416300"/>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Arrow: Down 23">
            <a:extLst>
              <a:ext uri="{FF2B5EF4-FFF2-40B4-BE49-F238E27FC236}">
                <a16:creationId xmlns:a16="http://schemas.microsoft.com/office/drawing/2014/main" id="{99F60FD3-BF1E-28F5-B645-16343F4ADE4A}"/>
              </a:ext>
            </a:extLst>
          </p:cNvPr>
          <p:cNvSpPr/>
          <p:nvPr/>
        </p:nvSpPr>
        <p:spPr>
          <a:xfrm>
            <a:off x="1778610" y="4538726"/>
            <a:ext cx="712922" cy="416300"/>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EF90F5BF-58B1-DCDF-02CE-A065E18AE102}"/>
              </a:ext>
            </a:extLst>
          </p:cNvPr>
          <p:cNvSpPr>
            <a:spLocks noGrp="1"/>
          </p:cNvSpPr>
          <p:nvPr>
            <p:ph type="body" sz="half" idx="2"/>
          </p:nvPr>
        </p:nvSpPr>
        <p:spPr>
          <a:xfrm>
            <a:off x="512063" y="6374651"/>
            <a:ext cx="4680721" cy="245223"/>
          </a:xfrm>
        </p:spPr>
        <p:txBody>
          <a:bodyPr/>
          <a:lstStyle/>
          <a:p>
            <a:r>
              <a:rPr lang="en-US" dirty="0"/>
              <a:t>*</a:t>
            </a:r>
            <a:r>
              <a:rPr lang="en-US" b="0" i="0" dirty="0">
                <a:solidFill>
                  <a:srgbClr val="212121"/>
                </a:solidFill>
                <a:effectLst/>
                <a:latin typeface="BlinkMacSystemFont"/>
              </a:rPr>
              <a:t>Kahan, B. C., &amp; Morris, T. P. (2012). Improper analysis of trials </a:t>
            </a:r>
            <a:r>
              <a:rPr lang="en-US" b="0" i="0" dirty="0" err="1">
                <a:solidFill>
                  <a:srgbClr val="212121"/>
                </a:solidFill>
                <a:effectLst/>
                <a:latin typeface="BlinkMacSystemFont"/>
              </a:rPr>
              <a:t>randomised</a:t>
            </a:r>
            <a:r>
              <a:rPr lang="en-US" b="0" i="0" dirty="0">
                <a:solidFill>
                  <a:srgbClr val="212121"/>
                </a:solidFill>
                <a:effectLst/>
                <a:latin typeface="BlinkMacSystemFont"/>
              </a:rPr>
              <a:t> using stratified blocks or </a:t>
            </a:r>
            <a:r>
              <a:rPr lang="en-US" b="0" i="0" dirty="0" err="1">
                <a:solidFill>
                  <a:srgbClr val="212121"/>
                </a:solidFill>
                <a:effectLst/>
                <a:latin typeface="BlinkMacSystemFont"/>
              </a:rPr>
              <a:t>minimisation</a:t>
            </a:r>
            <a:r>
              <a:rPr lang="en-US" b="0" i="0" dirty="0">
                <a:solidFill>
                  <a:srgbClr val="212121"/>
                </a:solidFill>
                <a:effectLst/>
                <a:latin typeface="BlinkMacSystemFont"/>
              </a:rPr>
              <a:t>. </a:t>
            </a:r>
            <a:r>
              <a:rPr lang="en-US" b="0" i="1" dirty="0">
                <a:solidFill>
                  <a:srgbClr val="212121"/>
                </a:solidFill>
                <a:effectLst/>
                <a:latin typeface="BlinkMacSystemFont"/>
              </a:rPr>
              <a:t>Statistics in medicine</a:t>
            </a:r>
            <a:r>
              <a:rPr lang="en-US" b="0" i="0" dirty="0">
                <a:solidFill>
                  <a:srgbClr val="212121"/>
                </a:solidFill>
                <a:effectLst/>
                <a:latin typeface="BlinkMacSystemFont"/>
              </a:rPr>
              <a:t>, </a:t>
            </a:r>
            <a:r>
              <a:rPr lang="en-US" b="0" i="1" dirty="0">
                <a:solidFill>
                  <a:srgbClr val="212121"/>
                </a:solidFill>
                <a:effectLst/>
                <a:latin typeface="BlinkMacSystemFont"/>
              </a:rPr>
              <a:t>31</a:t>
            </a:r>
            <a:r>
              <a:rPr lang="en-US" b="0" i="0" dirty="0">
                <a:solidFill>
                  <a:srgbClr val="212121"/>
                </a:solidFill>
                <a:effectLst/>
                <a:latin typeface="BlinkMacSystemFont"/>
              </a:rPr>
              <a:t>(4), 328–340. https://doi.org/10.1002/sim.4431</a:t>
            </a:r>
            <a:endParaRPr lang="en-US" dirty="0"/>
          </a:p>
        </p:txBody>
      </p:sp>
      <p:sp>
        <p:nvSpPr>
          <p:cNvPr id="3" name="TextBox 2">
            <a:extLst>
              <a:ext uri="{FF2B5EF4-FFF2-40B4-BE49-F238E27FC236}">
                <a16:creationId xmlns:a16="http://schemas.microsoft.com/office/drawing/2014/main" id="{67E67560-A8ED-DA19-573C-B24041F40AAF}"/>
              </a:ext>
            </a:extLst>
          </p:cNvPr>
          <p:cNvSpPr txBox="1"/>
          <p:nvPr/>
        </p:nvSpPr>
        <p:spPr>
          <a:xfrm>
            <a:off x="4103244" y="1943594"/>
            <a:ext cx="6949172" cy="646331"/>
          </a:xfrm>
          <a:prstGeom prst="rect">
            <a:avLst/>
          </a:prstGeom>
          <a:noFill/>
        </p:spPr>
        <p:txBody>
          <a:bodyPr wrap="square" rtlCol="0">
            <a:spAutoFit/>
          </a:bodyPr>
          <a:lstStyle/>
          <a:p>
            <a:pPr algn="ctr"/>
            <a:r>
              <a:rPr lang="en-US" b="1" dirty="0">
                <a:solidFill>
                  <a:srgbClr val="272524"/>
                </a:solidFill>
              </a:rPr>
              <a:t>BMI can have an impact on our outcome: postoperative pain</a:t>
            </a:r>
          </a:p>
          <a:p>
            <a:pPr algn="ctr"/>
            <a:r>
              <a:rPr lang="en-US" dirty="0">
                <a:solidFill>
                  <a:srgbClr val="272524"/>
                </a:solidFill>
              </a:rPr>
              <a:t>Will use as a covariate in analysis*</a:t>
            </a:r>
          </a:p>
        </p:txBody>
      </p:sp>
    </p:spTree>
    <p:extLst>
      <p:ext uri="{BB962C8B-B14F-4D97-AF65-F5344CB8AC3E}">
        <p14:creationId xmlns:p14="http://schemas.microsoft.com/office/powerpoint/2010/main" val="3391721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p:bldP spid="21" grpId="0"/>
      <p:bldP spid="23"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309AC60-4997-FD06-D615-37AFF729884A}"/>
              </a:ext>
            </a:extLst>
          </p:cNvPr>
          <p:cNvSpPr>
            <a:spLocks noGrp="1"/>
          </p:cNvSpPr>
          <p:nvPr>
            <p:ph type="sldNum" sz="quarter" idx="11"/>
          </p:nvPr>
        </p:nvSpPr>
        <p:spPr/>
        <p:txBody>
          <a:bodyPr/>
          <a:lstStyle/>
          <a:p>
            <a:fld id="{523A240F-EAFE-E84F-B44C-6D7A08E0E409}" type="slidenum">
              <a:rPr lang="en-US" smtClean="0"/>
              <a:pPr/>
              <a:t>6</a:t>
            </a:fld>
            <a:endParaRPr lang="en-US"/>
          </a:p>
        </p:txBody>
      </p:sp>
      <p:sp>
        <p:nvSpPr>
          <p:cNvPr id="4" name="Footer Placeholder 3">
            <a:extLst>
              <a:ext uri="{FF2B5EF4-FFF2-40B4-BE49-F238E27FC236}">
                <a16:creationId xmlns:a16="http://schemas.microsoft.com/office/drawing/2014/main" id="{0C2BE7DA-F8C7-8340-8EF2-153D33DB2669}"/>
              </a:ext>
            </a:extLst>
          </p:cNvPr>
          <p:cNvSpPr>
            <a:spLocks noGrp="1"/>
          </p:cNvSpPr>
          <p:nvPr>
            <p:ph type="ftr" sz="quarter" idx="10"/>
          </p:nvPr>
        </p:nvSpPr>
        <p:spPr/>
        <p:txBody>
          <a:bodyPr/>
          <a:lstStyle/>
          <a:p>
            <a:r>
              <a:rPr lang="en-US"/>
              <a:t>MSK Confidential — do not distribute</a:t>
            </a:r>
          </a:p>
        </p:txBody>
      </p:sp>
      <p:sp>
        <p:nvSpPr>
          <p:cNvPr id="2" name="Title 1">
            <a:extLst>
              <a:ext uri="{FF2B5EF4-FFF2-40B4-BE49-F238E27FC236}">
                <a16:creationId xmlns:a16="http://schemas.microsoft.com/office/drawing/2014/main" id="{31276404-F8F3-A445-9CFF-8421F3D4BE72}"/>
              </a:ext>
            </a:extLst>
          </p:cNvPr>
          <p:cNvSpPr>
            <a:spLocks noGrp="1"/>
          </p:cNvSpPr>
          <p:nvPr>
            <p:ph type="title"/>
          </p:nvPr>
        </p:nvSpPr>
        <p:spPr/>
        <p:txBody>
          <a:bodyPr/>
          <a:lstStyle/>
          <a:p>
            <a:r>
              <a:rPr lang="en-US" sz="2800" dirty="0"/>
              <a:t>MSK conducted a clinical trial comparing moderate and deep NMB, but errors in stratified randomization with BMI occurred</a:t>
            </a:r>
          </a:p>
        </p:txBody>
      </p:sp>
      <p:pic>
        <p:nvPicPr>
          <p:cNvPr id="5" name="Picture 4" descr="A graph with red and blue dots&#10;&#10;AI-generated content may be incorrect.">
            <a:extLst>
              <a:ext uri="{FF2B5EF4-FFF2-40B4-BE49-F238E27FC236}">
                <a16:creationId xmlns:a16="http://schemas.microsoft.com/office/drawing/2014/main" id="{BC028F33-9BCD-9E85-4491-5734416FED19}"/>
              </a:ext>
            </a:extLst>
          </p:cNvPr>
          <p:cNvPicPr>
            <a:picLocks noChangeAspect="1"/>
          </p:cNvPicPr>
          <p:nvPr/>
        </p:nvPicPr>
        <p:blipFill>
          <a:blip r:embed="rId3"/>
          <a:stretch>
            <a:fillRect/>
          </a:stretch>
        </p:blipFill>
        <p:spPr>
          <a:xfrm>
            <a:off x="3035961" y="1371601"/>
            <a:ext cx="5058361" cy="5058361"/>
          </a:xfrm>
          <a:prstGeom prst="rect">
            <a:avLst/>
          </a:prstGeom>
        </p:spPr>
      </p:pic>
      <p:sp>
        <p:nvSpPr>
          <p:cNvPr id="11" name="TextBox 10">
            <a:extLst>
              <a:ext uri="{FF2B5EF4-FFF2-40B4-BE49-F238E27FC236}">
                <a16:creationId xmlns:a16="http://schemas.microsoft.com/office/drawing/2014/main" id="{9DFD77B7-989E-B788-0EEE-FEFC0BAFD19F}"/>
              </a:ext>
            </a:extLst>
          </p:cNvPr>
          <p:cNvSpPr txBox="1"/>
          <p:nvPr/>
        </p:nvSpPr>
        <p:spPr>
          <a:xfrm>
            <a:off x="8332967" y="4294842"/>
            <a:ext cx="3419061" cy="923330"/>
          </a:xfrm>
          <a:prstGeom prst="rect">
            <a:avLst/>
          </a:prstGeom>
          <a:noFill/>
        </p:spPr>
        <p:txBody>
          <a:bodyPr wrap="square" rtlCol="0">
            <a:spAutoFit/>
          </a:bodyPr>
          <a:lstStyle/>
          <a:p>
            <a:pPr algn="l"/>
            <a:r>
              <a:rPr lang="en-US" dirty="0">
                <a:solidFill>
                  <a:srgbClr val="272524"/>
                </a:solidFill>
              </a:rPr>
              <a:t>Corrected Data: ~31</a:t>
            </a:r>
          </a:p>
          <a:p>
            <a:pPr algn="l"/>
            <a:r>
              <a:rPr lang="en-US" dirty="0">
                <a:solidFill>
                  <a:srgbClr val="272524"/>
                </a:solidFill>
              </a:rPr>
              <a:t>Per-Randomized Data: &lt;30</a:t>
            </a:r>
          </a:p>
          <a:p>
            <a:pPr algn="l"/>
            <a:r>
              <a:rPr lang="en-US" dirty="0">
                <a:solidFill>
                  <a:srgbClr val="272524"/>
                </a:solidFill>
              </a:rPr>
              <a:t>Different Strata!</a:t>
            </a:r>
          </a:p>
        </p:txBody>
      </p:sp>
      <p:cxnSp>
        <p:nvCxnSpPr>
          <p:cNvPr id="12" name="Straight Arrow Connector 11">
            <a:extLst>
              <a:ext uri="{FF2B5EF4-FFF2-40B4-BE49-F238E27FC236}">
                <a16:creationId xmlns:a16="http://schemas.microsoft.com/office/drawing/2014/main" id="{99667DB4-4649-FF02-0B99-9BDB1667653C}"/>
              </a:ext>
            </a:extLst>
          </p:cNvPr>
          <p:cNvCxnSpPr>
            <a:cxnSpLocks/>
            <a:endCxn id="11" idx="1"/>
          </p:cNvCxnSpPr>
          <p:nvPr/>
        </p:nvCxnSpPr>
        <p:spPr>
          <a:xfrm>
            <a:off x="6015162" y="4618007"/>
            <a:ext cx="2317805" cy="138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654F2E9-E6D4-9581-F24D-B9EF8B7BDAD6}"/>
              </a:ext>
            </a:extLst>
          </p:cNvPr>
          <p:cNvCxnSpPr>
            <a:cxnSpLocks/>
          </p:cNvCxnSpPr>
          <p:nvPr/>
        </p:nvCxnSpPr>
        <p:spPr>
          <a:xfrm>
            <a:off x="6966668" y="3490247"/>
            <a:ext cx="231780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CFB9571-717B-0C36-B135-D376EC55CEF7}"/>
              </a:ext>
            </a:extLst>
          </p:cNvPr>
          <p:cNvSpPr txBox="1"/>
          <p:nvPr/>
        </p:nvSpPr>
        <p:spPr>
          <a:xfrm>
            <a:off x="9431689" y="3028583"/>
            <a:ext cx="2264797" cy="923330"/>
          </a:xfrm>
          <a:prstGeom prst="rect">
            <a:avLst/>
          </a:prstGeom>
          <a:noFill/>
        </p:spPr>
        <p:txBody>
          <a:bodyPr wrap="square" rtlCol="0">
            <a:spAutoFit/>
          </a:bodyPr>
          <a:lstStyle/>
          <a:p>
            <a:pPr algn="l"/>
            <a:r>
              <a:rPr lang="en-US" dirty="0">
                <a:solidFill>
                  <a:srgbClr val="272524"/>
                </a:solidFill>
              </a:rPr>
              <a:t>Most patients have very little measurement error</a:t>
            </a:r>
          </a:p>
        </p:txBody>
      </p:sp>
      <p:sp>
        <p:nvSpPr>
          <p:cNvPr id="7" name="Text Placeholder 6">
            <a:extLst>
              <a:ext uri="{FF2B5EF4-FFF2-40B4-BE49-F238E27FC236}">
                <a16:creationId xmlns:a16="http://schemas.microsoft.com/office/drawing/2014/main" id="{D9304BFD-C281-1E8B-8D0D-79A8B5576530}"/>
              </a:ext>
            </a:extLst>
          </p:cNvPr>
          <p:cNvSpPr>
            <a:spLocks noGrp="1"/>
          </p:cNvSpPr>
          <p:nvPr>
            <p:ph type="body" sz="half" idx="2"/>
          </p:nvPr>
        </p:nvSpPr>
        <p:spPr/>
        <p:txBody>
          <a:bodyPr/>
          <a:lstStyle/>
          <a:p>
            <a:endParaRPr lang="en-US" dirty="0"/>
          </a:p>
        </p:txBody>
      </p:sp>
      <p:sp>
        <p:nvSpPr>
          <p:cNvPr id="3" name="Rectangle 2">
            <a:extLst>
              <a:ext uri="{FF2B5EF4-FFF2-40B4-BE49-F238E27FC236}">
                <a16:creationId xmlns:a16="http://schemas.microsoft.com/office/drawing/2014/main" id="{7AE1884A-CC2F-5250-E4E3-DFB8720FFBA5}"/>
              </a:ext>
            </a:extLst>
          </p:cNvPr>
          <p:cNvSpPr/>
          <p:nvPr/>
        </p:nvSpPr>
        <p:spPr>
          <a:xfrm>
            <a:off x="4007018" y="6234699"/>
            <a:ext cx="2041138" cy="3905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True BMI Values</a:t>
            </a:r>
          </a:p>
        </p:txBody>
      </p:sp>
      <p:sp>
        <p:nvSpPr>
          <p:cNvPr id="8" name="Rectangle 7">
            <a:extLst>
              <a:ext uri="{FF2B5EF4-FFF2-40B4-BE49-F238E27FC236}">
                <a16:creationId xmlns:a16="http://schemas.microsoft.com/office/drawing/2014/main" id="{8ACF6F96-9EE9-D91B-268D-3E4D86F9DF01}"/>
              </a:ext>
            </a:extLst>
          </p:cNvPr>
          <p:cNvSpPr/>
          <p:nvPr/>
        </p:nvSpPr>
        <p:spPr>
          <a:xfrm rot="16200000">
            <a:off x="840531" y="3577936"/>
            <a:ext cx="4288504" cy="3905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Magnitude and Direction of Error</a:t>
            </a:r>
          </a:p>
        </p:txBody>
      </p:sp>
    </p:spTree>
    <p:extLst>
      <p:ext uri="{BB962C8B-B14F-4D97-AF65-F5344CB8AC3E}">
        <p14:creationId xmlns:p14="http://schemas.microsoft.com/office/powerpoint/2010/main" val="4685823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309AC60-4997-FD06-D615-37AFF729884A}"/>
              </a:ext>
            </a:extLst>
          </p:cNvPr>
          <p:cNvSpPr>
            <a:spLocks noGrp="1"/>
          </p:cNvSpPr>
          <p:nvPr>
            <p:ph type="sldNum" sz="quarter" idx="11"/>
          </p:nvPr>
        </p:nvSpPr>
        <p:spPr/>
        <p:txBody>
          <a:bodyPr/>
          <a:lstStyle/>
          <a:p>
            <a:fld id="{523A240F-EAFE-E84F-B44C-6D7A08E0E409}" type="slidenum">
              <a:rPr lang="en-US" smtClean="0"/>
              <a:pPr/>
              <a:t>7</a:t>
            </a:fld>
            <a:endParaRPr lang="en-US"/>
          </a:p>
        </p:txBody>
      </p:sp>
      <p:sp>
        <p:nvSpPr>
          <p:cNvPr id="4" name="Footer Placeholder 3">
            <a:extLst>
              <a:ext uri="{FF2B5EF4-FFF2-40B4-BE49-F238E27FC236}">
                <a16:creationId xmlns:a16="http://schemas.microsoft.com/office/drawing/2014/main" id="{0C2BE7DA-F8C7-8340-8EF2-153D33DB2669}"/>
              </a:ext>
            </a:extLst>
          </p:cNvPr>
          <p:cNvSpPr>
            <a:spLocks noGrp="1"/>
          </p:cNvSpPr>
          <p:nvPr>
            <p:ph type="ftr" sz="quarter" idx="10"/>
          </p:nvPr>
        </p:nvSpPr>
        <p:spPr/>
        <p:txBody>
          <a:bodyPr/>
          <a:lstStyle/>
          <a:p>
            <a:r>
              <a:rPr lang="en-US"/>
              <a:t>MSK Confidential — do not distribute</a:t>
            </a:r>
          </a:p>
        </p:txBody>
      </p:sp>
      <p:sp>
        <p:nvSpPr>
          <p:cNvPr id="2" name="Title 1">
            <a:extLst>
              <a:ext uri="{FF2B5EF4-FFF2-40B4-BE49-F238E27FC236}">
                <a16:creationId xmlns:a16="http://schemas.microsoft.com/office/drawing/2014/main" id="{31276404-F8F3-A445-9CFF-8421F3D4BE72}"/>
              </a:ext>
            </a:extLst>
          </p:cNvPr>
          <p:cNvSpPr>
            <a:spLocks noGrp="1"/>
          </p:cNvSpPr>
          <p:nvPr>
            <p:ph type="title"/>
          </p:nvPr>
        </p:nvSpPr>
        <p:spPr/>
        <p:txBody>
          <a:bodyPr/>
          <a:lstStyle/>
          <a:p>
            <a:r>
              <a:rPr lang="en-US" sz="2800" dirty="0"/>
              <a:t>MSK conducted a clinical trial comparing moderate and deep NMB, but errors in stratified randomization with BMI occurred</a:t>
            </a:r>
          </a:p>
        </p:txBody>
      </p:sp>
      <p:sp>
        <p:nvSpPr>
          <p:cNvPr id="26" name="TextBox 25">
            <a:extLst>
              <a:ext uri="{FF2B5EF4-FFF2-40B4-BE49-F238E27FC236}">
                <a16:creationId xmlns:a16="http://schemas.microsoft.com/office/drawing/2014/main" id="{4C66AAA0-76E1-6087-B0DC-B905FDA2B804}"/>
              </a:ext>
            </a:extLst>
          </p:cNvPr>
          <p:cNvSpPr txBox="1"/>
          <p:nvPr/>
        </p:nvSpPr>
        <p:spPr>
          <a:xfrm>
            <a:off x="1385565" y="1486275"/>
            <a:ext cx="9265207" cy="369332"/>
          </a:xfrm>
          <a:prstGeom prst="rect">
            <a:avLst/>
          </a:prstGeom>
          <a:noFill/>
        </p:spPr>
        <p:txBody>
          <a:bodyPr wrap="square">
            <a:spAutoFit/>
          </a:bodyPr>
          <a:lstStyle/>
          <a:p>
            <a:r>
              <a:rPr lang="en-US" b="1" dirty="0">
                <a:solidFill>
                  <a:srgbClr val="272524"/>
                </a:solidFill>
              </a:rPr>
              <a:t>Dichotomization for Stratified Randomization done with Per-Randomized Values</a:t>
            </a:r>
            <a:endParaRPr lang="en-US" dirty="0"/>
          </a:p>
        </p:txBody>
      </p:sp>
      <p:pic>
        <p:nvPicPr>
          <p:cNvPr id="7" name="Picture 6">
            <a:extLst>
              <a:ext uri="{FF2B5EF4-FFF2-40B4-BE49-F238E27FC236}">
                <a16:creationId xmlns:a16="http://schemas.microsoft.com/office/drawing/2014/main" id="{9C8B89C3-1B10-2FFB-ABF2-3EC8C32A69B0}"/>
              </a:ext>
            </a:extLst>
          </p:cNvPr>
          <p:cNvPicPr>
            <a:picLocks noChangeAspect="1"/>
          </p:cNvPicPr>
          <p:nvPr/>
        </p:nvPicPr>
        <p:blipFill>
          <a:blip r:embed="rId3"/>
          <a:stretch>
            <a:fillRect/>
          </a:stretch>
        </p:blipFill>
        <p:spPr>
          <a:xfrm>
            <a:off x="1891208" y="2128206"/>
            <a:ext cx="3915321" cy="1600423"/>
          </a:xfrm>
          <a:prstGeom prst="rect">
            <a:avLst/>
          </a:prstGeom>
        </p:spPr>
      </p:pic>
      <p:sp>
        <p:nvSpPr>
          <p:cNvPr id="8" name="TextBox 7">
            <a:extLst>
              <a:ext uri="{FF2B5EF4-FFF2-40B4-BE49-F238E27FC236}">
                <a16:creationId xmlns:a16="http://schemas.microsoft.com/office/drawing/2014/main" id="{2B913238-3010-166D-AFD5-C4EFFC251554}"/>
              </a:ext>
            </a:extLst>
          </p:cNvPr>
          <p:cNvSpPr txBox="1"/>
          <p:nvPr/>
        </p:nvSpPr>
        <p:spPr>
          <a:xfrm>
            <a:off x="699157" y="4346329"/>
            <a:ext cx="3149711" cy="646331"/>
          </a:xfrm>
          <a:prstGeom prst="rect">
            <a:avLst/>
          </a:prstGeom>
          <a:noFill/>
        </p:spPr>
        <p:txBody>
          <a:bodyPr wrap="square">
            <a:spAutoFit/>
          </a:bodyPr>
          <a:lstStyle/>
          <a:p>
            <a:r>
              <a:rPr lang="en-US" dirty="0">
                <a:solidFill>
                  <a:srgbClr val="272524"/>
                </a:solidFill>
              </a:rPr>
              <a:t>Per-Randomized covariate for an </a:t>
            </a:r>
            <a:r>
              <a:rPr lang="en-US" b="1" dirty="0">
                <a:solidFill>
                  <a:srgbClr val="272524"/>
                </a:solidFill>
              </a:rPr>
              <a:t>Unadjusted</a:t>
            </a:r>
            <a:r>
              <a:rPr lang="en-US" dirty="0">
                <a:solidFill>
                  <a:srgbClr val="272524"/>
                </a:solidFill>
              </a:rPr>
              <a:t> Analysis</a:t>
            </a:r>
            <a:endParaRPr lang="en-US" dirty="0"/>
          </a:p>
        </p:txBody>
      </p:sp>
      <p:sp>
        <p:nvSpPr>
          <p:cNvPr id="10" name="TextBox 9">
            <a:extLst>
              <a:ext uri="{FF2B5EF4-FFF2-40B4-BE49-F238E27FC236}">
                <a16:creationId xmlns:a16="http://schemas.microsoft.com/office/drawing/2014/main" id="{C75A0205-2A9C-F77D-D045-E2B6FCA51496}"/>
              </a:ext>
            </a:extLst>
          </p:cNvPr>
          <p:cNvSpPr txBox="1"/>
          <p:nvPr/>
        </p:nvSpPr>
        <p:spPr>
          <a:xfrm>
            <a:off x="8479504" y="4350461"/>
            <a:ext cx="2600872" cy="646331"/>
          </a:xfrm>
          <a:prstGeom prst="rect">
            <a:avLst/>
          </a:prstGeom>
          <a:noFill/>
        </p:spPr>
        <p:txBody>
          <a:bodyPr wrap="square">
            <a:spAutoFit/>
          </a:bodyPr>
          <a:lstStyle/>
          <a:p>
            <a:r>
              <a:rPr lang="en-US" dirty="0">
                <a:solidFill>
                  <a:srgbClr val="272524"/>
                </a:solidFill>
              </a:rPr>
              <a:t>Corrected covariate for an </a:t>
            </a:r>
            <a:r>
              <a:rPr lang="en-US" b="1" dirty="0">
                <a:solidFill>
                  <a:srgbClr val="272524"/>
                </a:solidFill>
              </a:rPr>
              <a:t>Adjusted</a:t>
            </a:r>
            <a:r>
              <a:rPr lang="en-US" dirty="0">
                <a:solidFill>
                  <a:srgbClr val="272524"/>
                </a:solidFill>
              </a:rPr>
              <a:t> Analysis</a:t>
            </a:r>
            <a:endParaRPr lang="en-US" dirty="0"/>
          </a:p>
        </p:txBody>
      </p:sp>
      <p:sp>
        <p:nvSpPr>
          <p:cNvPr id="20" name="TextBox 19">
            <a:extLst>
              <a:ext uri="{FF2B5EF4-FFF2-40B4-BE49-F238E27FC236}">
                <a16:creationId xmlns:a16="http://schemas.microsoft.com/office/drawing/2014/main" id="{2630B719-EC75-738D-40CB-570B5DB16D54}"/>
              </a:ext>
            </a:extLst>
          </p:cNvPr>
          <p:cNvSpPr txBox="1"/>
          <p:nvPr/>
        </p:nvSpPr>
        <p:spPr>
          <a:xfrm>
            <a:off x="6473481" y="2576956"/>
            <a:ext cx="4012045" cy="923330"/>
          </a:xfrm>
          <a:prstGeom prst="rect">
            <a:avLst/>
          </a:prstGeom>
          <a:noFill/>
        </p:spPr>
        <p:txBody>
          <a:bodyPr wrap="square">
            <a:spAutoFit/>
          </a:bodyPr>
          <a:lstStyle/>
          <a:p>
            <a:pPr algn="ctr"/>
            <a:r>
              <a:rPr lang="en-US" dirty="0">
                <a:solidFill>
                  <a:srgbClr val="272524"/>
                </a:solidFill>
              </a:rPr>
              <a:t>When using corrected BMI values, we see treatment imbalance between the two arms, i.e., not ~50% balance</a:t>
            </a:r>
            <a:endParaRPr lang="en-US" dirty="0"/>
          </a:p>
        </p:txBody>
      </p:sp>
      <p:sp>
        <p:nvSpPr>
          <p:cNvPr id="22" name="TextBox 21">
            <a:extLst>
              <a:ext uri="{FF2B5EF4-FFF2-40B4-BE49-F238E27FC236}">
                <a16:creationId xmlns:a16="http://schemas.microsoft.com/office/drawing/2014/main" id="{7BE635ED-9130-E389-6285-5E3D6F15B904}"/>
              </a:ext>
            </a:extLst>
          </p:cNvPr>
          <p:cNvSpPr txBox="1"/>
          <p:nvPr/>
        </p:nvSpPr>
        <p:spPr>
          <a:xfrm>
            <a:off x="3640663" y="5428980"/>
            <a:ext cx="4755010" cy="646331"/>
          </a:xfrm>
          <a:prstGeom prst="rect">
            <a:avLst/>
          </a:prstGeom>
          <a:noFill/>
        </p:spPr>
        <p:txBody>
          <a:bodyPr wrap="square">
            <a:spAutoFit/>
          </a:bodyPr>
          <a:lstStyle/>
          <a:p>
            <a:r>
              <a:rPr lang="en-US" dirty="0">
                <a:solidFill>
                  <a:srgbClr val="272524"/>
                </a:solidFill>
              </a:rPr>
              <a:t>Should we dichotomize the covariate like we did for stratified randomization in analysis?</a:t>
            </a:r>
            <a:endParaRPr lang="en-US" dirty="0"/>
          </a:p>
        </p:txBody>
      </p:sp>
      <p:sp>
        <p:nvSpPr>
          <p:cNvPr id="25" name="TextBox 24">
            <a:extLst>
              <a:ext uri="{FF2B5EF4-FFF2-40B4-BE49-F238E27FC236}">
                <a16:creationId xmlns:a16="http://schemas.microsoft.com/office/drawing/2014/main" id="{08BF6FFB-F74E-5096-A062-577AF8AB3C50}"/>
              </a:ext>
            </a:extLst>
          </p:cNvPr>
          <p:cNvSpPr txBox="1"/>
          <p:nvPr/>
        </p:nvSpPr>
        <p:spPr>
          <a:xfrm>
            <a:off x="3509297" y="3009022"/>
            <a:ext cx="748625" cy="719607"/>
          </a:xfrm>
          <a:prstGeom prst="rect">
            <a:avLst/>
          </a:prstGeom>
          <a:noFill/>
          <a:ln>
            <a:solidFill>
              <a:srgbClr val="FF0000"/>
            </a:solidFill>
          </a:ln>
        </p:spPr>
        <p:txBody>
          <a:bodyPr wrap="square" rtlCol="0">
            <a:spAutoFit/>
          </a:bodyPr>
          <a:lstStyle/>
          <a:p>
            <a:pPr algn="l"/>
            <a:endParaRPr lang="en-US" dirty="0">
              <a:solidFill>
                <a:srgbClr val="272524"/>
              </a:solidFill>
            </a:endParaRPr>
          </a:p>
        </p:txBody>
      </p:sp>
      <p:cxnSp>
        <p:nvCxnSpPr>
          <p:cNvPr id="28" name="Straight Arrow Connector 27">
            <a:extLst>
              <a:ext uri="{FF2B5EF4-FFF2-40B4-BE49-F238E27FC236}">
                <a16:creationId xmlns:a16="http://schemas.microsoft.com/office/drawing/2014/main" id="{39B227AF-092A-073E-8BA8-15D3064C72E8}"/>
              </a:ext>
            </a:extLst>
          </p:cNvPr>
          <p:cNvCxnSpPr/>
          <p:nvPr/>
        </p:nvCxnSpPr>
        <p:spPr>
          <a:xfrm>
            <a:off x="3546282" y="5124616"/>
            <a:ext cx="226612" cy="304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8928CAF-1923-18F2-D33D-A1E0C776D398}"/>
              </a:ext>
            </a:extLst>
          </p:cNvPr>
          <p:cNvCxnSpPr/>
          <p:nvPr/>
        </p:nvCxnSpPr>
        <p:spPr>
          <a:xfrm flipH="1">
            <a:off x="8233576" y="5068957"/>
            <a:ext cx="210709" cy="3600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7B8ACD59-D366-6939-30F8-62A493C4640C}"/>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5181002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8" grpId="0"/>
      <p:bldP spid="10" grpId="0"/>
      <p:bldP spid="20" grpId="0"/>
      <p:bldP spid="22" grpId="0"/>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309AC60-4997-FD06-D615-37AFF729884A}"/>
              </a:ext>
            </a:extLst>
          </p:cNvPr>
          <p:cNvSpPr>
            <a:spLocks noGrp="1"/>
          </p:cNvSpPr>
          <p:nvPr>
            <p:ph type="sldNum" sz="quarter" idx="11"/>
          </p:nvPr>
        </p:nvSpPr>
        <p:spPr/>
        <p:txBody>
          <a:bodyPr/>
          <a:lstStyle/>
          <a:p>
            <a:fld id="{523A240F-EAFE-E84F-B44C-6D7A08E0E409}" type="slidenum">
              <a:rPr lang="en-US" smtClean="0"/>
              <a:pPr/>
              <a:t>8</a:t>
            </a:fld>
            <a:endParaRPr lang="en-US"/>
          </a:p>
        </p:txBody>
      </p:sp>
      <p:sp>
        <p:nvSpPr>
          <p:cNvPr id="4" name="Footer Placeholder 3">
            <a:extLst>
              <a:ext uri="{FF2B5EF4-FFF2-40B4-BE49-F238E27FC236}">
                <a16:creationId xmlns:a16="http://schemas.microsoft.com/office/drawing/2014/main" id="{0C2BE7DA-F8C7-8340-8EF2-153D33DB2669}"/>
              </a:ext>
            </a:extLst>
          </p:cNvPr>
          <p:cNvSpPr>
            <a:spLocks noGrp="1"/>
          </p:cNvSpPr>
          <p:nvPr>
            <p:ph type="ftr" sz="quarter" idx="10"/>
          </p:nvPr>
        </p:nvSpPr>
        <p:spPr/>
        <p:txBody>
          <a:bodyPr/>
          <a:lstStyle/>
          <a:p>
            <a:r>
              <a:rPr lang="en-US"/>
              <a:t>MSK Confidential — do not distribute</a:t>
            </a:r>
          </a:p>
        </p:txBody>
      </p:sp>
      <p:sp>
        <p:nvSpPr>
          <p:cNvPr id="2" name="Title 1">
            <a:extLst>
              <a:ext uri="{FF2B5EF4-FFF2-40B4-BE49-F238E27FC236}">
                <a16:creationId xmlns:a16="http://schemas.microsoft.com/office/drawing/2014/main" id="{31276404-F8F3-A445-9CFF-8421F3D4BE72}"/>
              </a:ext>
            </a:extLst>
          </p:cNvPr>
          <p:cNvSpPr>
            <a:spLocks noGrp="1"/>
          </p:cNvSpPr>
          <p:nvPr>
            <p:ph type="title"/>
          </p:nvPr>
        </p:nvSpPr>
        <p:spPr>
          <a:xfrm>
            <a:off x="512063" y="457201"/>
            <a:ext cx="11184423" cy="646331"/>
          </a:xfrm>
        </p:spPr>
        <p:txBody>
          <a:bodyPr/>
          <a:lstStyle/>
          <a:p>
            <a:r>
              <a:rPr lang="en-US" sz="2800" dirty="0"/>
              <a:t>There are multiple ways to model average postoperative pain</a:t>
            </a:r>
          </a:p>
        </p:txBody>
      </p:sp>
      <p:sp>
        <p:nvSpPr>
          <p:cNvPr id="9" name="TextBox 8">
            <a:extLst>
              <a:ext uri="{FF2B5EF4-FFF2-40B4-BE49-F238E27FC236}">
                <a16:creationId xmlns:a16="http://schemas.microsoft.com/office/drawing/2014/main" id="{67110F38-FA5C-1119-5F3C-C4C3D2936A8F}"/>
              </a:ext>
            </a:extLst>
          </p:cNvPr>
          <p:cNvSpPr txBox="1"/>
          <p:nvPr/>
        </p:nvSpPr>
        <p:spPr>
          <a:xfrm>
            <a:off x="3056973" y="1153107"/>
            <a:ext cx="6094602" cy="646331"/>
          </a:xfrm>
          <a:prstGeom prst="rect">
            <a:avLst/>
          </a:prstGeom>
          <a:noFill/>
        </p:spPr>
        <p:txBody>
          <a:bodyPr wrap="square">
            <a:spAutoFit/>
          </a:bodyPr>
          <a:lstStyle/>
          <a:p>
            <a:pPr algn="ctr"/>
            <a:r>
              <a:rPr lang="en-US" dirty="0">
                <a:solidFill>
                  <a:srgbClr val="272524"/>
                </a:solidFill>
              </a:rPr>
              <a:t>Average Postoperative Pain ~ Treatment Arm + BMI</a:t>
            </a:r>
          </a:p>
          <a:p>
            <a:pPr algn="ctr"/>
            <a:r>
              <a:rPr lang="en-US" dirty="0">
                <a:solidFill>
                  <a:srgbClr val="272524"/>
                </a:solidFill>
              </a:rPr>
              <a:t>Quantify this relationship via a regression model</a:t>
            </a:r>
          </a:p>
        </p:txBody>
      </p:sp>
      <p:sp>
        <p:nvSpPr>
          <p:cNvPr id="3" name="Text Placeholder 11">
            <a:extLst>
              <a:ext uri="{FF2B5EF4-FFF2-40B4-BE49-F238E27FC236}">
                <a16:creationId xmlns:a16="http://schemas.microsoft.com/office/drawing/2014/main" id="{39B06BAC-6E17-0B5D-E1FA-24DC5D363CF0}"/>
              </a:ext>
            </a:extLst>
          </p:cNvPr>
          <p:cNvSpPr>
            <a:spLocks noGrp="1"/>
          </p:cNvSpPr>
          <p:nvPr>
            <p:ph type="body" sz="half" idx="2"/>
          </p:nvPr>
        </p:nvSpPr>
        <p:spPr>
          <a:xfrm>
            <a:off x="512064" y="6145905"/>
            <a:ext cx="7336536" cy="473970"/>
          </a:xfrm>
        </p:spPr>
        <p:txBody>
          <a:bodyPr/>
          <a:lstStyle/>
          <a:p>
            <a:r>
              <a:rPr lang="en-US" dirty="0"/>
              <a:t>https://brookbushinstitute.com/_next/image?url=https%3A%2F%2Fcdn.sanity.io%2Fimages%2Fobhirpvy%2Fproduction%2F30ec90740dfe84198a5924d298281ae8c011f3f4-1920x1080.png&amp;w=3840&amp;q=75</a:t>
            </a:r>
          </a:p>
          <a:p>
            <a:r>
              <a:rPr lang="en-US" dirty="0"/>
              <a:t>AUC mean described in Supplemental 7</a:t>
            </a:r>
          </a:p>
        </p:txBody>
      </p:sp>
      <p:sp>
        <p:nvSpPr>
          <p:cNvPr id="5" name="TextBox 4">
            <a:extLst>
              <a:ext uri="{FF2B5EF4-FFF2-40B4-BE49-F238E27FC236}">
                <a16:creationId xmlns:a16="http://schemas.microsoft.com/office/drawing/2014/main" id="{E57A5F6E-DDDC-0930-7CCF-00B595120B29}"/>
              </a:ext>
            </a:extLst>
          </p:cNvPr>
          <p:cNvSpPr txBox="1"/>
          <p:nvPr/>
        </p:nvSpPr>
        <p:spPr>
          <a:xfrm>
            <a:off x="2042311" y="5610739"/>
            <a:ext cx="8107376" cy="369332"/>
          </a:xfrm>
          <a:prstGeom prst="rect">
            <a:avLst/>
          </a:prstGeom>
          <a:noFill/>
        </p:spPr>
        <p:txBody>
          <a:bodyPr wrap="square">
            <a:spAutoFit/>
          </a:bodyPr>
          <a:lstStyle/>
          <a:p>
            <a:pPr algn="ctr"/>
            <a:r>
              <a:rPr lang="en-US" dirty="0">
                <a:solidFill>
                  <a:srgbClr val="272524"/>
                </a:solidFill>
              </a:rPr>
              <a:t>Summarize multiple timepoints via mean of Area Under the Curve (AUC)</a:t>
            </a:r>
          </a:p>
        </p:txBody>
      </p:sp>
      <p:pic>
        <p:nvPicPr>
          <p:cNvPr id="10" name="Picture 9" descr="A diagram of a scale&#10;&#10;AI-generated content may be incorrect.">
            <a:extLst>
              <a:ext uri="{FF2B5EF4-FFF2-40B4-BE49-F238E27FC236}">
                <a16:creationId xmlns:a16="http://schemas.microsoft.com/office/drawing/2014/main" id="{0852EEFE-435E-95BA-603B-63479BE6C38F}"/>
              </a:ext>
            </a:extLst>
          </p:cNvPr>
          <p:cNvPicPr>
            <a:picLocks noChangeAspect="1"/>
          </p:cNvPicPr>
          <p:nvPr/>
        </p:nvPicPr>
        <p:blipFill>
          <a:blip r:embed="rId3"/>
          <a:stretch>
            <a:fillRect/>
          </a:stretch>
        </p:blipFill>
        <p:spPr>
          <a:xfrm>
            <a:off x="3056973" y="2081780"/>
            <a:ext cx="6273703" cy="3528959"/>
          </a:xfrm>
          <a:prstGeom prst="rect">
            <a:avLst/>
          </a:prstGeom>
        </p:spPr>
      </p:pic>
    </p:spTree>
    <p:extLst>
      <p:ext uri="{BB962C8B-B14F-4D97-AF65-F5344CB8AC3E}">
        <p14:creationId xmlns:p14="http://schemas.microsoft.com/office/powerpoint/2010/main" val="38030005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309AC60-4997-FD06-D615-37AFF729884A}"/>
              </a:ext>
            </a:extLst>
          </p:cNvPr>
          <p:cNvSpPr>
            <a:spLocks noGrp="1"/>
          </p:cNvSpPr>
          <p:nvPr>
            <p:ph type="sldNum" sz="quarter" idx="11"/>
          </p:nvPr>
        </p:nvSpPr>
        <p:spPr/>
        <p:txBody>
          <a:bodyPr/>
          <a:lstStyle/>
          <a:p>
            <a:fld id="{523A240F-EAFE-E84F-B44C-6D7A08E0E409}" type="slidenum">
              <a:rPr lang="en-US" smtClean="0"/>
              <a:pPr/>
              <a:t>9</a:t>
            </a:fld>
            <a:endParaRPr lang="en-US"/>
          </a:p>
        </p:txBody>
      </p:sp>
      <p:sp>
        <p:nvSpPr>
          <p:cNvPr id="4" name="Footer Placeholder 3">
            <a:extLst>
              <a:ext uri="{FF2B5EF4-FFF2-40B4-BE49-F238E27FC236}">
                <a16:creationId xmlns:a16="http://schemas.microsoft.com/office/drawing/2014/main" id="{0C2BE7DA-F8C7-8340-8EF2-153D33DB2669}"/>
              </a:ext>
            </a:extLst>
          </p:cNvPr>
          <p:cNvSpPr>
            <a:spLocks noGrp="1"/>
          </p:cNvSpPr>
          <p:nvPr>
            <p:ph type="ftr" sz="quarter" idx="10"/>
          </p:nvPr>
        </p:nvSpPr>
        <p:spPr/>
        <p:txBody>
          <a:bodyPr/>
          <a:lstStyle/>
          <a:p>
            <a:r>
              <a:rPr lang="en-US"/>
              <a:t>MSK Confidential — do not distribute</a:t>
            </a:r>
          </a:p>
        </p:txBody>
      </p:sp>
      <p:sp>
        <p:nvSpPr>
          <p:cNvPr id="2" name="Title 1">
            <a:extLst>
              <a:ext uri="{FF2B5EF4-FFF2-40B4-BE49-F238E27FC236}">
                <a16:creationId xmlns:a16="http://schemas.microsoft.com/office/drawing/2014/main" id="{31276404-F8F3-A445-9CFF-8421F3D4BE72}"/>
              </a:ext>
            </a:extLst>
          </p:cNvPr>
          <p:cNvSpPr>
            <a:spLocks noGrp="1"/>
          </p:cNvSpPr>
          <p:nvPr>
            <p:ph type="title"/>
          </p:nvPr>
        </p:nvSpPr>
        <p:spPr>
          <a:xfrm>
            <a:off x="512063" y="457201"/>
            <a:ext cx="11184423" cy="646331"/>
          </a:xfrm>
        </p:spPr>
        <p:txBody>
          <a:bodyPr/>
          <a:lstStyle/>
          <a:p>
            <a:r>
              <a:rPr lang="en-US" sz="2800" dirty="0"/>
              <a:t>There are multiple ways to model average postoperative pain</a:t>
            </a:r>
          </a:p>
        </p:txBody>
      </p:sp>
      <p:sp>
        <p:nvSpPr>
          <p:cNvPr id="9" name="TextBox 8">
            <a:extLst>
              <a:ext uri="{FF2B5EF4-FFF2-40B4-BE49-F238E27FC236}">
                <a16:creationId xmlns:a16="http://schemas.microsoft.com/office/drawing/2014/main" id="{67110F38-FA5C-1119-5F3C-C4C3D2936A8F}"/>
              </a:ext>
            </a:extLst>
          </p:cNvPr>
          <p:cNvSpPr txBox="1"/>
          <p:nvPr/>
        </p:nvSpPr>
        <p:spPr>
          <a:xfrm>
            <a:off x="3056973" y="1153107"/>
            <a:ext cx="6094602" cy="646331"/>
          </a:xfrm>
          <a:prstGeom prst="rect">
            <a:avLst/>
          </a:prstGeom>
          <a:noFill/>
        </p:spPr>
        <p:txBody>
          <a:bodyPr wrap="square">
            <a:spAutoFit/>
          </a:bodyPr>
          <a:lstStyle/>
          <a:p>
            <a:pPr algn="ctr"/>
            <a:r>
              <a:rPr lang="en-US" dirty="0">
                <a:solidFill>
                  <a:srgbClr val="272524"/>
                </a:solidFill>
              </a:rPr>
              <a:t>Average Postoperative Pain ~ Treatment Arm + BMI</a:t>
            </a:r>
          </a:p>
          <a:p>
            <a:pPr algn="ctr"/>
            <a:r>
              <a:rPr lang="en-US" dirty="0">
                <a:solidFill>
                  <a:srgbClr val="272524"/>
                </a:solidFill>
              </a:rPr>
              <a:t>Quantify this relationship via a regression model</a:t>
            </a:r>
          </a:p>
        </p:txBody>
      </p:sp>
      <p:sp>
        <p:nvSpPr>
          <p:cNvPr id="12" name="Rectangle: Rounded Corners 11">
            <a:extLst>
              <a:ext uri="{FF2B5EF4-FFF2-40B4-BE49-F238E27FC236}">
                <a16:creationId xmlns:a16="http://schemas.microsoft.com/office/drawing/2014/main" id="{40C348A5-1C1F-F76F-A3F3-85478FFB0278}"/>
              </a:ext>
            </a:extLst>
          </p:cNvPr>
          <p:cNvSpPr/>
          <p:nvPr/>
        </p:nvSpPr>
        <p:spPr>
          <a:xfrm>
            <a:off x="1015069" y="2063692"/>
            <a:ext cx="1577130" cy="74662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Continuous</a:t>
            </a:r>
          </a:p>
          <a:p>
            <a:pPr algn="ctr"/>
            <a:r>
              <a:rPr lang="en-US" sz="1200" dirty="0"/>
              <a:t>(Linear)</a:t>
            </a:r>
          </a:p>
        </p:txBody>
      </p:sp>
      <p:sp>
        <p:nvSpPr>
          <p:cNvPr id="13" name="Rectangle: Rounded Corners 12">
            <a:extLst>
              <a:ext uri="{FF2B5EF4-FFF2-40B4-BE49-F238E27FC236}">
                <a16:creationId xmlns:a16="http://schemas.microsoft.com/office/drawing/2014/main" id="{7F5F520D-0D64-26C9-4E3A-AD11C831B158}"/>
              </a:ext>
            </a:extLst>
          </p:cNvPr>
          <p:cNvSpPr/>
          <p:nvPr/>
        </p:nvSpPr>
        <p:spPr>
          <a:xfrm>
            <a:off x="3726112" y="2063692"/>
            <a:ext cx="1577130" cy="74662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Binary</a:t>
            </a:r>
          </a:p>
          <a:p>
            <a:pPr algn="ctr"/>
            <a:r>
              <a:rPr lang="en-US" sz="1200" dirty="0"/>
              <a:t>(Logistic)</a:t>
            </a:r>
          </a:p>
        </p:txBody>
      </p:sp>
      <p:sp>
        <p:nvSpPr>
          <p:cNvPr id="14" name="Rectangle: Rounded Corners 13">
            <a:extLst>
              <a:ext uri="{FF2B5EF4-FFF2-40B4-BE49-F238E27FC236}">
                <a16:creationId xmlns:a16="http://schemas.microsoft.com/office/drawing/2014/main" id="{23E79AD7-6390-89F8-7F8B-EA8964F176DE}"/>
              </a:ext>
            </a:extLst>
          </p:cNvPr>
          <p:cNvSpPr/>
          <p:nvPr/>
        </p:nvSpPr>
        <p:spPr>
          <a:xfrm>
            <a:off x="6737759" y="2063691"/>
            <a:ext cx="1577130" cy="74662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Count</a:t>
            </a:r>
          </a:p>
          <a:p>
            <a:pPr algn="ctr"/>
            <a:r>
              <a:rPr lang="en-US" sz="1200" dirty="0"/>
              <a:t>(Poisson)</a:t>
            </a:r>
          </a:p>
        </p:txBody>
      </p:sp>
      <p:sp>
        <p:nvSpPr>
          <p:cNvPr id="15" name="Rectangle: Rounded Corners 14">
            <a:extLst>
              <a:ext uri="{FF2B5EF4-FFF2-40B4-BE49-F238E27FC236}">
                <a16:creationId xmlns:a16="http://schemas.microsoft.com/office/drawing/2014/main" id="{24FADA16-BD63-F2F1-4FA5-559813D323FF}"/>
              </a:ext>
            </a:extLst>
          </p:cNvPr>
          <p:cNvSpPr/>
          <p:nvPr/>
        </p:nvSpPr>
        <p:spPr>
          <a:xfrm>
            <a:off x="9622666" y="2063690"/>
            <a:ext cx="1577130" cy="74662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Categorical</a:t>
            </a:r>
          </a:p>
          <a:p>
            <a:pPr algn="ctr"/>
            <a:r>
              <a:rPr lang="en-US" sz="1200" dirty="0"/>
              <a:t>(Ordinal Logistic)</a:t>
            </a:r>
          </a:p>
        </p:txBody>
      </p:sp>
      <p:sp>
        <p:nvSpPr>
          <p:cNvPr id="16" name="Arrow: Down 15">
            <a:extLst>
              <a:ext uri="{FF2B5EF4-FFF2-40B4-BE49-F238E27FC236}">
                <a16:creationId xmlns:a16="http://schemas.microsoft.com/office/drawing/2014/main" id="{36EF1473-C037-78C0-38A1-369BFFBCC685}"/>
              </a:ext>
            </a:extLst>
          </p:cNvPr>
          <p:cNvSpPr/>
          <p:nvPr/>
        </p:nvSpPr>
        <p:spPr>
          <a:xfrm>
            <a:off x="1686187" y="3070370"/>
            <a:ext cx="268448" cy="1845579"/>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8B692BDA-E75E-93FD-66DD-00E9468EEB23}"/>
              </a:ext>
            </a:extLst>
          </p:cNvPr>
          <p:cNvSpPr/>
          <p:nvPr/>
        </p:nvSpPr>
        <p:spPr>
          <a:xfrm>
            <a:off x="4380453" y="3070370"/>
            <a:ext cx="268448" cy="1845579"/>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1810F1E9-654F-D6AB-88EE-17B927600885}"/>
              </a:ext>
            </a:extLst>
          </p:cNvPr>
          <p:cNvSpPr/>
          <p:nvPr/>
        </p:nvSpPr>
        <p:spPr>
          <a:xfrm>
            <a:off x="7392100" y="3070370"/>
            <a:ext cx="268448" cy="1845579"/>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Down 18">
            <a:extLst>
              <a:ext uri="{FF2B5EF4-FFF2-40B4-BE49-F238E27FC236}">
                <a16:creationId xmlns:a16="http://schemas.microsoft.com/office/drawing/2014/main" id="{1C61EBDB-E100-77C4-B7ED-796C9D4D52FD}"/>
              </a:ext>
            </a:extLst>
          </p:cNvPr>
          <p:cNvSpPr/>
          <p:nvPr/>
        </p:nvSpPr>
        <p:spPr>
          <a:xfrm>
            <a:off x="10287699" y="3070370"/>
            <a:ext cx="268448" cy="1845579"/>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A63F2B73-4CB3-BA83-1EB5-B027B68BDB4B}"/>
              </a:ext>
            </a:extLst>
          </p:cNvPr>
          <p:cNvSpPr/>
          <p:nvPr/>
        </p:nvSpPr>
        <p:spPr>
          <a:xfrm>
            <a:off x="828820" y="5210959"/>
            <a:ext cx="1983182" cy="74662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Pain can be any real number</a:t>
            </a:r>
            <a:endParaRPr lang="en-US" sz="1200" dirty="0"/>
          </a:p>
        </p:txBody>
      </p:sp>
      <p:sp>
        <p:nvSpPr>
          <p:cNvPr id="23" name="Rectangle: Rounded Corners 22">
            <a:extLst>
              <a:ext uri="{FF2B5EF4-FFF2-40B4-BE49-F238E27FC236}">
                <a16:creationId xmlns:a16="http://schemas.microsoft.com/office/drawing/2014/main" id="{061ED574-AB8B-A261-5335-35FB3CB4245D}"/>
              </a:ext>
            </a:extLst>
          </p:cNvPr>
          <p:cNvSpPr/>
          <p:nvPr/>
        </p:nvSpPr>
        <p:spPr>
          <a:xfrm>
            <a:off x="3523086" y="5219350"/>
            <a:ext cx="1983182" cy="74662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 Pain (0)</a:t>
            </a:r>
          </a:p>
          <a:p>
            <a:pPr algn="ctr"/>
            <a:r>
              <a:rPr lang="en-US" dirty="0"/>
              <a:t>Yes Pain (else)</a:t>
            </a:r>
          </a:p>
        </p:txBody>
      </p:sp>
      <p:sp>
        <p:nvSpPr>
          <p:cNvPr id="24" name="Rectangle: Rounded Corners 23">
            <a:extLst>
              <a:ext uri="{FF2B5EF4-FFF2-40B4-BE49-F238E27FC236}">
                <a16:creationId xmlns:a16="http://schemas.microsoft.com/office/drawing/2014/main" id="{33E7A557-F56C-2AEC-CA8E-438DE3E7FD05}"/>
              </a:ext>
            </a:extLst>
          </p:cNvPr>
          <p:cNvSpPr/>
          <p:nvPr/>
        </p:nvSpPr>
        <p:spPr>
          <a:xfrm>
            <a:off x="6775364" y="5217952"/>
            <a:ext cx="1501920" cy="45720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0,1,2,…,10</a:t>
            </a:r>
          </a:p>
        </p:txBody>
      </p:sp>
      <p:sp>
        <p:nvSpPr>
          <p:cNvPr id="27" name="Rectangle: Rounded Corners 26">
            <a:extLst>
              <a:ext uri="{FF2B5EF4-FFF2-40B4-BE49-F238E27FC236}">
                <a16:creationId xmlns:a16="http://schemas.microsoft.com/office/drawing/2014/main" id="{43DEE628-6055-E114-5BF7-2332E9AAEEEA}"/>
              </a:ext>
            </a:extLst>
          </p:cNvPr>
          <p:cNvSpPr/>
          <p:nvPr/>
        </p:nvSpPr>
        <p:spPr>
          <a:xfrm>
            <a:off x="9459080" y="5219350"/>
            <a:ext cx="1904301" cy="9144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No/Mild Pain</a:t>
            </a:r>
          </a:p>
          <a:p>
            <a:pPr algn="ctr"/>
            <a:r>
              <a:rPr lang="en-US" dirty="0"/>
              <a:t>Moderate Pain</a:t>
            </a:r>
          </a:p>
          <a:p>
            <a:pPr algn="ctr"/>
            <a:r>
              <a:rPr lang="en-US" dirty="0"/>
              <a:t>Severe Pain</a:t>
            </a:r>
          </a:p>
        </p:txBody>
      </p:sp>
    </p:spTree>
    <p:extLst>
      <p:ext uri="{BB962C8B-B14F-4D97-AF65-F5344CB8AC3E}">
        <p14:creationId xmlns:p14="http://schemas.microsoft.com/office/powerpoint/2010/main" val="3574952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1" grpId="0" animBg="1"/>
      <p:bldP spid="23" grpId="0" animBg="1"/>
      <p:bldP spid="24" grpId="0" animBg="1"/>
      <p:bldP spid="2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62B0F18-1E72-32B6-A36B-9B81BAFF8A40}"/>
              </a:ext>
            </a:extLst>
          </p:cNvPr>
          <p:cNvSpPr>
            <a:spLocks noGrp="1"/>
          </p:cNvSpPr>
          <p:nvPr>
            <p:ph type="sldNum" sz="quarter" idx="11"/>
          </p:nvPr>
        </p:nvSpPr>
        <p:spPr/>
        <p:txBody>
          <a:bodyPr/>
          <a:lstStyle/>
          <a:p>
            <a:fld id="{523A240F-EAFE-E84F-B44C-6D7A08E0E409}" type="slidenum">
              <a:rPr lang="en-US" smtClean="0"/>
              <a:pPr/>
              <a:t>10</a:t>
            </a:fld>
            <a:endParaRPr lang="en-US"/>
          </a:p>
        </p:txBody>
      </p:sp>
      <p:sp>
        <p:nvSpPr>
          <p:cNvPr id="11" name="Footer Placeholder 10">
            <a:extLst>
              <a:ext uri="{FF2B5EF4-FFF2-40B4-BE49-F238E27FC236}">
                <a16:creationId xmlns:a16="http://schemas.microsoft.com/office/drawing/2014/main" id="{226F1849-E205-FC4A-AB3E-63A0EC2593D4}"/>
              </a:ext>
            </a:extLst>
          </p:cNvPr>
          <p:cNvSpPr>
            <a:spLocks noGrp="1"/>
          </p:cNvSpPr>
          <p:nvPr>
            <p:ph type="ftr" sz="quarter" idx="10"/>
          </p:nvPr>
        </p:nvSpPr>
        <p:spPr/>
        <p:txBody>
          <a:bodyPr/>
          <a:lstStyle/>
          <a:p>
            <a:r>
              <a:rPr lang="en-US"/>
              <a:t>MSK Confidential — do not distribute</a:t>
            </a:r>
          </a:p>
        </p:txBody>
      </p:sp>
      <p:sp>
        <p:nvSpPr>
          <p:cNvPr id="12" name="Text Placeholder 11">
            <a:extLst>
              <a:ext uri="{FF2B5EF4-FFF2-40B4-BE49-F238E27FC236}">
                <a16:creationId xmlns:a16="http://schemas.microsoft.com/office/drawing/2014/main" id="{BBB7A432-C3D2-B9C5-B108-0E808C83C67B}"/>
              </a:ext>
            </a:extLst>
          </p:cNvPr>
          <p:cNvSpPr>
            <a:spLocks noGrp="1"/>
          </p:cNvSpPr>
          <p:nvPr>
            <p:ph type="body" sz="half" idx="2"/>
          </p:nvPr>
        </p:nvSpPr>
        <p:spPr>
          <a:xfrm>
            <a:off x="512064" y="6119889"/>
            <a:ext cx="7336536" cy="516482"/>
          </a:xfrm>
        </p:spPr>
        <p:txBody>
          <a:bodyPr/>
          <a:lstStyle/>
          <a:p>
            <a:r>
              <a:rPr lang="en-US" dirty="0"/>
              <a:t>* </a:t>
            </a:r>
            <a:r>
              <a:rPr lang="en-US" b="0" i="0" dirty="0" err="1">
                <a:solidFill>
                  <a:srgbClr val="212121"/>
                </a:solidFill>
                <a:effectLst/>
                <a:latin typeface="BlinkMacSystemFont"/>
              </a:rPr>
              <a:t>Gerbershagen</a:t>
            </a:r>
            <a:r>
              <a:rPr lang="en-US" b="0" i="0" dirty="0">
                <a:solidFill>
                  <a:srgbClr val="212121"/>
                </a:solidFill>
                <a:effectLst/>
                <a:latin typeface="BlinkMacSystemFont"/>
              </a:rPr>
              <a:t>, H. J., </a:t>
            </a:r>
            <a:r>
              <a:rPr lang="en-US" b="0" i="0" dirty="0" err="1">
                <a:solidFill>
                  <a:srgbClr val="212121"/>
                </a:solidFill>
                <a:effectLst/>
                <a:latin typeface="BlinkMacSystemFont"/>
              </a:rPr>
              <a:t>Rothaug</a:t>
            </a:r>
            <a:r>
              <a:rPr lang="en-US" b="0" i="0" dirty="0">
                <a:solidFill>
                  <a:srgbClr val="212121"/>
                </a:solidFill>
                <a:effectLst/>
                <a:latin typeface="BlinkMacSystemFont"/>
              </a:rPr>
              <a:t>, J., </a:t>
            </a:r>
            <a:r>
              <a:rPr lang="en-US" b="0" i="0" dirty="0" err="1">
                <a:solidFill>
                  <a:srgbClr val="212121"/>
                </a:solidFill>
                <a:effectLst/>
                <a:latin typeface="BlinkMacSystemFont"/>
              </a:rPr>
              <a:t>Kalkman</a:t>
            </a:r>
            <a:r>
              <a:rPr lang="en-US" b="0" i="0" dirty="0">
                <a:solidFill>
                  <a:srgbClr val="212121"/>
                </a:solidFill>
                <a:effectLst/>
                <a:latin typeface="BlinkMacSystemFont"/>
              </a:rPr>
              <a:t>, C. J., &amp; Meissner, W. (2011). Determination of moderate-to-severe postoperative pain on the numeric rating scale: a cut-off point analysis applying four different methods. </a:t>
            </a:r>
            <a:r>
              <a:rPr lang="en-US" b="0" i="1" dirty="0">
                <a:solidFill>
                  <a:srgbClr val="212121"/>
                </a:solidFill>
                <a:effectLst/>
                <a:latin typeface="BlinkMacSystemFont"/>
              </a:rPr>
              <a:t>British journal of </a:t>
            </a:r>
            <a:r>
              <a:rPr lang="en-US" b="0" i="1" dirty="0" err="1">
                <a:solidFill>
                  <a:srgbClr val="212121"/>
                </a:solidFill>
                <a:effectLst/>
                <a:latin typeface="BlinkMacSystemFont"/>
              </a:rPr>
              <a:t>anaesthesia</a:t>
            </a:r>
            <a:r>
              <a:rPr lang="en-US" b="0" i="0" dirty="0">
                <a:solidFill>
                  <a:srgbClr val="212121"/>
                </a:solidFill>
                <a:effectLst/>
                <a:latin typeface="BlinkMacSystemFont"/>
              </a:rPr>
              <a:t>, </a:t>
            </a:r>
            <a:r>
              <a:rPr lang="en-US" b="0" i="1" dirty="0">
                <a:solidFill>
                  <a:srgbClr val="212121"/>
                </a:solidFill>
                <a:effectLst/>
                <a:latin typeface="BlinkMacSystemFont"/>
              </a:rPr>
              <a:t>107</a:t>
            </a:r>
            <a:r>
              <a:rPr lang="en-US" b="0" i="0" dirty="0">
                <a:solidFill>
                  <a:srgbClr val="212121"/>
                </a:solidFill>
                <a:effectLst/>
                <a:latin typeface="BlinkMacSystemFont"/>
              </a:rPr>
              <a:t>(4), 619–626. https://doi.org/10.1093/bja/aer195</a:t>
            </a:r>
          </a:p>
          <a:p>
            <a:r>
              <a:rPr lang="en-US" dirty="0"/>
              <a:t>Supplemental 2 describes the ordinal logistic regression model as an extension from the binary logistic regression model</a:t>
            </a:r>
          </a:p>
        </p:txBody>
      </p:sp>
      <p:sp>
        <p:nvSpPr>
          <p:cNvPr id="8" name="Title 7">
            <a:extLst>
              <a:ext uri="{FF2B5EF4-FFF2-40B4-BE49-F238E27FC236}">
                <a16:creationId xmlns:a16="http://schemas.microsoft.com/office/drawing/2014/main" id="{09C86CDB-F7C3-7916-DC0E-E3A114DE1774}"/>
              </a:ext>
            </a:extLst>
          </p:cNvPr>
          <p:cNvSpPr>
            <a:spLocks noGrp="1"/>
          </p:cNvSpPr>
          <p:nvPr>
            <p:ph type="title"/>
          </p:nvPr>
        </p:nvSpPr>
        <p:spPr>
          <a:xfrm>
            <a:off x="503788" y="474569"/>
            <a:ext cx="11184423" cy="954001"/>
          </a:xfrm>
        </p:spPr>
        <p:txBody>
          <a:bodyPr/>
          <a:lstStyle/>
          <a:p>
            <a:r>
              <a:rPr lang="en-US" sz="2800" dirty="0"/>
              <a:t>Ordinal logistic regression is a valid statistical model for average postoperative pain data under certain assumptions</a:t>
            </a:r>
          </a:p>
        </p:txBody>
      </p:sp>
      <p:sp>
        <p:nvSpPr>
          <p:cNvPr id="7" name="TextBox 6">
            <a:extLst>
              <a:ext uri="{FF2B5EF4-FFF2-40B4-BE49-F238E27FC236}">
                <a16:creationId xmlns:a16="http://schemas.microsoft.com/office/drawing/2014/main" id="{221A445C-FEF1-EA44-6D19-5478AF6BC9ED}"/>
              </a:ext>
            </a:extLst>
          </p:cNvPr>
          <p:cNvSpPr txBox="1"/>
          <p:nvPr/>
        </p:nvSpPr>
        <p:spPr>
          <a:xfrm>
            <a:off x="408762" y="2425139"/>
            <a:ext cx="4086447" cy="369332"/>
          </a:xfrm>
          <a:prstGeom prst="rect">
            <a:avLst/>
          </a:prstGeom>
          <a:noFill/>
        </p:spPr>
        <p:txBody>
          <a:bodyPr wrap="square" rtlCol="0">
            <a:spAutoFit/>
          </a:bodyPr>
          <a:lstStyle/>
          <a:p>
            <a:r>
              <a:rPr lang="en-US" dirty="0">
                <a:solidFill>
                  <a:schemeClr val="tx2"/>
                </a:solidFill>
              </a:rPr>
              <a:t>1. Categorization must make sense</a:t>
            </a:r>
          </a:p>
        </p:txBody>
      </p:sp>
      <p:sp>
        <p:nvSpPr>
          <p:cNvPr id="10" name="TextBox 9">
            <a:extLst>
              <a:ext uri="{FF2B5EF4-FFF2-40B4-BE49-F238E27FC236}">
                <a16:creationId xmlns:a16="http://schemas.microsoft.com/office/drawing/2014/main" id="{45746DD2-BFF0-43ED-2AC8-D7D8A9D76452}"/>
              </a:ext>
            </a:extLst>
          </p:cNvPr>
          <p:cNvSpPr txBox="1"/>
          <p:nvPr/>
        </p:nvSpPr>
        <p:spPr>
          <a:xfrm>
            <a:off x="428255" y="3601873"/>
            <a:ext cx="3686545" cy="646331"/>
          </a:xfrm>
          <a:prstGeom prst="rect">
            <a:avLst/>
          </a:prstGeom>
          <a:noFill/>
        </p:spPr>
        <p:txBody>
          <a:bodyPr wrap="square">
            <a:spAutoFit/>
          </a:bodyPr>
          <a:lstStyle/>
          <a:p>
            <a:r>
              <a:rPr lang="en-US" dirty="0">
                <a:solidFill>
                  <a:schemeClr val="tx2"/>
                </a:solidFill>
              </a:rPr>
              <a:t>2. Categories must be ordered</a:t>
            </a:r>
          </a:p>
          <a:p>
            <a:endParaRPr lang="en-US" dirty="0">
              <a:solidFill>
                <a:schemeClr val="tx2"/>
              </a:solidFill>
            </a:endParaRPr>
          </a:p>
        </p:txBody>
      </p:sp>
      <p:sp>
        <p:nvSpPr>
          <p:cNvPr id="13" name="TextBox 12">
            <a:extLst>
              <a:ext uri="{FF2B5EF4-FFF2-40B4-BE49-F238E27FC236}">
                <a16:creationId xmlns:a16="http://schemas.microsoft.com/office/drawing/2014/main" id="{68996BA1-265B-EAF3-989A-D9B8A9D37F5E}"/>
              </a:ext>
            </a:extLst>
          </p:cNvPr>
          <p:cNvSpPr txBox="1"/>
          <p:nvPr/>
        </p:nvSpPr>
        <p:spPr>
          <a:xfrm>
            <a:off x="408762" y="4819564"/>
            <a:ext cx="6220638" cy="369332"/>
          </a:xfrm>
          <a:prstGeom prst="rect">
            <a:avLst/>
          </a:prstGeom>
          <a:noFill/>
        </p:spPr>
        <p:txBody>
          <a:bodyPr wrap="square">
            <a:spAutoFit/>
          </a:bodyPr>
          <a:lstStyle/>
          <a:p>
            <a:r>
              <a:rPr lang="en-US" dirty="0">
                <a:solidFill>
                  <a:schemeClr val="tx2"/>
                </a:solidFill>
              </a:rPr>
              <a:t>3. Model must pass Proportional Odds Assumption</a:t>
            </a:r>
          </a:p>
        </p:txBody>
      </p:sp>
      <p:graphicFrame>
        <p:nvGraphicFramePr>
          <p:cNvPr id="14" name="Table 13">
            <a:extLst>
              <a:ext uri="{FF2B5EF4-FFF2-40B4-BE49-F238E27FC236}">
                <a16:creationId xmlns:a16="http://schemas.microsoft.com/office/drawing/2014/main" id="{201AF443-4BF2-D731-3E51-94E7CCB76709}"/>
              </a:ext>
            </a:extLst>
          </p:cNvPr>
          <p:cNvGraphicFramePr>
            <a:graphicFrameLocks noGrp="1"/>
          </p:cNvGraphicFramePr>
          <p:nvPr>
            <p:extLst>
              <p:ext uri="{D42A27DB-BD31-4B8C-83A1-F6EECF244321}">
                <p14:modId xmlns:p14="http://schemas.microsoft.com/office/powerpoint/2010/main" val="2639750288"/>
              </p:ext>
            </p:extLst>
          </p:nvPr>
        </p:nvGraphicFramePr>
        <p:xfrm>
          <a:off x="5211726" y="2153791"/>
          <a:ext cx="6826549" cy="2235152"/>
        </p:xfrm>
        <a:graphic>
          <a:graphicData uri="http://schemas.openxmlformats.org/drawingml/2006/table">
            <a:tbl>
              <a:tblPr firstRow="1" bandRow="1">
                <a:tableStyleId>{5C22544A-7EE6-4342-B048-85BDC9FD1C3A}</a:tableStyleId>
              </a:tblPr>
              <a:tblGrid>
                <a:gridCol w="3285756">
                  <a:extLst>
                    <a:ext uri="{9D8B030D-6E8A-4147-A177-3AD203B41FA5}">
                      <a16:colId xmlns:a16="http://schemas.microsoft.com/office/drawing/2014/main" val="4071022929"/>
                    </a:ext>
                  </a:extLst>
                </a:gridCol>
                <a:gridCol w="3540793">
                  <a:extLst>
                    <a:ext uri="{9D8B030D-6E8A-4147-A177-3AD203B41FA5}">
                      <a16:colId xmlns:a16="http://schemas.microsoft.com/office/drawing/2014/main" val="4244201028"/>
                    </a:ext>
                  </a:extLst>
                </a:gridCol>
              </a:tblGrid>
              <a:tr h="816317">
                <a:tc>
                  <a:txBody>
                    <a:bodyPr/>
                    <a:lstStyle/>
                    <a:p>
                      <a:pPr algn="ctr"/>
                      <a:r>
                        <a:rPr lang="en-US" b="1" dirty="0"/>
                        <a:t>Pain Category</a:t>
                      </a:r>
                    </a:p>
                    <a:p>
                      <a:pPr algn="ctr"/>
                      <a:r>
                        <a:rPr lang="en-US" b="0" dirty="0"/>
                        <a:t>Validated*</a:t>
                      </a:r>
                    </a:p>
                  </a:txBody>
                  <a:tcPr/>
                </a:tc>
                <a:tc>
                  <a:txBody>
                    <a:bodyPr/>
                    <a:lstStyle/>
                    <a:p>
                      <a:pPr algn="ctr"/>
                      <a:r>
                        <a:rPr lang="en-US" dirty="0"/>
                        <a:t>Average Post-Operative Pain </a:t>
                      </a:r>
                    </a:p>
                    <a:p>
                      <a:pPr algn="ctr"/>
                      <a:r>
                        <a:rPr lang="en-US" b="0" dirty="0"/>
                        <a:t>(on 0-10 scale based on NRS)</a:t>
                      </a:r>
                    </a:p>
                  </a:txBody>
                  <a:tcPr/>
                </a:tc>
                <a:extLst>
                  <a:ext uri="{0D108BD9-81ED-4DB2-BD59-A6C34878D82A}">
                    <a16:rowId xmlns:a16="http://schemas.microsoft.com/office/drawing/2014/main" val="1636759599"/>
                  </a:ext>
                </a:extLst>
              </a:tr>
              <a:tr h="472945">
                <a:tc>
                  <a:txBody>
                    <a:bodyPr/>
                    <a:lstStyle/>
                    <a:p>
                      <a:pPr algn="ctr"/>
                      <a:r>
                        <a:rPr lang="en-US" dirty="0"/>
                        <a:t>No/Mild Pain</a:t>
                      </a:r>
                    </a:p>
                  </a:txBody>
                  <a:tcPr/>
                </a:tc>
                <a:tc>
                  <a:txBody>
                    <a:bodyPr/>
                    <a:lstStyle/>
                    <a:p>
                      <a:pPr algn="ctr"/>
                      <a:r>
                        <a:rPr lang="en-US" dirty="0"/>
                        <a:t>0-2</a:t>
                      </a:r>
                    </a:p>
                  </a:txBody>
                  <a:tcPr/>
                </a:tc>
                <a:extLst>
                  <a:ext uri="{0D108BD9-81ED-4DB2-BD59-A6C34878D82A}">
                    <a16:rowId xmlns:a16="http://schemas.microsoft.com/office/drawing/2014/main" val="957179356"/>
                  </a:ext>
                </a:extLst>
              </a:tr>
              <a:tr h="472945">
                <a:tc>
                  <a:txBody>
                    <a:bodyPr/>
                    <a:lstStyle/>
                    <a:p>
                      <a:pPr algn="ctr"/>
                      <a:r>
                        <a:rPr lang="en-US" dirty="0"/>
                        <a:t>Moderate Pain</a:t>
                      </a:r>
                    </a:p>
                  </a:txBody>
                  <a:tcPr/>
                </a:tc>
                <a:tc>
                  <a:txBody>
                    <a:bodyPr/>
                    <a:lstStyle/>
                    <a:p>
                      <a:pPr algn="ctr"/>
                      <a:r>
                        <a:rPr lang="en-US" dirty="0"/>
                        <a:t>3-4</a:t>
                      </a:r>
                    </a:p>
                  </a:txBody>
                  <a:tcPr/>
                </a:tc>
                <a:extLst>
                  <a:ext uri="{0D108BD9-81ED-4DB2-BD59-A6C34878D82A}">
                    <a16:rowId xmlns:a16="http://schemas.microsoft.com/office/drawing/2014/main" val="39073638"/>
                  </a:ext>
                </a:extLst>
              </a:tr>
              <a:tr h="472945">
                <a:tc>
                  <a:txBody>
                    <a:bodyPr/>
                    <a:lstStyle/>
                    <a:p>
                      <a:pPr algn="ctr"/>
                      <a:r>
                        <a:rPr lang="en-US" dirty="0"/>
                        <a:t>Severe Pain</a:t>
                      </a:r>
                    </a:p>
                  </a:txBody>
                  <a:tcPr/>
                </a:tc>
                <a:tc>
                  <a:txBody>
                    <a:bodyPr/>
                    <a:lstStyle/>
                    <a:p>
                      <a:pPr algn="ctr"/>
                      <a:r>
                        <a:rPr lang="en-US" dirty="0"/>
                        <a:t>5+</a:t>
                      </a:r>
                    </a:p>
                  </a:txBody>
                  <a:tcPr/>
                </a:tc>
                <a:extLst>
                  <a:ext uri="{0D108BD9-81ED-4DB2-BD59-A6C34878D82A}">
                    <a16:rowId xmlns:a16="http://schemas.microsoft.com/office/drawing/2014/main" val="3432627506"/>
                  </a:ext>
                </a:extLst>
              </a:tr>
            </a:tbl>
          </a:graphicData>
        </a:graphic>
      </p:graphicFrame>
      <p:sp>
        <p:nvSpPr>
          <p:cNvPr id="15" name="Arrow: Right 14">
            <a:extLst>
              <a:ext uri="{FF2B5EF4-FFF2-40B4-BE49-F238E27FC236}">
                <a16:creationId xmlns:a16="http://schemas.microsoft.com/office/drawing/2014/main" id="{084857B7-6F48-6184-2DA3-2B1C38B42688}"/>
              </a:ext>
            </a:extLst>
          </p:cNvPr>
          <p:cNvSpPr/>
          <p:nvPr/>
        </p:nvSpPr>
        <p:spPr>
          <a:xfrm>
            <a:off x="3983666" y="3675721"/>
            <a:ext cx="1017181" cy="228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3D886BA0-8D03-0E6D-FFB9-AF45D9891869}"/>
              </a:ext>
            </a:extLst>
          </p:cNvPr>
          <p:cNvSpPr/>
          <p:nvPr/>
        </p:nvSpPr>
        <p:spPr>
          <a:xfrm>
            <a:off x="6477000" y="4904635"/>
            <a:ext cx="1371600" cy="2349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059B632-149A-7437-507B-78250DEEF780}"/>
              </a:ext>
            </a:extLst>
          </p:cNvPr>
          <p:cNvSpPr txBox="1"/>
          <p:nvPr/>
        </p:nvSpPr>
        <p:spPr>
          <a:xfrm>
            <a:off x="8220818" y="4819564"/>
            <a:ext cx="3248295" cy="369332"/>
          </a:xfrm>
          <a:prstGeom prst="rect">
            <a:avLst/>
          </a:prstGeom>
          <a:noFill/>
        </p:spPr>
        <p:txBody>
          <a:bodyPr wrap="square">
            <a:spAutoFit/>
          </a:bodyPr>
          <a:lstStyle/>
          <a:p>
            <a:r>
              <a:rPr lang="en-US" dirty="0">
                <a:solidFill>
                  <a:schemeClr val="tx2"/>
                </a:solidFill>
              </a:rPr>
              <a:t>Satisfied (Brant test)</a:t>
            </a:r>
          </a:p>
        </p:txBody>
      </p:sp>
      <p:sp>
        <p:nvSpPr>
          <p:cNvPr id="18" name="Arrow: Right 17">
            <a:extLst>
              <a:ext uri="{FF2B5EF4-FFF2-40B4-BE49-F238E27FC236}">
                <a16:creationId xmlns:a16="http://schemas.microsoft.com/office/drawing/2014/main" id="{DCCACB0F-B18E-54DA-50D9-065F58B87A5A}"/>
              </a:ext>
            </a:extLst>
          </p:cNvPr>
          <p:cNvSpPr/>
          <p:nvPr/>
        </p:nvSpPr>
        <p:spPr>
          <a:xfrm>
            <a:off x="4391247" y="2526594"/>
            <a:ext cx="609600" cy="228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C99E2D05-55C3-2A8D-B3BB-65661BE7AF85}"/>
              </a:ext>
            </a:extLst>
          </p:cNvPr>
          <p:cNvPicPr>
            <a:picLocks noChangeAspect="1"/>
          </p:cNvPicPr>
          <p:nvPr/>
        </p:nvPicPr>
        <p:blipFill>
          <a:blip r:embed="rId3"/>
          <a:stretch>
            <a:fillRect/>
          </a:stretch>
        </p:blipFill>
        <p:spPr>
          <a:xfrm>
            <a:off x="428255" y="1510643"/>
            <a:ext cx="4674822" cy="4674822"/>
          </a:xfrm>
          <a:prstGeom prst="rect">
            <a:avLst/>
          </a:prstGeom>
        </p:spPr>
      </p:pic>
    </p:spTree>
    <p:extLst>
      <p:ext uri="{BB962C8B-B14F-4D97-AF65-F5344CB8AC3E}">
        <p14:creationId xmlns:p14="http://schemas.microsoft.com/office/powerpoint/2010/main" val="136220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3" grpId="0"/>
      <p:bldP spid="15" grpId="0" animBg="1"/>
      <p:bldP spid="16" grpId="0" animBg="1"/>
      <p:bldP spid="17" grpId="0"/>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62B0F18-1E72-32B6-A36B-9B81BAFF8A40}"/>
              </a:ext>
            </a:extLst>
          </p:cNvPr>
          <p:cNvSpPr>
            <a:spLocks noGrp="1"/>
          </p:cNvSpPr>
          <p:nvPr>
            <p:ph type="sldNum" sz="quarter" idx="11"/>
          </p:nvPr>
        </p:nvSpPr>
        <p:spPr/>
        <p:txBody>
          <a:bodyPr/>
          <a:lstStyle/>
          <a:p>
            <a:fld id="{523A240F-EAFE-E84F-B44C-6D7A08E0E409}" type="slidenum">
              <a:rPr lang="en-US" smtClean="0"/>
              <a:pPr/>
              <a:t>11</a:t>
            </a:fld>
            <a:endParaRPr lang="en-US"/>
          </a:p>
        </p:txBody>
      </p:sp>
      <p:sp>
        <p:nvSpPr>
          <p:cNvPr id="11" name="Footer Placeholder 10">
            <a:extLst>
              <a:ext uri="{FF2B5EF4-FFF2-40B4-BE49-F238E27FC236}">
                <a16:creationId xmlns:a16="http://schemas.microsoft.com/office/drawing/2014/main" id="{226F1849-E205-FC4A-AB3E-63A0EC2593D4}"/>
              </a:ext>
            </a:extLst>
          </p:cNvPr>
          <p:cNvSpPr>
            <a:spLocks noGrp="1"/>
          </p:cNvSpPr>
          <p:nvPr>
            <p:ph type="ftr" sz="quarter" idx="10"/>
          </p:nvPr>
        </p:nvSpPr>
        <p:spPr/>
        <p:txBody>
          <a:bodyPr/>
          <a:lstStyle/>
          <a:p>
            <a:r>
              <a:rPr lang="en-US"/>
              <a:t>MSK Confidential — do not distribute</a:t>
            </a:r>
          </a:p>
        </p:txBody>
      </p:sp>
      <p:sp>
        <p:nvSpPr>
          <p:cNvPr id="12" name="Text Placeholder 11">
            <a:extLst>
              <a:ext uri="{FF2B5EF4-FFF2-40B4-BE49-F238E27FC236}">
                <a16:creationId xmlns:a16="http://schemas.microsoft.com/office/drawing/2014/main" id="{BBB7A432-C3D2-B9C5-B108-0E808C83C67B}"/>
              </a:ext>
            </a:extLst>
          </p:cNvPr>
          <p:cNvSpPr>
            <a:spLocks noGrp="1"/>
          </p:cNvSpPr>
          <p:nvPr>
            <p:ph type="body" sz="half" idx="2"/>
          </p:nvPr>
        </p:nvSpPr>
        <p:spPr>
          <a:xfrm>
            <a:off x="512064" y="6282866"/>
            <a:ext cx="4434840" cy="337008"/>
          </a:xfrm>
        </p:spPr>
        <p:txBody>
          <a:bodyPr/>
          <a:lstStyle/>
          <a:p>
            <a:r>
              <a:rPr lang="en-US" dirty="0"/>
              <a:t>Supplemental 1 has the Data Generating Mechanism for the simulation study listed out</a:t>
            </a:r>
          </a:p>
          <a:p>
            <a:r>
              <a:rPr lang="en-US" dirty="0"/>
              <a:t>Supplemental 4 has the 72 scenarios listed out</a:t>
            </a:r>
          </a:p>
        </p:txBody>
      </p:sp>
      <p:sp>
        <p:nvSpPr>
          <p:cNvPr id="8" name="Title 7">
            <a:extLst>
              <a:ext uri="{FF2B5EF4-FFF2-40B4-BE49-F238E27FC236}">
                <a16:creationId xmlns:a16="http://schemas.microsoft.com/office/drawing/2014/main" id="{09C86CDB-F7C3-7916-DC0E-E3A114DE1774}"/>
              </a:ext>
            </a:extLst>
          </p:cNvPr>
          <p:cNvSpPr>
            <a:spLocks noGrp="1"/>
          </p:cNvSpPr>
          <p:nvPr>
            <p:ph type="title"/>
          </p:nvPr>
        </p:nvSpPr>
        <p:spPr>
          <a:xfrm>
            <a:off x="512064" y="408071"/>
            <a:ext cx="11184423" cy="1020106"/>
          </a:xfrm>
        </p:spPr>
        <p:txBody>
          <a:bodyPr/>
          <a:lstStyle/>
          <a:p>
            <a:r>
              <a:rPr lang="en-US" dirty="0"/>
              <a:t>We performed a simulation study to better understand the effect of stratified randomization error in the trial</a:t>
            </a:r>
          </a:p>
        </p:txBody>
      </p:sp>
      <p:sp>
        <p:nvSpPr>
          <p:cNvPr id="26" name="Oval 25">
            <a:extLst>
              <a:ext uri="{FF2B5EF4-FFF2-40B4-BE49-F238E27FC236}">
                <a16:creationId xmlns:a16="http://schemas.microsoft.com/office/drawing/2014/main" id="{41AEF6C3-492C-E347-181C-D4BF8130F6CD}"/>
              </a:ext>
            </a:extLst>
          </p:cNvPr>
          <p:cNvSpPr/>
          <p:nvPr/>
        </p:nvSpPr>
        <p:spPr>
          <a:xfrm>
            <a:off x="931179" y="1738570"/>
            <a:ext cx="4345498" cy="96018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Strength of Treatment Effect</a:t>
            </a:r>
          </a:p>
          <a:p>
            <a:pPr algn="ctr"/>
            <a:r>
              <a:rPr lang="en-US" sz="1200" dirty="0">
                <a:solidFill>
                  <a:schemeClr val="bg1"/>
                </a:solidFill>
              </a:rPr>
              <a:t>(Strong)</a:t>
            </a:r>
          </a:p>
        </p:txBody>
      </p:sp>
      <p:sp>
        <p:nvSpPr>
          <p:cNvPr id="27" name="Oval 26">
            <a:extLst>
              <a:ext uri="{FF2B5EF4-FFF2-40B4-BE49-F238E27FC236}">
                <a16:creationId xmlns:a16="http://schemas.microsoft.com/office/drawing/2014/main" id="{12D360AF-47EC-CED1-214F-FF4BD6C61171}"/>
              </a:ext>
            </a:extLst>
          </p:cNvPr>
          <p:cNvSpPr/>
          <p:nvPr/>
        </p:nvSpPr>
        <p:spPr>
          <a:xfrm>
            <a:off x="472970" y="3026520"/>
            <a:ext cx="2717931" cy="71350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Sample Size </a:t>
            </a:r>
          </a:p>
          <a:p>
            <a:pPr algn="ctr"/>
            <a:r>
              <a:rPr lang="en-US" sz="1200" dirty="0">
                <a:solidFill>
                  <a:schemeClr val="bg1"/>
                </a:solidFill>
              </a:rPr>
              <a:t>(n = 120) </a:t>
            </a:r>
          </a:p>
        </p:txBody>
      </p:sp>
      <p:sp>
        <p:nvSpPr>
          <p:cNvPr id="29" name="Oval 28">
            <a:extLst>
              <a:ext uri="{FF2B5EF4-FFF2-40B4-BE49-F238E27FC236}">
                <a16:creationId xmlns:a16="http://schemas.microsoft.com/office/drawing/2014/main" id="{944D49A4-A533-DF41-4ED6-040DFC9D4EDD}"/>
              </a:ext>
            </a:extLst>
          </p:cNvPr>
          <p:cNvSpPr/>
          <p:nvPr/>
        </p:nvSpPr>
        <p:spPr>
          <a:xfrm>
            <a:off x="7966741" y="2947487"/>
            <a:ext cx="3986092" cy="10275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Strength of Measurement Error on BMI</a:t>
            </a:r>
          </a:p>
          <a:p>
            <a:pPr algn="ctr"/>
            <a:r>
              <a:rPr lang="en-US" sz="1200" dirty="0">
                <a:solidFill>
                  <a:schemeClr val="bg1"/>
                </a:solidFill>
              </a:rPr>
              <a:t>(Weak)</a:t>
            </a:r>
          </a:p>
        </p:txBody>
      </p:sp>
      <p:sp>
        <p:nvSpPr>
          <p:cNvPr id="36" name="Rectangle 35">
            <a:extLst>
              <a:ext uri="{FF2B5EF4-FFF2-40B4-BE49-F238E27FC236}">
                <a16:creationId xmlns:a16="http://schemas.microsoft.com/office/drawing/2014/main" id="{E2B1D47E-54BA-C1C0-28C6-8F4E77EF32F1}"/>
              </a:ext>
            </a:extLst>
          </p:cNvPr>
          <p:cNvSpPr/>
          <p:nvPr/>
        </p:nvSpPr>
        <p:spPr>
          <a:xfrm>
            <a:off x="4567367" y="3288779"/>
            <a:ext cx="2626633" cy="67804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Initial Parameters for Simulation Study</a:t>
            </a:r>
          </a:p>
        </p:txBody>
      </p:sp>
      <p:cxnSp>
        <p:nvCxnSpPr>
          <p:cNvPr id="50" name="Straight Arrow Connector 49">
            <a:extLst>
              <a:ext uri="{FF2B5EF4-FFF2-40B4-BE49-F238E27FC236}">
                <a16:creationId xmlns:a16="http://schemas.microsoft.com/office/drawing/2014/main" id="{D0D99638-B193-BB66-F1E7-CECF44FB4932}"/>
              </a:ext>
            </a:extLst>
          </p:cNvPr>
          <p:cNvCxnSpPr>
            <a:cxnSpLocks/>
          </p:cNvCxnSpPr>
          <p:nvPr/>
        </p:nvCxnSpPr>
        <p:spPr>
          <a:xfrm>
            <a:off x="4755304" y="2660167"/>
            <a:ext cx="327105" cy="526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9A8288A4-4C3A-0059-C1AA-6F96ADBFF42A}"/>
              </a:ext>
            </a:extLst>
          </p:cNvPr>
          <p:cNvCxnSpPr>
            <a:cxnSpLocks/>
          </p:cNvCxnSpPr>
          <p:nvPr/>
        </p:nvCxnSpPr>
        <p:spPr>
          <a:xfrm flipH="1">
            <a:off x="6738199" y="2702329"/>
            <a:ext cx="371394" cy="484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A19000BC-406F-A152-AF74-B02612DB1C64}"/>
              </a:ext>
            </a:extLst>
          </p:cNvPr>
          <p:cNvCxnSpPr/>
          <p:nvPr/>
        </p:nvCxnSpPr>
        <p:spPr>
          <a:xfrm>
            <a:off x="3427013" y="3461263"/>
            <a:ext cx="1025719" cy="184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F486436A-6F7E-BB0B-E1F9-2D3121CA20F7}"/>
              </a:ext>
            </a:extLst>
          </p:cNvPr>
          <p:cNvCxnSpPr>
            <a:cxnSpLocks/>
          </p:cNvCxnSpPr>
          <p:nvPr/>
        </p:nvCxnSpPr>
        <p:spPr>
          <a:xfrm flipH="1">
            <a:off x="7344919" y="3553596"/>
            <a:ext cx="476308" cy="10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5CF688D0-6814-43C1-6127-A61A099D1F8A}"/>
              </a:ext>
            </a:extLst>
          </p:cNvPr>
          <p:cNvSpPr/>
          <p:nvPr/>
        </p:nvSpPr>
        <p:spPr>
          <a:xfrm>
            <a:off x="1640049" y="4766100"/>
            <a:ext cx="8848294" cy="4906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 varied each these parameters to give us a wide range of potential scenarios (72)</a:t>
            </a:r>
          </a:p>
        </p:txBody>
      </p:sp>
      <p:sp>
        <p:nvSpPr>
          <p:cNvPr id="5" name="Rectangle 4">
            <a:extLst>
              <a:ext uri="{FF2B5EF4-FFF2-40B4-BE49-F238E27FC236}">
                <a16:creationId xmlns:a16="http://schemas.microsoft.com/office/drawing/2014/main" id="{7B407F65-4C43-CE22-CEB7-1288410A3AB0}"/>
              </a:ext>
            </a:extLst>
          </p:cNvPr>
          <p:cNvSpPr/>
          <p:nvPr/>
        </p:nvSpPr>
        <p:spPr>
          <a:xfrm>
            <a:off x="3612625" y="5395705"/>
            <a:ext cx="4714612" cy="4906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8000 iterations for each of the 72 scenarios</a:t>
            </a:r>
          </a:p>
        </p:txBody>
      </p:sp>
      <p:sp>
        <p:nvSpPr>
          <p:cNvPr id="3" name="Oval 2">
            <a:extLst>
              <a:ext uri="{FF2B5EF4-FFF2-40B4-BE49-F238E27FC236}">
                <a16:creationId xmlns:a16="http://schemas.microsoft.com/office/drawing/2014/main" id="{368935DB-FA3D-5371-9E2C-A3BCEF56EB66}"/>
              </a:ext>
            </a:extLst>
          </p:cNvPr>
          <p:cNvSpPr/>
          <p:nvPr/>
        </p:nvSpPr>
        <p:spPr>
          <a:xfrm>
            <a:off x="6500984" y="1742141"/>
            <a:ext cx="4345498" cy="96018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Strength of BMI Effect to outcome</a:t>
            </a:r>
          </a:p>
          <a:p>
            <a:pPr algn="ctr"/>
            <a:r>
              <a:rPr lang="en-US" sz="1200" dirty="0">
                <a:solidFill>
                  <a:schemeClr val="bg1"/>
                </a:solidFill>
              </a:rPr>
              <a:t>(Weak)</a:t>
            </a:r>
          </a:p>
        </p:txBody>
      </p:sp>
      <p:cxnSp>
        <p:nvCxnSpPr>
          <p:cNvPr id="10" name="Straight Arrow Connector 9">
            <a:extLst>
              <a:ext uri="{FF2B5EF4-FFF2-40B4-BE49-F238E27FC236}">
                <a16:creationId xmlns:a16="http://schemas.microsoft.com/office/drawing/2014/main" id="{F6CEAE7E-3369-DCCF-03E9-7364C1F7519C}"/>
              </a:ext>
            </a:extLst>
          </p:cNvPr>
          <p:cNvCxnSpPr>
            <a:cxnSpLocks/>
          </p:cNvCxnSpPr>
          <p:nvPr/>
        </p:nvCxnSpPr>
        <p:spPr>
          <a:xfrm>
            <a:off x="5860875" y="4052813"/>
            <a:ext cx="0" cy="500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7521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9" grpId="0" animBg="1"/>
      <p:bldP spid="36" grpId="0" animBg="1"/>
      <p:bldP spid="2" grpId="0" animBg="1"/>
      <p:bldP spid="5" grpId="0" animBg="1"/>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C258A3-4899-12F4-471D-DA242E8C6492}"/>
              </a:ext>
            </a:extLst>
          </p:cNvPr>
          <p:cNvSpPr>
            <a:spLocks noGrp="1"/>
          </p:cNvSpPr>
          <p:nvPr>
            <p:ph type="sldNum" sz="quarter" idx="11"/>
          </p:nvPr>
        </p:nvSpPr>
        <p:spPr/>
        <p:txBody>
          <a:bodyPr/>
          <a:lstStyle/>
          <a:p>
            <a:fld id="{523A240F-EAFE-E84F-B44C-6D7A08E0E409}" type="slidenum">
              <a:rPr lang="en-US" smtClean="0"/>
              <a:t>12</a:t>
            </a:fld>
            <a:endParaRPr lang="en-US"/>
          </a:p>
        </p:txBody>
      </p:sp>
      <p:sp>
        <p:nvSpPr>
          <p:cNvPr id="3" name="Footer Placeholder 2">
            <a:extLst>
              <a:ext uri="{FF2B5EF4-FFF2-40B4-BE49-F238E27FC236}">
                <a16:creationId xmlns:a16="http://schemas.microsoft.com/office/drawing/2014/main" id="{8091D564-F1BA-D150-1EC2-442BEB79CCEA}"/>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EDA7674B-10FA-D020-BCB9-50AFD8ADEE82}"/>
              </a:ext>
            </a:extLst>
          </p:cNvPr>
          <p:cNvSpPr>
            <a:spLocks noGrp="1"/>
          </p:cNvSpPr>
          <p:nvPr>
            <p:ph type="body" sz="half" idx="2"/>
          </p:nvPr>
        </p:nvSpPr>
        <p:spPr/>
        <p:txBody>
          <a:bodyPr/>
          <a:lstStyle/>
          <a:p>
            <a:endParaRPr lang="en-US" dirty="0"/>
          </a:p>
        </p:txBody>
      </p:sp>
      <p:sp>
        <p:nvSpPr>
          <p:cNvPr id="5" name="Title 4">
            <a:extLst>
              <a:ext uri="{FF2B5EF4-FFF2-40B4-BE49-F238E27FC236}">
                <a16:creationId xmlns:a16="http://schemas.microsoft.com/office/drawing/2014/main" id="{4BA780FE-C17C-AE61-9364-158B2F386F84}"/>
              </a:ext>
            </a:extLst>
          </p:cNvPr>
          <p:cNvSpPr>
            <a:spLocks noGrp="1"/>
          </p:cNvSpPr>
          <p:nvPr>
            <p:ph type="title"/>
          </p:nvPr>
        </p:nvSpPr>
        <p:spPr>
          <a:xfrm>
            <a:off x="512063" y="815787"/>
            <a:ext cx="11184423" cy="873528"/>
          </a:xfrm>
        </p:spPr>
        <p:txBody>
          <a:bodyPr/>
          <a:lstStyle/>
          <a:p>
            <a:r>
              <a:rPr lang="en-US" sz="2800" dirty="0"/>
              <a:t>Ordinal logistic regression is sensitive to errors in stratified randomization when true covariate strength is strong</a:t>
            </a:r>
          </a:p>
        </p:txBody>
      </p:sp>
      <p:sp>
        <p:nvSpPr>
          <p:cNvPr id="6" name="Text Placeholder 5">
            <a:extLst>
              <a:ext uri="{FF2B5EF4-FFF2-40B4-BE49-F238E27FC236}">
                <a16:creationId xmlns:a16="http://schemas.microsoft.com/office/drawing/2014/main" id="{900831F6-D3DC-AE71-ABBC-76F3C833D9B4}"/>
              </a:ext>
            </a:extLst>
          </p:cNvPr>
          <p:cNvSpPr>
            <a:spLocks noGrp="1"/>
          </p:cNvSpPr>
          <p:nvPr>
            <p:ph type="body" idx="12"/>
          </p:nvPr>
        </p:nvSpPr>
        <p:spPr/>
        <p:txBody>
          <a:bodyPr/>
          <a:lstStyle/>
          <a:p>
            <a:r>
              <a:rPr lang="en-US" dirty="0"/>
              <a:t>Results: Simulation Study (Relative Bias)</a:t>
            </a:r>
          </a:p>
        </p:txBody>
      </p:sp>
      <p:pic>
        <p:nvPicPr>
          <p:cNvPr id="9" name="Picture 8" descr="A graph of a graph of a graph&#10;&#10;AI-generated content may be incorrect.">
            <a:extLst>
              <a:ext uri="{FF2B5EF4-FFF2-40B4-BE49-F238E27FC236}">
                <a16:creationId xmlns:a16="http://schemas.microsoft.com/office/drawing/2014/main" id="{C2A88A79-8F53-5773-9962-F152F52C9455}"/>
              </a:ext>
            </a:extLst>
          </p:cNvPr>
          <p:cNvPicPr>
            <a:picLocks noChangeAspect="1"/>
          </p:cNvPicPr>
          <p:nvPr/>
        </p:nvPicPr>
        <p:blipFill>
          <a:blip r:embed="rId3"/>
          <a:stretch>
            <a:fillRect/>
          </a:stretch>
        </p:blipFill>
        <p:spPr>
          <a:xfrm>
            <a:off x="2729484" y="1778320"/>
            <a:ext cx="6665990" cy="4114808"/>
          </a:xfrm>
          <a:prstGeom prst="rect">
            <a:avLst/>
          </a:prstGeom>
        </p:spPr>
      </p:pic>
      <p:sp>
        <p:nvSpPr>
          <p:cNvPr id="7" name="Rectangle 6">
            <a:extLst>
              <a:ext uri="{FF2B5EF4-FFF2-40B4-BE49-F238E27FC236}">
                <a16:creationId xmlns:a16="http://schemas.microsoft.com/office/drawing/2014/main" id="{EBCA874D-C3F7-662E-D9FF-F707A1557738}"/>
              </a:ext>
            </a:extLst>
          </p:cNvPr>
          <p:cNvSpPr/>
          <p:nvPr/>
        </p:nvSpPr>
        <p:spPr>
          <a:xfrm>
            <a:off x="5402846" y="1853966"/>
            <a:ext cx="1878798" cy="38292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1F6E257-46C2-BA3A-E0B1-0F0B275E1E96}"/>
              </a:ext>
            </a:extLst>
          </p:cNvPr>
          <p:cNvSpPr/>
          <p:nvPr/>
        </p:nvSpPr>
        <p:spPr>
          <a:xfrm>
            <a:off x="8686765" y="2853753"/>
            <a:ext cx="2012066" cy="4110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Shape and colors</a:t>
            </a:r>
          </a:p>
        </p:txBody>
      </p:sp>
      <p:sp>
        <p:nvSpPr>
          <p:cNvPr id="12" name="Rectangle 11">
            <a:extLst>
              <a:ext uri="{FF2B5EF4-FFF2-40B4-BE49-F238E27FC236}">
                <a16:creationId xmlns:a16="http://schemas.microsoft.com/office/drawing/2014/main" id="{B4B20648-309F-BF30-314D-D8C8F2880302}"/>
              </a:ext>
            </a:extLst>
          </p:cNvPr>
          <p:cNvSpPr/>
          <p:nvPr/>
        </p:nvSpPr>
        <p:spPr>
          <a:xfrm>
            <a:off x="1133822" y="5485436"/>
            <a:ext cx="2142255" cy="6484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axis: Degree of measurement error</a:t>
            </a:r>
          </a:p>
        </p:txBody>
      </p:sp>
      <p:sp>
        <p:nvSpPr>
          <p:cNvPr id="15" name="Rectangle 14">
            <a:extLst>
              <a:ext uri="{FF2B5EF4-FFF2-40B4-BE49-F238E27FC236}">
                <a16:creationId xmlns:a16="http://schemas.microsoft.com/office/drawing/2014/main" id="{267BB03B-3054-004F-B4C6-AE6A94E78B41}"/>
              </a:ext>
            </a:extLst>
          </p:cNvPr>
          <p:cNvSpPr/>
          <p:nvPr/>
        </p:nvSpPr>
        <p:spPr>
          <a:xfrm>
            <a:off x="1426128" y="1689315"/>
            <a:ext cx="1878798" cy="3575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Small effect size</a:t>
            </a:r>
          </a:p>
        </p:txBody>
      </p:sp>
      <p:sp>
        <p:nvSpPr>
          <p:cNvPr id="16" name="Rectangle 15">
            <a:extLst>
              <a:ext uri="{FF2B5EF4-FFF2-40B4-BE49-F238E27FC236}">
                <a16:creationId xmlns:a16="http://schemas.microsoft.com/office/drawing/2014/main" id="{ECDE2EE1-2FEA-BCDE-3909-A3804CEDC676}"/>
              </a:ext>
            </a:extLst>
          </p:cNvPr>
          <p:cNvSpPr/>
          <p:nvPr/>
        </p:nvSpPr>
        <p:spPr>
          <a:xfrm>
            <a:off x="436228" y="3331848"/>
            <a:ext cx="2142255" cy="8735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Sample size of 1000 to reduce simulation noise</a:t>
            </a:r>
          </a:p>
        </p:txBody>
      </p:sp>
      <p:cxnSp>
        <p:nvCxnSpPr>
          <p:cNvPr id="19" name="Connector: Elbow 18">
            <a:extLst>
              <a:ext uri="{FF2B5EF4-FFF2-40B4-BE49-F238E27FC236}">
                <a16:creationId xmlns:a16="http://schemas.microsoft.com/office/drawing/2014/main" id="{F4682F19-B8B2-9C1D-7F2B-F151557493EA}"/>
              </a:ext>
            </a:extLst>
          </p:cNvPr>
          <p:cNvCxnSpPr>
            <a:cxnSpLocks/>
          </p:cNvCxnSpPr>
          <p:nvPr/>
        </p:nvCxnSpPr>
        <p:spPr>
          <a:xfrm flipV="1">
            <a:off x="7388869" y="2045596"/>
            <a:ext cx="1883687" cy="76365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42842E2F-3C58-4588-4BD7-8CD1EF34BF75}"/>
              </a:ext>
            </a:extLst>
          </p:cNvPr>
          <p:cNvSpPr/>
          <p:nvPr/>
        </p:nvSpPr>
        <p:spPr>
          <a:xfrm>
            <a:off x="9379564" y="1647977"/>
            <a:ext cx="2595120" cy="6680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Relative Bias of 5% is already concerning</a:t>
            </a:r>
          </a:p>
        </p:txBody>
      </p:sp>
    </p:spTree>
    <p:extLst>
      <p:ext uri="{BB962C8B-B14F-4D97-AF65-F5344CB8AC3E}">
        <p14:creationId xmlns:p14="http://schemas.microsoft.com/office/powerpoint/2010/main" val="3533747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0" nodeType="clickEffect">
                                  <p:stCondLst>
                                    <p:cond delay="0"/>
                                  </p:stCondLst>
                                  <p:childTnLst>
                                    <p:animEffect transition="out" filter="fade">
                                      <p:cBhvr>
                                        <p:cTn id="22" dur="500"/>
                                        <p:tgtEl>
                                          <p:spTgt spid="7"/>
                                        </p:tgtEl>
                                      </p:cBhvr>
                                    </p:animEffect>
                                    <p:set>
                                      <p:cBhvr>
                                        <p:cTn id="23" dur="1" fill="hold">
                                          <p:stCondLst>
                                            <p:cond delay="499"/>
                                          </p:stCondLst>
                                        </p:cTn>
                                        <p:tgtEl>
                                          <p:spTgt spid="7"/>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2" grpId="0" animBg="1"/>
      <p:bldP spid="15" grpId="0" animBg="1"/>
      <p:bldP spid="16"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C258A3-4899-12F4-471D-DA242E8C6492}"/>
              </a:ext>
            </a:extLst>
          </p:cNvPr>
          <p:cNvSpPr>
            <a:spLocks noGrp="1"/>
          </p:cNvSpPr>
          <p:nvPr>
            <p:ph type="sldNum" sz="quarter" idx="11"/>
          </p:nvPr>
        </p:nvSpPr>
        <p:spPr/>
        <p:txBody>
          <a:bodyPr/>
          <a:lstStyle/>
          <a:p>
            <a:fld id="{523A240F-EAFE-E84F-B44C-6D7A08E0E409}" type="slidenum">
              <a:rPr lang="en-US" smtClean="0"/>
              <a:t>13</a:t>
            </a:fld>
            <a:endParaRPr lang="en-US"/>
          </a:p>
        </p:txBody>
      </p:sp>
      <p:sp>
        <p:nvSpPr>
          <p:cNvPr id="3" name="Footer Placeholder 2">
            <a:extLst>
              <a:ext uri="{FF2B5EF4-FFF2-40B4-BE49-F238E27FC236}">
                <a16:creationId xmlns:a16="http://schemas.microsoft.com/office/drawing/2014/main" id="{8091D564-F1BA-D150-1EC2-442BEB79CCEA}"/>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EDA7674B-10FA-D020-BCB9-50AFD8ADEE82}"/>
              </a:ext>
            </a:extLst>
          </p:cNvPr>
          <p:cNvSpPr>
            <a:spLocks noGrp="1"/>
          </p:cNvSpPr>
          <p:nvPr>
            <p:ph type="body" sz="half" idx="2"/>
          </p:nvPr>
        </p:nvSpPr>
        <p:spPr/>
        <p:txBody>
          <a:bodyPr/>
          <a:lstStyle/>
          <a:p>
            <a:r>
              <a:rPr lang="en-US" dirty="0"/>
              <a:t>Results for coverage are in Supplemental 5</a:t>
            </a:r>
          </a:p>
        </p:txBody>
      </p:sp>
      <p:sp>
        <p:nvSpPr>
          <p:cNvPr id="5" name="Title 4">
            <a:extLst>
              <a:ext uri="{FF2B5EF4-FFF2-40B4-BE49-F238E27FC236}">
                <a16:creationId xmlns:a16="http://schemas.microsoft.com/office/drawing/2014/main" id="{4BA780FE-C17C-AE61-9364-158B2F386F84}"/>
              </a:ext>
            </a:extLst>
          </p:cNvPr>
          <p:cNvSpPr>
            <a:spLocks noGrp="1"/>
          </p:cNvSpPr>
          <p:nvPr>
            <p:ph type="title"/>
          </p:nvPr>
        </p:nvSpPr>
        <p:spPr>
          <a:xfrm>
            <a:off x="512063" y="815787"/>
            <a:ext cx="11184423" cy="873528"/>
          </a:xfrm>
        </p:spPr>
        <p:txBody>
          <a:bodyPr/>
          <a:lstStyle/>
          <a:p>
            <a:r>
              <a:rPr lang="en-US" sz="2800" dirty="0"/>
              <a:t>Ordinal logistic regression is sensitive to errors in stratified randomization when true covariate strength is strong</a:t>
            </a:r>
          </a:p>
        </p:txBody>
      </p:sp>
      <p:sp>
        <p:nvSpPr>
          <p:cNvPr id="6" name="Text Placeholder 5">
            <a:extLst>
              <a:ext uri="{FF2B5EF4-FFF2-40B4-BE49-F238E27FC236}">
                <a16:creationId xmlns:a16="http://schemas.microsoft.com/office/drawing/2014/main" id="{900831F6-D3DC-AE71-ABBC-76F3C833D9B4}"/>
              </a:ext>
            </a:extLst>
          </p:cNvPr>
          <p:cNvSpPr>
            <a:spLocks noGrp="1"/>
          </p:cNvSpPr>
          <p:nvPr>
            <p:ph type="body" idx="12"/>
          </p:nvPr>
        </p:nvSpPr>
        <p:spPr/>
        <p:txBody>
          <a:bodyPr/>
          <a:lstStyle/>
          <a:p>
            <a:r>
              <a:rPr lang="en-US" dirty="0"/>
              <a:t>Results: Simulation Study (Power)</a:t>
            </a:r>
          </a:p>
        </p:txBody>
      </p:sp>
      <p:pic>
        <p:nvPicPr>
          <p:cNvPr id="8" name="Picture 7" descr="A graph of a graph with red and green dots&#10;&#10;AI-generated content may be incorrect.">
            <a:extLst>
              <a:ext uri="{FF2B5EF4-FFF2-40B4-BE49-F238E27FC236}">
                <a16:creationId xmlns:a16="http://schemas.microsoft.com/office/drawing/2014/main" id="{D673DB6E-AA43-3651-6D93-23C49032E651}"/>
              </a:ext>
            </a:extLst>
          </p:cNvPr>
          <p:cNvPicPr>
            <a:picLocks noChangeAspect="1"/>
          </p:cNvPicPr>
          <p:nvPr/>
        </p:nvPicPr>
        <p:blipFill>
          <a:blip r:embed="rId3"/>
          <a:stretch>
            <a:fillRect/>
          </a:stretch>
        </p:blipFill>
        <p:spPr>
          <a:xfrm>
            <a:off x="2798087" y="1788486"/>
            <a:ext cx="6665990" cy="4114808"/>
          </a:xfrm>
          <a:prstGeom prst="rect">
            <a:avLst/>
          </a:prstGeom>
        </p:spPr>
      </p:pic>
      <p:cxnSp>
        <p:nvCxnSpPr>
          <p:cNvPr id="10" name="Straight Arrow Connector 9">
            <a:extLst>
              <a:ext uri="{FF2B5EF4-FFF2-40B4-BE49-F238E27FC236}">
                <a16:creationId xmlns:a16="http://schemas.microsoft.com/office/drawing/2014/main" id="{85E43FF2-DA43-DE86-4697-08147D310A1D}"/>
              </a:ext>
            </a:extLst>
          </p:cNvPr>
          <p:cNvCxnSpPr>
            <a:cxnSpLocks/>
          </p:cNvCxnSpPr>
          <p:nvPr/>
        </p:nvCxnSpPr>
        <p:spPr>
          <a:xfrm flipH="1">
            <a:off x="2648293" y="5251472"/>
            <a:ext cx="8922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5120155-CC79-DCD0-7955-EC3714FEE9AC}"/>
              </a:ext>
            </a:extLst>
          </p:cNvPr>
          <p:cNvCxnSpPr/>
          <p:nvPr/>
        </p:nvCxnSpPr>
        <p:spPr>
          <a:xfrm>
            <a:off x="7312548" y="4559672"/>
            <a:ext cx="23694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21959ED-DF6C-DB90-E106-24D538AB0925}"/>
              </a:ext>
            </a:extLst>
          </p:cNvPr>
          <p:cNvCxnSpPr/>
          <p:nvPr/>
        </p:nvCxnSpPr>
        <p:spPr>
          <a:xfrm flipH="1">
            <a:off x="1918451" y="2178822"/>
            <a:ext cx="16220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E1673528-8A82-5B1D-CE2D-37CFAD96DBEE}"/>
              </a:ext>
            </a:extLst>
          </p:cNvPr>
          <p:cNvSpPr/>
          <p:nvPr/>
        </p:nvSpPr>
        <p:spPr>
          <a:xfrm>
            <a:off x="299585" y="4913798"/>
            <a:ext cx="2090606" cy="6753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Power of 80% is a standard goal</a:t>
            </a:r>
          </a:p>
        </p:txBody>
      </p:sp>
      <p:sp>
        <p:nvSpPr>
          <p:cNvPr id="9" name="Rectangle 8">
            <a:extLst>
              <a:ext uri="{FF2B5EF4-FFF2-40B4-BE49-F238E27FC236}">
                <a16:creationId xmlns:a16="http://schemas.microsoft.com/office/drawing/2014/main" id="{1BAFEF6D-15CE-477E-5514-46C71855B625}"/>
              </a:ext>
            </a:extLst>
          </p:cNvPr>
          <p:cNvSpPr/>
          <p:nvPr/>
        </p:nvSpPr>
        <p:spPr>
          <a:xfrm>
            <a:off x="278775" y="1994157"/>
            <a:ext cx="1543576" cy="36933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Little change</a:t>
            </a:r>
          </a:p>
        </p:txBody>
      </p:sp>
      <p:sp>
        <p:nvSpPr>
          <p:cNvPr id="12" name="Rectangle 11">
            <a:extLst>
              <a:ext uri="{FF2B5EF4-FFF2-40B4-BE49-F238E27FC236}">
                <a16:creationId xmlns:a16="http://schemas.microsoft.com/office/drawing/2014/main" id="{94CCB56B-E90C-106B-CDB0-A230AB4E7DAE}"/>
              </a:ext>
            </a:extLst>
          </p:cNvPr>
          <p:cNvSpPr/>
          <p:nvPr/>
        </p:nvSpPr>
        <p:spPr>
          <a:xfrm>
            <a:off x="9865453" y="4155384"/>
            <a:ext cx="1929468" cy="8735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Gap between dichotomization is concerning</a:t>
            </a:r>
          </a:p>
        </p:txBody>
      </p:sp>
      <p:sp>
        <p:nvSpPr>
          <p:cNvPr id="14" name="Rectangle 13">
            <a:extLst>
              <a:ext uri="{FF2B5EF4-FFF2-40B4-BE49-F238E27FC236}">
                <a16:creationId xmlns:a16="http://schemas.microsoft.com/office/drawing/2014/main" id="{6592451D-59C0-8188-BD85-80667C8B7514}"/>
              </a:ext>
            </a:extLst>
          </p:cNvPr>
          <p:cNvSpPr/>
          <p:nvPr/>
        </p:nvSpPr>
        <p:spPr>
          <a:xfrm>
            <a:off x="5562898" y="1853966"/>
            <a:ext cx="1878798" cy="38292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1675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4"/>
                                        </p:tgtEl>
                                      </p:cBhvr>
                                    </p:animEffect>
                                    <p:set>
                                      <p:cBhvr>
                                        <p:cTn id="19" dur="1" fill="hold">
                                          <p:stCondLst>
                                            <p:cond delay="499"/>
                                          </p:stCondLst>
                                        </p:cTn>
                                        <p:tgtEl>
                                          <p:spTgt spid="14"/>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2"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C258A3-4899-12F4-471D-DA242E8C6492}"/>
              </a:ext>
            </a:extLst>
          </p:cNvPr>
          <p:cNvSpPr>
            <a:spLocks noGrp="1"/>
          </p:cNvSpPr>
          <p:nvPr>
            <p:ph type="sldNum" sz="quarter" idx="11"/>
          </p:nvPr>
        </p:nvSpPr>
        <p:spPr/>
        <p:txBody>
          <a:bodyPr/>
          <a:lstStyle/>
          <a:p>
            <a:fld id="{523A240F-EAFE-E84F-B44C-6D7A08E0E409}" type="slidenum">
              <a:rPr lang="en-US" smtClean="0"/>
              <a:t>14</a:t>
            </a:fld>
            <a:endParaRPr lang="en-US"/>
          </a:p>
        </p:txBody>
      </p:sp>
      <p:sp>
        <p:nvSpPr>
          <p:cNvPr id="3" name="Footer Placeholder 2">
            <a:extLst>
              <a:ext uri="{FF2B5EF4-FFF2-40B4-BE49-F238E27FC236}">
                <a16:creationId xmlns:a16="http://schemas.microsoft.com/office/drawing/2014/main" id="{8091D564-F1BA-D150-1EC2-442BEB79CCEA}"/>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EDA7674B-10FA-D020-BCB9-50AFD8ADEE82}"/>
              </a:ext>
            </a:extLst>
          </p:cNvPr>
          <p:cNvSpPr>
            <a:spLocks noGrp="1"/>
          </p:cNvSpPr>
          <p:nvPr>
            <p:ph type="body" sz="half" idx="2"/>
          </p:nvPr>
        </p:nvSpPr>
        <p:spPr>
          <a:xfrm>
            <a:off x="512063" y="6374651"/>
            <a:ext cx="7642035" cy="245223"/>
          </a:xfrm>
        </p:spPr>
        <p:txBody>
          <a:bodyPr/>
          <a:lstStyle/>
          <a:p>
            <a:r>
              <a:rPr lang="en-US" dirty="0"/>
              <a:t>*: </a:t>
            </a:r>
            <a:r>
              <a:rPr kumimoji="0" lang="en-US" altLang="en-US" sz="800" b="0" i="0" u="none" strike="noStrike" cap="none" normalizeH="0" baseline="0" dirty="0">
                <a:ln>
                  <a:noFill/>
                </a:ln>
                <a:solidFill>
                  <a:schemeClr val="tx1"/>
                </a:solidFill>
                <a:effectLst/>
                <a:latin typeface="Arial" panose="020B0604020202020204" pitchFamily="34" charset="0"/>
              </a:rPr>
              <a:t>Robinson, L. D., &amp; Jewell, N. P. (1991). Some Surprising Results about Covariate Adjustment in Logistic Regression Models. </a:t>
            </a:r>
            <a:r>
              <a:rPr kumimoji="0" lang="en-US" altLang="en-US" sz="800" b="0" i="1" u="none" strike="noStrike" cap="none" normalizeH="0" baseline="0" dirty="0">
                <a:ln>
                  <a:noFill/>
                </a:ln>
                <a:solidFill>
                  <a:schemeClr val="tx1"/>
                </a:solidFill>
                <a:effectLst/>
                <a:latin typeface="Arial" panose="020B0604020202020204" pitchFamily="34" charset="0"/>
              </a:rPr>
              <a:t>International Statistical Review / Revue </a:t>
            </a:r>
            <a:r>
              <a:rPr kumimoji="0" lang="en-US" altLang="en-US" sz="800" b="0" i="1" u="none" strike="noStrike" cap="none" normalizeH="0" baseline="0" dirty="0" err="1">
                <a:ln>
                  <a:noFill/>
                </a:ln>
                <a:solidFill>
                  <a:schemeClr val="tx1"/>
                </a:solidFill>
                <a:effectLst/>
                <a:latin typeface="Arial" panose="020B0604020202020204" pitchFamily="34" charset="0"/>
              </a:rPr>
              <a:t>Internationale</a:t>
            </a:r>
            <a:r>
              <a:rPr kumimoji="0" lang="en-US" altLang="en-US" sz="800" b="0" i="1" u="none" strike="noStrike" cap="none" normalizeH="0" baseline="0" dirty="0">
                <a:ln>
                  <a:noFill/>
                </a:ln>
                <a:solidFill>
                  <a:schemeClr val="tx1"/>
                </a:solidFill>
                <a:effectLst/>
                <a:latin typeface="Arial" panose="020B0604020202020204" pitchFamily="34" charset="0"/>
              </a:rPr>
              <a:t> de </a:t>
            </a:r>
            <a:r>
              <a:rPr kumimoji="0" lang="en-US" altLang="en-US" sz="800" b="0" i="1" u="none" strike="noStrike" cap="none" normalizeH="0" baseline="0" dirty="0" err="1">
                <a:ln>
                  <a:noFill/>
                </a:ln>
                <a:solidFill>
                  <a:schemeClr val="tx1"/>
                </a:solidFill>
                <a:effectLst/>
                <a:latin typeface="Arial" panose="020B0604020202020204" pitchFamily="34" charset="0"/>
              </a:rPr>
              <a:t>Statistique</a:t>
            </a:r>
            <a:r>
              <a:rPr kumimoji="0" lang="en-US" altLang="en-US" sz="800" b="0" i="0" u="none" strike="noStrike" cap="none" normalizeH="0" baseline="0" dirty="0">
                <a:ln>
                  <a:noFill/>
                </a:ln>
                <a:solidFill>
                  <a:schemeClr val="tx1"/>
                </a:solidFill>
                <a:effectLst/>
                <a:latin typeface="Arial" panose="020B0604020202020204" pitchFamily="34" charset="0"/>
              </a:rPr>
              <a:t>, </a:t>
            </a:r>
            <a:r>
              <a:rPr kumimoji="0" lang="en-US" altLang="en-US" sz="800" b="0" i="1" u="none" strike="noStrike" cap="none" normalizeH="0" baseline="0" dirty="0">
                <a:ln>
                  <a:noFill/>
                </a:ln>
                <a:solidFill>
                  <a:schemeClr val="tx1"/>
                </a:solidFill>
                <a:effectLst/>
                <a:latin typeface="Arial" panose="020B0604020202020204" pitchFamily="34" charset="0"/>
              </a:rPr>
              <a:t>59</a:t>
            </a:r>
            <a:r>
              <a:rPr kumimoji="0" lang="en-US" altLang="en-US" sz="800" b="0" i="0" u="none" strike="noStrike" cap="none" normalizeH="0" baseline="0" dirty="0">
                <a:ln>
                  <a:noFill/>
                </a:ln>
                <a:solidFill>
                  <a:schemeClr val="tx1"/>
                </a:solidFill>
                <a:effectLst/>
                <a:latin typeface="Arial" panose="020B0604020202020204" pitchFamily="34" charset="0"/>
              </a:rPr>
              <a:t>(2), 227–240. https://doi.org/10.2307/1403444</a:t>
            </a:r>
          </a:p>
        </p:txBody>
      </p:sp>
      <p:sp>
        <p:nvSpPr>
          <p:cNvPr id="5" name="Title 4">
            <a:extLst>
              <a:ext uri="{FF2B5EF4-FFF2-40B4-BE49-F238E27FC236}">
                <a16:creationId xmlns:a16="http://schemas.microsoft.com/office/drawing/2014/main" id="{4BA780FE-C17C-AE61-9364-158B2F386F84}"/>
              </a:ext>
            </a:extLst>
          </p:cNvPr>
          <p:cNvSpPr>
            <a:spLocks noGrp="1"/>
          </p:cNvSpPr>
          <p:nvPr>
            <p:ph type="title"/>
          </p:nvPr>
        </p:nvSpPr>
        <p:spPr>
          <a:xfrm>
            <a:off x="512063" y="815787"/>
            <a:ext cx="11184423" cy="873528"/>
          </a:xfrm>
        </p:spPr>
        <p:txBody>
          <a:bodyPr/>
          <a:lstStyle/>
          <a:p>
            <a:r>
              <a:rPr lang="en-US" sz="2800" dirty="0"/>
              <a:t>Ordinal logistic regression provides a surprising result when it comes to the precision of our treatment effect estimate</a:t>
            </a:r>
          </a:p>
        </p:txBody>
      </p:sp>
      <p:sp>
        <p:nvSpPr>
          <p:cNvPr id="6" name="Text Placeholder 5">
            <a:extLst>
              <a:ext uri="{FF2B5EF4-FFF2-40B4-BE49-F238E27FC236}">
                <a16:creationId xmlns:a16="http://schemas.microsoft.com/office/drawing/2014/main" id="{900831F6-D3DC-AE71-ABBC-76F3C833D9B4}"/>
              </a:ext>
            </a:extLst>
          </p:cNvPr>
          <p:cNvSpPr>
            <a:spLocks noGrp="1"/>
          </p:cNvSpPr>
          <p:nvPr>
            <p:ph type="body" idx="12"/>
          </p:nvPr>
        </p:nvSpPr>
        <p:spPr/>
        <p:txBody>
          <a:bodyPr/>
          <a:lstStyle/>
          <a:p>
            <a:r>
              <a:rPr lang="en-US" dirty="0"/>
              <a:t>Results: Simulation Study (Relative Efficiency)</a:t>
            </a:r>
          </a:p>
        </p:txBody>
      </p:sp>
      <p:pic>
        <p:nvPicPr>
          <p:cNvPr id="18" name="Picture 17" descr="A graph of a graph with red and green dots&#10;&#10;AI-generated content may be incorrect.">
            <a:extLst>
              <a:ext uri="{FF2B5EF4-FFF2-40B4-BE49-F238E27FC236}">
                <a16:creationId xmlns:a16="http://schemas.microsoft.com/office/drawing/2014/main" id="{515C19A9-7295-CC2B-82DD-B74621DA15F3}"/>
              </a:ext>
            </a:extLst>
          </p:cNvPr>
          <p:cNvPicPr>
            <a:picLocks noChangeAspect="1"/>
          </p:cNvPicPr>
          <p:nvPr/>
        </p:nvPicPr>
        <p:blipFill>
          <a:blip r:embed="rId3"/>
          <a:stretch>
            <a:fillRect/>
          </a:stretch>
        </p:blipFill>
        <p:spPr>
          <a:xfrm>
            <a:off x="813434" y="1927405"/>
            <a:ext cx="6665990" cy="4114808"/>
          </a:xfrm>
          <a:prstGeom prst="rect">
            <a:avLst/>
          </a:prstGeom>
        </p:spPr>
      </p:pic>
      <p:sp>
        <p:nvSpPr>
          <p:cNvPr id="10" name="Rectangle 9">
            <a:extLst>
              <a:ext uri="{FF2B5EF4-FFF2-40B4-BE49-F238E27FC236}">
                <a16:creationId xmlns:a16="http://schemas.microsoft.com/office/drawing/2014/main" id="{008A1DBC-5651-7A5F-41C3-E9AE494F068B}"/>
              </a:ext>
            </a:extLst>
          </p:cNvPr>
          <p:cNvSpPr/>
          <p:nvPr/>
        </p:nvSpPr>
        <p:spPr>
          <a:xfrm>
            <a:off x="3684100" y="2021753"/>
            <a:ext cx="1760355" cy="38292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70AF647-2CDD-E8D9-F43D-31116F8319F8}"/>
              </a:ext>
            </a:extLst>
          </p:cNvPr>
          <p:cNvSpPr/>
          <p:nvPr/>
        </p:nvSpPr>
        <p:spPr>
          <a:xfrm>
            <a:off x="7928048" y="2177815"/>
            <a:ext cx="3568040" cy="6571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Greater than 1: </a:t>
            </a:r>
            <a:r>
              <a:rPr lang="en-US" dirty="0">
                <a:solidFill>
                  <a:srgbClr val="008937"/>
                </a:solidFill>
              </a:rPr>
              <a:t>● </a:t>
            </a:r>
            <a:r>
              <a:rPr lang="en-US" dirty="0"/>
              <a:t>more efficient</a:t>
            </a:r>
          </a:p>
          <a:p>
            <a:pPr algn="ctr"/>
            <a:r>
              <a:rPr lang="en-US" dirty="0"/>
              <a:t>Less than 1: </a:t>
            </a:r>
            <a:r>
              <a:rPr lang="en-US" dirty="0">
                <a:solidFill>
                  <a:srgbClr val="008937"/>
                </a:solidFill>
              </a:rPr>
              <a:t>● </a:t>
            </a:r>
            <a:r>
              <a:rPr lang="en-US" dirty="0"/>
              <a:t>less efficient</a:t>
            </a:r>
          </a:p>
        </p:txBody>
      </p:sp>
      <p:sp>
        <p:nvSpPr>
          <p:cNvPr id="14" name="Rectangle 13">
            <a:extLst>
              <a:ext uri="{FF2B5EF4-FFF2-40B4-BE49-F238E27FC236}">
                <a16:creationId xmlns:a16="http://schemas.microsoft.com/office/drawing/2014/main" id="{A031D2F6-00F8-0838-29A8-51A7B8762607}"/>
              </a:ext>
            </a:extLst>
          </p:cNvPr>
          <p:cNvSpPr/>
          <p:nvPr/>
        </p:nvSpPr>
        <p:spPr>
          <a:xfrm>
            <a:off x="7986810" y="3257137"/>
            <a:ext cx="3450516" cy="11881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Shouldn’t using “noisier” or “less informative” values for BMI make our treatment effect estimates less efficient?</a:t>
            </a:r>
          </a:p>
        </p:txBody>
      </p:sp>
      <p:sp>
        <p:nvSpPr>
          <p:cNvPr id="15" name="Rectangle 14">
            <a:extLst>
              <a:ext uri="{FF2B5EF4-FFF2-40B4-BE49-F238E27FC236}">
                <a16:creationId xmlns:a16="http://schemas.microsoft.com/office/drawing/2014/main" id="{C2204EE5-FBED-C66B-7CE7-2384D76B240C}"/>
              </a:ext>
            </a:extLst>
          </p:cNvPr>
          <p:cNvSpPr/>
          <p:nvPr/>
        </p:nvSpPr>
        <p:spPr>
          <a:xfrm>
            <a:off x="7976901" y="4911754"/>
            <a:ext cx="3450516" cy="8137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Turns out, probably not for (ordinal) logistic regression</a:t>
            </a:r>
          </a:p>
          <a:p>
            <a:pPr algn="ctr"/>
            <a:r>
              <a:rPr lang="en-US" sz="1200" dirty="0"/>
              <a:t>Similar proof by Robinson and Jewell*</a:t>
            </a:r>
          </a:p>
        </p:txBody>
      </p:sp>
    </p:spTree>
    <p:extLst>
      <p:ext uri="{BB962C8B-B14F-4D97-AF65-F5344CB8AC3E}">
        <p14:creationId xmlns:p14="http://schemas.microsoft.com/office/powerpoint/2010/main" val="1633013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0"/>
                                  </p:stCondLst>
                                  <p:childTnLst>
                                    <p:animEffect transition="out" filter="fade">
                                      <p:cBhvr>
                                        <p:cTn id="10" dur="500"/>
                                        <p:tgtEl>
                                          <p:spTgt spid="10"/>
                                        </p:tgtEl>
                                      </p:cBhvr>
                                    </p:animEffect>
                                    <p:set>
                                      <p:cBhvr>
                                        <p:cTn id="11" dur="1" fill="hold">
                                          <p:stCondLst>
                                            <p:cond delay="499"/>
                                          </p:stCondLst>
                                        </p:cTn>
                                        <p:tgtEl>
                                          <p:spTgt spid="10"/>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C258A3-4899-12F4-471D-DA242E8C6492}"/>
              </a:ext>
            </a:extLst>
          </p:cNvPr>
          <p:cNvSpPr>
            <a:spLocks noGrp="1"/>
          </p:cNvSpPr>
          <p:nvPr>
            <p:ph type="sldNum" sz="quarter" idx="11"/>
          </p:nvPr>
        </p:nvSpPr>
        <p:spPr/>
        <p:txBody>
          <a:bodyPr/>
          <a:lstStyle/>
          <a:p>
            <a:fld id="{523A240F-EAFE-E84F-B44C-6D7A08E0E409}" type="slidenum">
              <a:rPr lang="en-US" smtClean="0"/>
              <a:t>15</a:t>
            </a:fld>
            <a:endParaRPr lang="en-US"/>
          </a:p>
        </p:txBody>
      </p:sp>
      <p:sp>
        <p:nvSpPr>
          <p:cNvPr id="3" name="Footer Placeholder 2">
            <a:extLst>
              <a:ext uri="{FF2B5EF4-FFF2-40B4-BE49-F238E27FC236}">
                <a16:creationId xmlns:a16="http://schemas.microsoft.com/office/drawing/2014/main" id="{8091D564-F1BA-D150-1EC2-442BEB79CCEA}"/>
              </a:ext>
            </a:extLst>
          </p:cNvPr>
          <p:cNvSpPr>
            <a:spLocks noGrp="1"/>
          </p:cNvSpPr>
          <p:nvPr>
            <p:ph type="ftr" sz="quarter" idx="10"/>
          </p:nvPr>
        </p:nvSpPr>
        <p:spPr/>
        <p:txBody>
          <a:bodyPr/>
          <a:lstStyle/>
          <a:p>
            <a:r>
              <a:rPr lang="en-US"/>
              <a:t>MSK Confidential — do not distribute</a:t>
            </a:r>
          </a:p>
        </p:txBody>
      </p:sp>
      <p:sp>
        <p:nvSpPr>
          <p:cNvPr id="5" name="Title 4">
            <a:extLst>
              <a:ext uri="{FF2B5EF4-FFF2-40B4-BE49-F238E27FC236}">
                <a16:creationId xmlns:a16="http://schemas.microsoft.com/office/drawing/2014/main" id="{4BA780FE-C17C-AE61-9364-158B2F386F84}"/>
              </a:ext>
            </a:extLst>
          </p:cNvPr>
          <p:cNvSpPr>
            <a:spLocks noGrp="1"/>
          </p:cNvSpPr>
          <p:nvPr>
            <p:ph type="title"/>
          </p:nvPr>
        </p:nvSpPr>
        <p:spPr>
          <a:xfrm>
            <a:off x="512064" y="808038"/>
            <a:ext cx="11184423" cy="1036260"/>
          </a:xfrm>
        </p:spPr>
        <p:txBody>
          <a:bodyPr/>
          <a:lstStyle/>
          <a:p>
            <a:pPr marR="0" lvl="0">
              <a:lnSpc>
                <a:spcPct val="107000"/>
              </a:lnSpc>
              <a:spcBef>
                <a:spcPts val="0"/>
              </a:spcBef>
              <a:spcAft>
                <a:spcPts val="800"/>
              </a:spcAft>
            </a:pPr>
            <a:r>
              <a:rPr lang="en-US" sz="2800" dirty="0"/>
              <a:t>On average, </a:t>
            </a:r>
            <a:r>
              <a:rPr lang="en-US" sz="2800" kern="100" dirty="0">
                <a:cs typeface="Times New Roman" panose="02020603050405020304" pitchFamily="18" charset="0"/>
              </a:rPr>
              <a:t>t</a:t>
            </a:r>
            <a:r>
              <a:rPr lang="en-US" sz="2800" kern="100" dirty="0">
                <a:effectLst/>
                <a:ea typeface="Aptos" panose="020B0004020202020204" pitchFamily="34" charset="0"/>
                <a:cs typeface="Times New Roman" panose="02020603050405020304" pitchFamily="18" charset="0"/>
              </a:rPr>
              <a:t>he odds of patients under deep NMB being in lower post-op pain is 1.6 times that of patients under moderate NMB </a:t>
            </a:r>
            <a:endParaRPr lang="en-US" sz="2800" dirty="0"/>
          </a:p>
        </p:txBody>
      </p:sp>
      <p:sp>
        <p:nvSpPr>
          <p:cNvPr id="6" name="Text Placeholder 5">
            <a:extLst>
              <a:ext uri="{FF2B5EF4-FFF2-40B4-BE49-F238E27FC236}">
                <a16:creationId xmlns:a16="http://schemas.microsoft.com/office/drawing/2014/main" id="{900831F6-D3DC-AE71-ABBC-76F3C833D9B4}"/>
              </a:ext>
            </a:extLst>
          </p:cNvPr>
          <p:cNvSpPr>
            <a:spLocks noGrp="1"/>
          </p:cNvSpPr>
          <p:nvPr>
            <p:ph type="body" idx="12"/>
          </p:nvPr>
        </p:nvSpPr>
        <p:spPr/>
        <p:txBody>
          <a:bodyPr/>
          <a:lstStyle/>
          <a:p>
            <a:r>
              <a:rPr lang="en-US" dirty="0"/>
              <a:t>Results: From Clinical Data</a:t>
            </a:r>
          </a:p>
        </p:txBody>
      </p:sp>
      <p:sp>
        <p:nvSpPr>
          <p:cNvPr id="12" name="TextBox 11">
            <a:extLst>
              <a:ext uri="{FF2B5EF4-FFF2-40B4-BE49-F238E27FC236}">
                <a16:creationId xmlns:a16="http://schemas.microsoft.com/office/drawing/2014/main" id="{D0B8C902-4039-EA22-E6A0-4422339B418C}"/>
              </a:ext>
            </a:extLst>
          </p:cNvPr>
          <p:cNvSpPr txBox="1"/>
          <p:nvPr/>
        </p:nvSpPr>
        <p:spPr>
          <a:xfrm>
            <a:off x="1480088" y="5751365"/>
            <a:ext cx="9523709" cy="369332"/>
          </a:xfrm>
          <a:prstGeom prst="rect">
            <a:avLst/>
          </a:prstGeom>
          <a:noFill/>
        </p:spPr>
        <p:txBody>
          <a:bodyPr wrap="square" rtlCol="0">
            <a:spAutoFit/>
          </a:bodyPr>
          <a:lstStyle/>
          <a:p>
            <a:pPr algn="ctr"/>
            <a:r>
              <a:rPr lang="en-US" dirty="0">
                <a:solidFill>
                  <a:srgbClr val="272524"/>
                </a:solidFill>
                <a:latin typeface="Calibri" panose="020F0502020204030204" pitchFamily="34" charset="0"/>
                <a:ea typeface="Calibri" panose="020F0502020204030204" pitchFamily="34" charset="0"/>
                <a:cs typeface="Calibri" panose="020F0502020204030204" pitchFamily="34" charset="0"/>
              </a:rPr>
              <a:t>There is clinical significance! If you had to get a prostatectomy, which NMB would you take?</a:t>
            </a:r>
          </a:p>
        </p:txBody>
      </p:sp>
      <p:pic>
        <p:nvPicPr>
          <p:cNvPr id="17" name="Picture 16" descr="A screenshot of a graph&#10;&#10;AI-generated content may be incorrect.">
            <a:extLst>
              <a:ext uri="{FF2B5EF4-FFF2-40B4-BE49-F238E27FC236}">
                <a16:creationId xmlns:a16="http://schemas.microsoft.com/office/drawing/2014/main" id="{80B2AED9-D952-E9F6-F7A6-9D39A27E4C45}"/>
              </a:ext>
            </a:extLst>
          </p:cNvPr>
          <p:cNvPicPr>
            <a:picLocks noChangeAspect="1"/>
          </p:cNvPicPr>
          <p:nvPr/>
        </p:nvPicPr>
        <p:blipFill>
          <a:blip r:embed="rId3"/>
          <a:stretch>
            <a:fillRect/>
          </a:stretch>
        </p:blipFill>
        <p:spPr>
          <a:xfrm>
            <a:off x="3534045" y="1951218"/>
            <a:ext cx="8162441" cy="3096098"/>
          </a:xfrm>
          <a:prstGeom prst="rect">
            <a:avLst/>
          </a:prstGeom>
        </p:spPr>
      </p:pic>
      <p:sp>
        <p:nvSpPr>
          <p:cNvPr id="19" name="Arrow: Right 18">
            <a:extLst>
              <a:ext uri="{FF2B5EF4-FFF2-40B4-BE49-F238E27FC236}">
                <a16:creationId xmlns:a16="http://schemas.microsoft.com/office/drawing/2014/main" id="{58A970D7-D373-391A-D9CB-F8F1081973E7}"/>
              </a:ext>
            </a:extLst>
          </p:cNvPr>
          <p:cNvSpPr/>
          <p:nvPr/>
        </p:nvSpPr>
        <p:spPr>
          <a:xfrm>
            <a:off x="2967925" y="2924900"/>
            <a:ext cx="398622" cy="24522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AB19084-055A-5CEB-A63C-1DF66200EBD0}"/>
              </a:ext>
            </a:extLst>
          </p:cNvPr>
          <p:cNvSpPr txBox="1"/>
          <p:nvPr/>
        </p:nvSpPr>
        <p:spPr>
          <a:xfrm>
            <a:off x="147234" y="2921334"/>
            <a:ext cx="2820691" cy="276999"/>
          </a:xfrm>
          <a:prstGeom prst="rect">
            <a:avLst/>
          </a:prstGeom>
          <a:noFill/>
        </p:spPr>
        <p:txBody>
          <a:bodyPr wrap="square" rtlCol="0">
            <a:spAutoFit/>
          </a:bodyPr>
          <a:lstStyle/>
          <a:p>
            <a:pPr algn="l"/>
            <a:r>
              <a:rPr lang="en-US" sz="1200" dirty="0">
                <a:solidFill>
                  <a:srgbClr val="272524"/>
                </a:solidFill>
              </a:rPr>
              <a:t>Strict def of “analyze as randomized”</a:t>
            </a:r>
          </a:p>
        </p:txBody>
      </p:sp>
      <p:sp>
        <p:nvSpPr>
          <p:cNvPr id="22" name="Arrow: Right 21">
            <a:extLst>
              <a:ext uri="{FF2B5EF4-FFF2-40B4-BE49-F238E27FC236}">
                <a16:creationId xmlns:a16="http://schemas.microsoft.com/office/drawing/2014/main" id="{03FA5808-7B3E-F849-166D-912158DB62EE}"/>
              </a:ext>
            </a:extLst>
          </p:cNvPr>
          <p:cNvSpPr/>
          <p:nvPr/>
        </p:nvSpPr>
        <p:spPr>
          <a:xfrm>
            <a:off x="2966173" y="4315765"/>
            <a:ext cx="398622" cy="24522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A3D739BF-2FA2-F3B5-2DD4-B83B63D5BACF}"/>
              </a:ext>
            </a:extLst>
          </p:cNvPr>
          <p:cNvSpPr>
            <a:spLocks noGrp="1"/>
          </p:cNvSpPr>
          <p:nvPr>
            <p:ph type="body" sz="half" idx="2"/>
          </p:nvPr>
        </p:nvSpPr>
        <p:spPr>
          <a:xfrm>
            <a:off x="512064" y="6374651"/>
            <a:ext cx="4621998" cy="245223"/>
          </a:xfrm>
        </p:spPr>
        <p:txBody>
          <a:bodyPr/>
          <a:lstStyle/>
          <a:p>
            <a:r>
              <a:rPr lang="en-US" dirty="0"/>
              <a:t>Supplemental 8: In case you’re curious about the BMI Effect, although not what we’re interested in</a:t>
            </a:r>
          </a:p>
        </p:txBody>
      </p:sp>
      <p:sp>
        <p:nvSpPr>
          <p:cNvPr id="10" name="TextBox 9">
            <a:extLst>
              <a:ext uri="{FF2B5EF4-FFF2-40B4-BE49-F238E27FC236}">
                <a16:creationId xmlns:a16="http://schemas.microsoft.com/office/drawing/2014/main" id="{018CA4D9-CB36-0A35-1AB7-49600417DC80}"/>
              </a:ext>
            </a:extLst>
          </p:cNvPr>
          <p:cNvSpPr txBox="1"/>
          <p:nvPr/>
        </p:nvSpPr>
        <p:spPr>
          <a:xfrm>
            <a:off x="207700" y="4309336"/>
            <a:ext cx="2820691" cy="276999"/>
          </a:xfrm>
          <a:prstGeom prst="rect">
            <a:avLst/>
          </a:prstGeom>
          <a:noFill/>
        </p:spPr>
        <p:txBody>
          <a:bodyPr wrap="square" rtlCol="0">
            <a:spAutoFit/>
          </a:bodyPr>
          <a:lstStyle/>
          <a:p>
            <a:pPr algn="l"/>
            <a:r>
              <a:rPr lang="en-US" sz="1200" dirty="0">
                <a:solidFill>
                  <a:srgbClr val="272524"/>
                </a:solidFill>
              </a:rPr>
              <a:t>Best performing from simulations</a:t>
            </a:r>
          </a:p>
        </p:txBody>
      </p:sp>
      <p:sp>
        <p:nvSpPr>
          <p:cNvPr id="18" name="TextBox 17">
            <a:extLst>
              <a:ext uri="{FF2B5EF4-FFF2-40B4-BE49-F238E27FC236}">
                <a16:creationId xmlns:a16="http://schemas.microsoft.com/office/drawing/2014/main" id="{994E9ECE-E2F3-4345-D001-D99B829E63BB}"/>
              </a:ext>
            </a:extLst>
          </p:cNvPr>
          <p:cNvSpPr txBox="1"/>
          <p:nvPr/>
        </p:nvSpPr>
        <p:spPr>
          <a:xfrm>
            <a:off x="630657" y="5345781"/>
            <a:ext cx="10947236" cy="369332"/>
          </a:xfrm>
          <a:prstGeom prst="rect">
            <a:avLst/>
          </a:prstGeom>
          <a:noFill/>
        </p:spPr>
        <p:txBody>
          <a:bodyPr wrap="square" rtlCol="0">
            <a:spAutoFit/>
          </a:bodyPr>
          <a:lstStyle/>
          <a:p>
            <a:pPr algn="ctr"/>
            <a:r>
              <a:rPr lang="en-US" dirty="0">
                <a:solidFill>
                  <a:srgbClr val="272524"/>
                </a:solidFill>
                <a:latin typeface="Calibri" panose="020F0502020204030204" pitchFamily="34" charset="0"/>
                <a:ea typeface="Calibri" panose="020F0502020204030204" pitchFamily="34" charset="0"/>
                <a:cs typeface="Calibri" panose="020F0502020204030204" pitchFamily="34" charset="0"/>
              </a:rPr>
              <a:t>In our case, report fourth line as sensitivity analysis and transparency of errors made in stratified randomization</a:t>
            </a:r>
          </a:p>
        </p:txBody>
      </p:sp>
      <p:sp>
        <p:nvSpPr>
          <p:cNvPr id="4" name="Oval 3">
            <a:extLst>
              <a:ext uri="{FF2B5EF4-FFF2-40B4-BE49-F238E27FC236}">
                <a16:creationId xmlns:a16="http://schemas.microsoft.com/office/drawing/2014/main" id="{37F0711E-90D5-3357-4738-FE88ACDDF473}"/>
              </a:ext>
            </a:extLst>
          </p:cNvPr>
          <p:cNvSpPr/>
          <p:nvPr/>
        </p:nvSpPr>
        <p:spPr>
          <a:xfrm>
            <a:off x="5510949" y="4280748"/>
            <a:ext cx="120745" cy="125301"/>
          </a:xfrm>
          <a:prstGeom prst="ellipse">
            <a:avLst/>
          </a:prstGeom>
          <a:solidFill>
            <a:srgbClr val="5DCC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E3F8AFF-2B94-F8DF-B4A2-70BE4FD8F94C}"/>
              </a:ext>
            </a:extLst>
          </p:cNvPr>
          <p:cNvSpPr/>
          <p:nvPr/>
        </p:nvSpPr>
        <p:spPr>
          <a:xfrm>
            <a:off x="5663349" y="3373966"/>
            <a:ext cx="120745" cy="1253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28A833E9-C39D-AA3E-4FBB-7347C8B8FF5F}"/>
              </a:ext>
            </a:extLst>
          </p:cNvPr>
          <p:cNvSpPr/>
          <p:nvPr/>
        </p:nvSpPr>
        <p:spPr>
          <a:xfrm>
            <a:off x="5705004" y="3818821"/>
            <a:ext cx="158180" cy="125302"/>
          </a:xfrm>
          <a:prstGeom prst="triangle">
            <a:avLst/>
          </a:prstGeom>
          <a:solidFill>
            <a:srgbClr val="5DCC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5DCC6F"/>
              </a:solidFill>
            </a:endParaRPr>
          </a:p>
        </p:txBody>
      </p:sp>
      <p:sp>
        <p:nvSpPr>
          <p:cNvPr id="23" name="Isosceles Triangle 22">
            <a:extLst>
              <a:ext uri="{FF2B5EF4-FFF2-40B4-BE49-F238E27FC236}">
                <a16:creationId xmlns:a16="http://schemas.microsoft.com/office/drawing/2014/main" id="{0B2F353A-E4C8-80D0-268D-343A6005A4BC}"/>
              </a:ext>
            </a:extLst>
          </p:cNvPr>
          <p:cNvSpPr/>
          <p:nvPr/>
        </p:nvSpPr>
        <p:spPr>
          <a:xfrm>
            <a:off x="5863184" y="2922209"/>
            <a:ext cx="158180" cy="125302"/>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5DCC6F"/>
              </a:solidFill>
            </a:endParaRPr>
          </a:p>
        </p:txBody>
      </p:sp>
      <p:sp>
        <p:nvSpPr>
          <p:cNvPr id="26" name="Rectangle 25">
            <a:extLst>
              <a:ext uri="{FF2B5EF4-FFF2-40B4-BE49-F238E27FC236}">
                <a16:creationId xmlns:a16="http://schemas.microsoft.com/office/drawing/2014/main" id="{C8AA95D7-3433-AA5B-F175-59625014C63D}"/>
              </a:ext>
            </a:extLst>
          </p:cNvPr>
          <p:cNvSpPr/>
          <p:nvPr/>
        </p:nvSpPr>
        <p:spPr>
          <a:xfrm>
            <a:off x="3605842" y="2921334"/>
            <a:ext cx="7972051" cy="276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158DC6E-851E-735B-2703-B6EA00182BC3}"/>
              </a:ext>
            </a:extLst>
          </p:cNvPr>
          <p:cNvSpPr/>
          <p:nvPr/>
        </p:nvSpPr>
        <p:spPr>
          <a:xfrm>
            <a:off x="3605841" y="3374566"/>
            <a:ext cx="7972051" cy="276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7186701-8065-429B-8BF3-4074AEF7C4BF}"/>
              </a:ext>
            </a:extLst>
          </p:cNvPr>
          <p:cNvSpPr/>
          <p:nvPr/>
        </p:nvSpPr>
        <p:spPr>
          <a:xfrm>
            <a:off x="3605840" y="3822695"/>
            <a:ext cx="7972051" cy="276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355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4" presetClass="exit" presetSubtype="10" fill="hold" grpId="0" nodeType="clickEffect">
                                  <p:stCondLst>
                                    <p:cond delay="0"/>
                                  </p:stCondLst>
                                  <p:childTnLst>
                                    <p:animEffect transition="out" filter="randombar(horizontal)">
                                      <p:cBhvr>
                                        <p:cTn id="12" dur="500"/>
                                        <p:tgtEl>
                                          <p:spTgt spid="28"/>
                                        </p:tgtEl>
                                      </p:cBhvr>
                                    </p:animEffect>
                                    <p:set>
                                      <p:cBhvr>
                                        <p:cTn id="13" dur="1" fill="hold">
                                          <p:stCondLst>
                                            <p:cond delay="499"/>
                                          </p:stCondLst>
                                        </p:cTn>
                                        <p:tgtEl>
                                          <p:spTgt spid="28"/>
                                        </p:tgtEl>
                                        <p:attrNameLst>
                                          <p:attrName>style.visibility</p:attrName>
                                        </p:attrNameLst>
                                      </p:cBhvr>
                                      <p:to>
                                        <p:strVal val="hidden"/>
                                      </p:to>
                                    </p:set>
                                  </p:childTnLst>
                                </p:cTn>
                              </p:par>
                              <p:par>
                                <p:cTn id="14" presetID="14" presetClass="exit" presetSubtype="10" fill="hold" grpId="0" nodeType="withEffect">
                                  <p:stCondLst>
                                    <p:cond delay="0"/>
                                  </p:stCondLst>
                                  <p:childTnLst>
                                    <p:animEffect transition="out" filter="randombar(horizontal)">
                                      <p:cBhvr>
                                        <p:cTn id="15" dur="500"/>
                                        <p:tgtEl>
                                          <p:spTgt spid="27"/>
                                        </p:tgtEl>
                                      </p:cBhvr>
                                    </p:animEffect>
                                    <p:set>
                                      <p:cBhvr>
                                        <p:cTn id="16" dur="1" fill="hold">
                                          <p:stCondLst>
                                            <p:cond delay="499"/>
                                          </p:stCondLst>
                                        </p:cTn>
                                        <p:tgtEl>
                                          <p:spTgt spid="27"/>
                                        </p:tgtEl>
                                        <p:attrNameLst>
                                          <p:attrName>style.visibility</p:attrName>
                                        </p:attrNameLst>
                                      </p:cBhvr>
                                      <p:to>
                                        <p:strVal val="hidden"/>
                                      </p:to>
                                    </p:set>
                                  </p:childTnLst>
                                </p:cTn>
                              </p:par>
                              <p:par>
                                <p:cTn id="17" presetID="14" presetClass="exit" presetSubtype="10" fill="hold" grpId="0" nodeType="withEffect">
                                  <p:stCondLst>
                                    <p:cond delay="0"/>
                                  </p:stCondLst>
                                  <p:childTnLst>
                                    <p:animEffect transition="out" filter="randombar(horizontal)">
                                      <p:cBhvr>
                                        <p:cTn id="18" dur="500"/>
                                        <p:tgtEl>
                                          <p:spTgt spid="26"/>
                                        </p:tgtEl>
                                      </p:cBhvr>
                                    </p:animEffect>
                                    <p:set>
                                      <p:cBhvr>
                                        <p:cTn id="19" dur="1" fill="hold">
                                          <p:stCondLst>
                                            <p:cond delay="499"/>
                                          </p:stCondLst>
                                        </p:cTn>
                                        <p:tgtEl>
                                          <p:spTgt spid="26"/>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animBg="1"/>
      <p:bldP spid="20" grpId="0"/>
      <p:bldP spid="22" grpId="0" animBg="1"/>
      <p:bldP spid="10" grpId="0"/>
      <p:bldP spid="18" grpId="0"/>
      <p:bldP spid="26" grpId="0" animBg="1"/>
      <p:bldP spid="27" grpId="0" animBg="1"/>
      <p:bldP spid="2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C127E3-FF22-12B4-71E3-612CEED0D3C1}"/>
              </a:ext>
            </a:extLst>
          </p:cNvPr>
          <p:cNvSpPr>
            <a:spLocks noGrp="1"/>
          </p:cNvSpPr>
          <p:nvPr>
            <p:ph type="sldNum" sz="quarter" idx="11"/>
          </p:nvPr>
        </p:nvSpPr>
        <p:spPr/>
        <p:txBody>
          <a:bodyPr/>
          <a:lstStyle/>
          <a:p>
            <a:fld id="{523A240F-EAFE-E84F-B44C-6D7A08E0E409}" type="slidenum">
              <a:rPr lang="en-US" smtClean="0"/>
              <a:t>16</a:t>
            </a:fld>
            <a:endParaRPr lang="en-US"/>
          </a:p>
        </p:txBody>
      </p:sp>
      <p:sp>
        <p:nvSpPr>
          <p:cNvPr id="3" name="Footer Placeholder 2">
            <a:extLst>
              <a:ext uri="{FF2B5EF4-FFF2-40B4-BE49-F238E27FC236}">
                <a16:creationId xmlns:a16="http://schemas.microsoft.com/office/drawing/2014/main" id="{A1274C43-26EE-6640-8925-9CC66D66DC45}"/>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ED09C3EC-1DCE-987B-9EAD-8B4D47378452}"/>
              </a:ext>
            </a:extLst>
          </p:cNvPr>
          <p:cNvSpPr>
            <a:spLocks noGrp="1"/>
          </p:cNvSpPr>
          <p:nvPr>
            <p:ph type="body" sz="half" idx="2"/>
          </p:nvPr>
        </p:nvSpPr>
        <p:spPr/>
        <p:txBody>
          <a:bodyPr/>
          <a:lstStyle/>
          <a:p>
            <a:r>
              <a:rPr lang="en-US" dirty="0"/>
              <a:t>Supplemental 3 has a conjecture for the ordinal logistic model (formalized)</a:t>
            </a:r>
          </a:p>
        </p:txBody>
      </p:sp>
      <p:sp>
        <p:nvSpPr>
          <p:cNvPr id="5" name="Title 4">
            <a:extLst>
              <a:ext uri="{FF2B5EF4-FFF2-40B4-BE49-F238E27FC236}">
                <a16:creationId xmlns:a16="http://schemas.microsoft.com/office/drawing/2014/main" id="{CAF2CEF8-5374-8D4B-C9D8-65B0887ACC09}"/>
              </a:ext>
            </a:extLst>
          </p:cNvPr>
          <p:cNvSpPr>
            <a:spLocks noGrp="1"/>
          </p:cNvSpPr>
          <p:nvPr>
            <p:ph type="title"/>
          </p:nvPr>
        </p:nvSpPr>
        <p:spPr/>
        <p:txBody>
          <a:bodyPr/>
          <a:lstStyle/>
          <a:p>
            <a:r>
              <a:rPr lang="sv-SE" dirty="0"/>
              <a:t>Limitations and Future Directions</a:t>
            </a:r>
            <a:endParaRPr lang="en-US" dirty="0"/>
          </a:p>
        </p:txBody>
      </p:sp>
      <p:sp>
        <p:nvSpPr>
          <p:cNvPr id="6" name="TextBox 5">
            <a:extLst>
              <a:ext uri="{FF2B5EF4-FFF2-40B4-BE49-F238E27FC236}">
                <a16:creationId xmlns:a16="http://schemas.microsoft.com/office/drawing/2014/main" id="{92B33618-9F44-F3CF-C865-F9A848DD113E}"/>
              </a:ext>
            </a:extLst>
          </p:cNvPr>
          <p:cNvSpPr txBox="1"/>
          <p:nvPr/>
        </p:nvSpPr>
        <p:spPr>
          <a:xfrm>
            <a:off x="4021787" y="1835383"/>
            <a:ext cx="7447326" cy="923330"/>
          </a:xfrm>
          <a:prstGeom prst="rect">
            <a:avLst/>
          </a:prstGeom>
          <a:noFill/>
        </p:spPr>
        <p:txBody>
          <a:bodyPr wrap="square" rtlCol="0">
            <a:spAutoFit/>
          </a:bodyPr>
          <a:lstStyle/>
          <a:p>
            <a:pPr marL="285750" indent="-285750" algn="l">
              <a:buFontTx/>
              <a:buChar char="-"/>
            </a:pPr>
            <a:r>
              <a:rPr lang="en-US" dirty="0">
                <a:solidFill>
                  <a:srgbClr val="272524"/>
                </a:solidFill>
              </a:rPr>
              <a:t>Did not directly address treatment imbalance</a:t>
            </a:r>
          </a:p>
          <a:p>
            <a:pPr marL="285750" indent="-285750">
              <a:buFontTx/>
              <a:buChar char="-"/>
            </a:pPr>
            <a:r>
              <a:rPr lang="en-US" dirty="0">
                <a:solidFill>
                  <a:srgbClr val="272524"/>
                </a:solidFill>
              </a:rPr>
              <a:t>Results may not generalize to other regression models (i.e. Cox Proportional Hazards)</a:t>
            </a:r>
          </a:p>
        </p:txBody>
      </p:sp>
      <p:sp>
        <p:nvSpPr>
          <p:cNvPr id="7" name="Rectangle 6">
            <a:extLst>
              <a:ext uri="{FF2B5EF4-FFF2-40B4-BE49-F238E27FC236}">
                <a16:creationId xmlns:a16="http://schemas.microsoft.com/office/drawing/2014/main" id="{D3C97939-7A6C-8C41-E41F-B61299C5AA30}"/>
              </a:ext>
            </a:extLst>
          </p:cNvPr>
          <p:cNvSpPr/>
          <p:nvPr/>
        </p:nvSpPr>
        <p:spPr>
          <a:xfrm>
            <a:off x="1128653" y="1974072"/>
            <a:ext cx="1744575" cy="64595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Limitations</a:t>
            </a:r>
          </a:p>
        </p:txBody>
      </p:sp>
      <p:sp>
        <p:nvSpPr>
          <p:cNvPr id="8" name="Rectangle 7">
            <a:extLst>
              <a:ext uri="{FF2B5EF4-FFF2-40B4-BE49-F238E27FC236}">
                <a16:creationId xmlns:a16="http://schemas.microsoft.com/office/drawing/2014/main" id="{40A4DC13-13B9-860D-E875-A735C9690DEC}"/>
              </a:ext>
            </a:extLst>
          </p:cNvPr>
          <p:cNvSpPr/>
          <p:nvPr/>
        </p:nvSpPr>
        <p:spPr>
          <a:xfrm>
            <a:off x="512063" y="4341039"/>
            <a:ext cx="2977756" cy="7072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 Future Direction</a:t>
            </a:r>
          </a:p>
        </p:txBody>
      </p:sp>
      <p:sp>
        <p:nvSpPr>
          <p:cNvPr id="10" name="TextBox 9">
            <a:extLst>
              <a:ext uri="{FF2B5EF4-FFF2-40B4-BE49-F238E27FC236}">
                <a16:creationId xmlns:a16="http://schemas.microsoft.com/office/drawing/2014/main" id="{9B83E269-2519-5755-1007-E059C6B144BA}"/>
              </a:ext>
            </a:extLst>
          </p:cNvPr>
          <p:cNvSpPr txBox="1"/>
          <p:nvPr/>
        </p:nvSpPr>
        <p:spPr>
          <a:xfrm>
            <a:off x="4021787" y="4237786"/>
            <a:ext cx="7606717" cy="923330"/>
          </a:xfrm>
          <a:prstGeom prst="rect">
            <a:avLst/>
          </a:prstGeom>
          <a:noFill/>
        </p:spPr>
        <p:txBody>
          <a:bodyPr wrap="square">
            <a:spAutoFit/>
          </a:bodyPr>
          <a:lstStyle/>
          <a:p>
            <a:pPr algn="l"/>
            <a:r>
              <a:rPr lang="en-US" dirty="0">
                <a:solidFill>
                  <a:srgbClr val="272524"/>
                </a:solidFill>
              </a:rPr>
              <a:t>Extension project motivated by counterintuitive relative efficiency result: looking at bias-variance tradeoff for popular </a:t>
            </a:r>
            <a:r>
              <a:rPr lang="en-US" dirty="0" err="1">
                <a:solidFill>
                  <a:srgbClr val="272524"/>
                </a:solidFill>
              </a:rPr>
              <a:t>noncollapsible</a:t>
            </a:r>
            <a:r>
              <a:rPr lang="en-US" dirty="0">
                <a:solidFill>
                  <a:srgbClr val="272524"/>
                </a:solidFill>
              </a:rPr>
              <a:t> models in health research with measurement error on a non-confounding covariate</a:t>
            </a:r>
          </a:p>
        </p:txBody>
      </p:sp>
    </p:spTree>
    <p:extLst>
      <p:ext uri="{BB962C8B-B14F-4D97-AF65-F5344CB8AC3E}">
        <p14:creationId xmlns:p14="http://schemas.microsoft.com/office/powerpoint/2010/main" val="1335899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C127E3-FF22-12B4-71E3-612CEED0D3C1}"/>
              </a:ext>
            </a:extLst>
          </p:cNvPr>
          <p:cNvSpPr>
            <a:spLocks noGrp="1"/>
          </p:cNvSpPr>
          <p:nvPr>
            <p:ph type="sldNum" sz="quarter" idx="11"/>
          </p:nvPr>
        </p:nvSpPr>
        <p:spPr/>
        <p:txBody>
          <a:bodyPr/>
          <a:lstStyle/>
          <a:p>
            <a:fld id="{523A240F-EAFE-E84F-B44C-6D7A08E0E409}" type="slidenum">
              <a:rPr lang="en-US" smtClean="0"/>
              <a:t>17</a:t>
            </a:fld>
            <a:endParaRPr lang="en-US"/>
          </a:p>
        </p:txBody>
      </p:sp>
      <p:sp>
        <p:nvSpPr>
          <p:cNvPr id="3" name="Footer Placeholder 2">
            <a:extLst>
              <a:ext uri="{FF2B5EF4-FFF2-40B4-BE49-F238E27FC236}">
                <a16:creationId xmlns:a16="http://schemas.microsoft.com/office/drawing/2014/main" id="{A1274C43-26EE-6640-8925-9CC66D66DC45}"/>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ED09C3EC-1DCE-987B-9EAD-8B4D47378452}"/>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CAF2CEF8-5374-8D4B-C9D8-65B0887ACC09}"/>
              </a:ext>
            </a:extLst>
          </p:cNvPr>
          <p:cNvSpPr>
            <a:spLocks noGrp="1"/>
          </p:cNvSpPr>
          <p:nvPr>
            <p:ph type="title"/>
          </p:nvPr>
        </p:nvSpPr>
        <p:spPr>
          <a:xfrm>
            <a:off x="512063" y="457201"/>
            <a:ext cx="11184423" cy="454862"/>
          </a:xfrm>
        </p:spPr>
        <p:txBody>
          <a:bodyPr/>
          <a:lstStyle/>
          <a:p>
            <a:r>
              <a:rPr lang="sv-SE" sz="2800" dirty="0"/>
              <a:t>Acknowledgements</a:t>
            </a:r>
            <a:endParaRPr lang="en-US" sz="2800" dirty="0"/>
          </a:p>
        </p:txBody>
      </p:sp>
      <p:sp>
        <p:nvSpPr>
          <p:cNvPr id="8" name="TextBox 7">
            <a:extLst>
              <a:ext uri="{FF2B5EF4-FFF2-40B4-BE49-F238E27FC236}">
                <a16:creationId xmlns:a16="http://schemas.microsoft.com/office/drawing/2014/main" id="{CB199D8C-84D9-E3AF-2B7F-69A8D6E062D2}"/>
              </a:ext>
            </a:extLst>
          </p:cNvPr>
          <p:cNvSpPr txBox="1"/>
          <p:nvPr/>
        </p:nvSpPr>
        <p:spPr>
          <a:xfrm>
            <a:off x="7640764" y="2044046"/>
            <a:ext cx="3483666" cy="646331"/>
          </a:xfrm>
          <a:prstGeom prst="rect">
            <a:avLst/>
          </a:prstGeom>
          <a:noFill/>
        </p:spPr>
        <p:txBody>
          <a:bodyPr wrap="square">
            <a:spAutoFit/>
          </a:bodyPr>
          <a:lstStyle/>
          <a:p>
            <a:pPr algn="ctr"/>
            <a:r>
              <a:rPr lang="en-US" dirty="0">
                <a:solidFill>
                  <a:srgbClr val="272524"/>
                </a:solidFill>
              </a:rPr>
              <a:t>The clinicians / collaborators for the deep </a:t>
            </a:r>
            <a:r>
              <a:rPr lang="en-US" dirty="0" err="1">
                <a:solidFill>
                  <a:srgbClr val="272524"/>
                </a:solidFill>
              </a:rPr>
              <a:t>v.s</a:t>
            </a:r>
            <a:r>
              <a:rPr lang="en-US" dirty="0">
                <a:solidFill>
                  <a:srgbClr val="272524"/>
                </a:solidFill>
              </a:rPr>
              <a:t>. moderate trial</a:t>
            </a:r>
          </a:p>
        </p:txBody>
      </p:sp>
      <p:sp>
        <p:nvSpPr>
          <p:cNvPr id="9" name="TextBox 8">
            <a:extLst>
              <a:ext uri="{FF2B5EF4-FFF2-40B4-BE49-F238E27FC236}">
                <a16:creationId xmlns:a16="http://schemas.microsoft.com/office/drawing/2014/main" id="{9D6FAC48-1312-B361-A2EF-68C56AE7E325}"/>
              </a:ext>
            </a:extLst>
          </p:cNvPr>
          <p:cNvSpPr txBox="1"/>
          <p:nvPr/>
        </p:nvSpPr>
        <p:spPr>
          <a:xfrm>
            <a:off x="7251498" y="3495508"/>
            <a:ext cx="4262201" cy="692497"/>
          </a:xfrm>
          <a:prstGeom prst="rect">
            <a:avLst/>
          </a:prstGeom>
          <a:noFill/>
        </p:spPr>
        <p:txBody>
          <a:bodyPr wrap="square">
            <a:spAutoFit/>
          </a:bodyPr>
          <a:lstStyle/>
          <a:p>
            <a:pPr algn="ctr"/>
            <a:r>
              <a:rPr lang="en-US" dirty="0">
                <a:solidFill>
                  <a:srgbClr val="272524"/>
                </a:solidFill>
              </a:rPr>
              <a:t>QSURE 2025 Interns</a:t>
            </a:r>
          </a:p>
          <a:p>
            <a:pPr algn="ctr"/>
            <a:r>
              <a:rPr lang="en-US" sz="1200" dirty="0">
                <a:solidFill>
                  <a:srgbClr val="272524"/>
                </a:solidFill>
              </a:rPr>
              <a:t>(</a:t>
            </a:r>
            <a:r>
              <a:rPr lang="en-US" sz="1200" b="1" dirty="0">
                <a:solidFill>
                  <a:srgbClr val="272524"/>
                </a:solidFill>
              </a:rPr>
              <a:t>only</a:t>
            </a:r>
            <a:r>
              <a:rPr lang="en-US" sz="1200" dirty="0">
                <a:solidFill>
                  <a:srgbClr val="272524"/>
                </a:solidFill>
              </a:rPr>
              <a:t> those who joined me on my walk down Manhattan)</a:t>
            </a:r>
          </a:p>
          <a:p>
            <a:pPr algn="ctr"/>
            <a:r>
              <a:rPr lang="en-US" sz="900" dirty="0">
                <a:solidFill>
                  <a:srgbClr val="272524"/>
                </a:solidFill>
              </a:rPr>
              <a:t>Just kidding you’re all great</a:t>
            </a:r>
          </a:p>
        </p:txBody>
      </p:sp>
      <p:sp>
        <p:nvSpPr>
          <p:cNvPr id="11" name="TextBox 10">
            <a:extLst>
              <a:ext uri="{FF2B5EF4-FFF2-40B4-BE49-F238E27FC236}">
                <a16:creationId xmlns:a16="http://schemas.microsoft.com/office/drawing/2014/main" id="{A7CBAE81-0A10-E07F-D177-4CABBF7F65D8}"/>
              </a:ext>
            </a:extLst>
          </p:cNvPr>
          <p:cNvSpPr txBox="1"/>
          <p:nvPr/>
        </p:nvSpPr>
        <p:spPr>
          <a:xfrm>
            <a:off x="770283" y="4128333"/>
            <a:ext cx="1898573" cy="369332"/>
          </a:xfrm>
          <a:prstGeom prst="rect">
            <a:avLst/>
          </a:prstGeom>
          <a:noFill/>
        </p:spPr>
        <p:txBody>
          <a:bodyPr wrap="square">
            <a:spAutoFit/>
          </a:bodyPr>
          <a:lstStyle/>
          <a:p>
            <a:pPr algn="ctr"/>
            <a:r>
              <a:rPr lang="en-US" dirty="0">
                <a:solidFill>
                  <a:srgbClr val="272524"/>
                </a:solidFill>
              </a:rPr>
              <a:t>Dr. Margaret Du</a:t>
            </a:r>
          </a:p>
        </p:txBody>
      </p:sp>
      <p:sp>
        <p:nvSpPr>
          <p:cNvPr id="13" name="TextBox 12">
            <a:extLst>
              <a:ext uri="{FF2B5EF4-FFF2-40B4-BE49-F238E27FC236}">
                <a16:creationId xmlns:a16="http://schemas.microsoft.com/office/drawing/2014/main" id="{C81BE159-C38F-027E-34D4-0F9D177AA331}"/>
              </a:ext>
            </a:extLst>
          </p:cNvPr>
          <p:cNvSpPr txBox="1"/>
          <p:nvPr/>
        </p:nvSpPr>
        <p:spPr>
          <a:xfrm>
            <a:off x="770283" y="2383665"/>
            <a:ext cx="1964966" cy="369332"/>
          </a:xfrm>
          <a:prstGeom prst="rect">
            <a:avLst/>
          </a:prstGeom>
          <a:noFill/>
        </p:spPr>
        <p:txBody>
          <a:bodyPr wrap="square">
            <a:spAutoFit/>
          </a:bodyPr>
          <a:lstStyle/>
          <a:p>
            <a:pPr algn="ctr"/>
            <a:r>
              <a:rPr lang="en-US" dirty="0">
                <a:solidFill>
                  <a:srgbClr val="272524"/>
                </a:solidFill>
              </a:rPr>
              <a:t>Dr. Kay See Tan</a:t>
            </a:r>
          </a:p>
        </p:txBody>
      </p:sp>
      <p:sp>
        <p:nvSpPr>
          <p:cNvPr id="15" name="TextBox 14">
            <a:extLst>
              <a:ext uri="{FF2B5EF4-FFF2-40B4-BE49-F238E27FC236}">
                <a16:creationId xmlns:a16="http://schemas.microsoft.com/office/drawing/2014/main" id="{1AD286FC-A10E-B490-1498-C8291A3FB635}"/>
              </a:ext>
            </a:extLst>
          </p:cNvPr>
          <p:cNvSpPr txBox="1"/>
          <p:nvPr/>
        </p:nvSpPr>
        <p:spPr>
          <a:xfrm>
            <a:off x="631731" y="4612180"/>
            <a:ext cx="2175676" cy="369332"/>
          </a:xfrm>
          <a:prstGeom prst="rect">
            <a:avLst/>
          </a:prstGeom>
          <a:noFill/>
        </p:spPr>
        <p:txBody>
          <a:bodyPr wrap="square">
            <a:spAutoFit/>
          </a:bodyPr>
          <a:lstStyle/>
          <a:p>
            <a:pPr algn="ctr"/>
            <a:r>
              <a:rPr lang="en-US" dirty="0">
                <a:solidFill>
                  <a:srgbClr val="272524"/>
                </a:solidFill>
              </a:rPr>
              <a:t>Richard Koppenaal</a:t>
            </a:r>
          </a:p>
        </p:txBody>
      </p:sp>
      <p:pic>
        <p:nvPicPr>
          <p:cNvPr id="1036" name="Picture 12" descr="Kay See Tan">
            <a:extLst>
              <a:ext uri="{FF2B5EF4-FFF2-40B4-BE49-F238E27FC236}">
                <a16:creationId xmlns:a16="http://schemas.microsoft.com/office/drawing/2014/main" id="{63226D1B-6545-1EAA-ECA4-7ED39E5EE0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8109" y="1769883"/>
            <a:ext cx="2396843" cy="159689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FBF6F79-8ACE-2247-3537-A8841F5C2BB2}"/>
              </a:ext>
            </a:extLst>
          </p:cNvPr>
          <p:cNvSpPr txBox="1"/>
          <p:nvPr/>
        </p:nvSpPr>
        <p:spPr>
          <a:xfrm>
            <a:off x="7890103" y="5126860"/>
            <a:ext cx="2984988" cy="646331"/>
          </a:xfrm>
          <a:prstGeom prst="rect">
            <a:avLst/>
          </a:prstGeom>
          <a:noFill/>
        </p:spPr>
        <p:txBody>
          <a:bodyPr wrap="square" rtlCol="0">
            <a:spAutoFit/>
          </a:bodyPr>
          <a:lstStyle/>
          <a:p>
            <a:pPr algn="ctr"/>
            <a:r>
              <a:rPr lang="en-US" dirty="0">
                <a:solidFill>
                  <a:srgbClr val="272524"/>
                </a:solidFill>
              </a:rPr>
              <a:t>NCI Grant: R25 CA214255 and MSK Society</a:t>
            </a:r>
          </a:p>
        </p:txBody>
      </p:sp>
      <p:sp>
        <p:nvSpPr>
          <p:cNvPr id="7" name="TextBox 6">
            <a:extLst>
              <a:ext uri="{FF2B5EF4-FFF2-40B4-BE49-F238E27FC236}">
                <a16:creationId xmlns:a16="http://schemas.microsoft.com/office/drawing/2014/main" id="{15937E09-C454-AA5D-B085-DFB5017F7168}"/>
              </a:ext>
            </a:extLst>
          </p:cNvPr>
          <p:cNvSpPr txBox="1"/>
          <p:nvPr/>
        </p:nvSpPr>
        <p:spPr>
          <a:xfrm>
            <a:off x="803479" y="5093930"/>
            <a:ext cx="1898573" cy="369332"/>
          </a:xfrm>
          <a:prstGeom prst="rect">
            <a:avLst/>
          </a:prstGeom>
          <a:noFill/>
        </p:spPr>
        <p:txBody>
          <a:bodyPr wrap="square">
            <a:spAutoFit/>
          </a:bodyPr>
          <a:lstStyle/>
          <a:p>
            <a:pPr algn="ctr"/>
            <a:r>
              <a:rPr lang="en-US" dirty="0">
                <a:solidFill>
                  <a:srgbClr val="272524"/>
                </a:solidFill>
              </a:rPr>
              <a:t>Dr. Colin </a:t>
            </a:r>
            <a:r>
              <a:rPr lang="en-US" dirty="0" err="1">
                <a:solidFill>
                  <a:srgbClr val="272524"/>
                </a:solidFill>
              </a:rPr>
              <a:t>Begg</a:t>
            </a:r>
            <a:endParaRPr lang="en-US" dirty="0">
              <a:solidFill>
                <a:srgbClr val="272524"/>
              </a:solidFill>
            </a:endParaRPr>
          </a:p>
        </p:txBody>
      </p:sp>
      <p:sp>
        <p:nvSpPr>
          <p:cNvPr id="10" name="TextBox 9">
            <a:extLst>
              <a:ext uri="{FF2B5EF4-FFF2-40B4-BE49-F238E27FC236}">
                <a16:creationId xmlns:a16="http://schemas.microsoft.com/office/drawing/2014/main" id="{2C6C6149-3446-766A-263C-A33377D4A024}"/>
              </a:ext>
            </a:extLst>
          </p:cNvPr>
          <p:cNvSpPr txBox="1"/>
          <p:nvPr/>
        </p:nvSpPr>
        <p:spPr>
          <a:xfrm>
            <a:off x="1446354" y="3264900"/>
            <a:ext cx="546430" cy="369332"/>
          </a:xfrm>
          <a:prstGeom prst="rect">
            <a:avLst/>
          </a:prstGeom>
          <a:noFill/>
        </p:spPr>
        <p:txBody>
          <a:bodyPr wrap="square">
            <a:spAutoFit/>
          </a:bodyPr>
          <a:lstStyle/>
          <a:p>
            <a:pPr algn="ctr"/>
            <a:r>
              <a:rPr lang="en-US" dirty="0">
                <a:solidFill>
                  <a:srgbClr val="272524"/>
                </a:solidFill>
              </a:rPr>
              <a:t>+</a:t>
            </a:r>
          </a:p>
        </p:txBody>
      </p:sp>
      <p:sp>
        <p:nvSpPr>
          <p:cNvPr id="12" name="TextBox 11">
            <a:extLst>
              <a:ext uri="{FF2B5EF4-FFF2-40B4-BE49-F238E27FC236}">
                <a16:creationId xmlns:a16="http://schemas.microsoft.com/office/drawing/2014/main" id="{F5CB3343-24AB-EB00-4627-58274EB8B979}"/>
              </a:ext>
            </a:extLst>
          </p:cNvPr>
          <p:cNvSpPr txBox="1"/>
          <p:nvPr/>
        </p:nvSpPr>
        <p:spPr>
          <a:xfrm>
            <a:off x="1985468" y="1175339"/>
            <a:ext cx="2925281" cy="369332"/>
          </a:xfrm>
          <a:prstGeom prst="rect">
            <a:avLst/>
          </a:prstGeom>
          <a:noFill/>
        </p:spPr>
        <p:txBody>
          <a:bodyPr wrap="square">
            <a:spAutoFit/>
          </a:bodyPr>
          <a:lstStyle/>
          <a:p>
            <a:pPr algn="ctr"/>
            <a:r>
              <a:rPr lang="en-US" b="1" dirty="0">
                <a:solidFill>
                  <a:srgbClr val="272524"/>
                </a:solidFill>
              </a:rPr>
              <a:t>The QSURE Team</a:t>
            </a:r>
          </a:p>
        </p:txBody>
      </p:sp>
      <p:sp>
        <p:nvSpPr>
          <p:cNvPr id="14" name="TextBox 13">
            <a:extLst>
              <a:ext uri="{FF2B5EF4-FFF2-40B4-BE49-F238E27FC236}">
                <a16:creationId xmlns:a16="http://schemas.microsoft.com/office/drawing/2014/main" id="{DC98FFAF-230B-40E7-73E6-A890F6798C52}"/>
              </a:ext>
            </a:extLst>
          </p:cNvPr>
          <p:cNvSpPr txBox="1"/>
          <p:nvPr/>
        </p:nvSpPr>
        <p:spPr>
          <a:xfrm>
            <a:off x="7919957" y="1150891"/>
            <a:ext cx="2925281" cy="369332"/>
          </a:xfrm>
          <a:prstGeom prst="rect">
            <a:avLst/>
          </a:prstGeom>
          <a:noFill/>
        </p:spPr>
        <p:txBody>
          <a:bodyPr wrap="square">
            <a:spAutoFit/>
          </a:bodyPr>
          <a:lstStyle/>
          <a:p>
            <a:pPr algn="ctr"/>
            <a:r>
              <a:rPr lang="en-US" b="1" dirty="0">
                <a:solidFill>
                  <a:srgbClr val="272524"/>
                </a:solidFill>
              </a:rPr>
              <a:t>Other</a:t>
            </a:r>
          </a:p>
        </p:txBody>
      </p:sp>
    </p:spTree>
    <p:extLst>
      <p:ext uri="{BB962C8B-B14F-4D97-AF65-F5344CB8AC3E}">
        <p14:creationId xmlns:p14="http://schemas.microsoft.com/office/powerpoint/2010/main" val="3138805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C127E3-FF22-12B4-71E3-612CEED0D3C1}"/>
              </a:ext>
            </a:extLst>
          </p:cNvPr>
          <p:cNvSpPr>
            <a:spLocks noGrp="1"/>
          </p:cNvSpPr>
          <p:nvPr>
            <p:ph type="sldNum" sz="quarter" idx="11"/>
          </p:nvPr>
        </p:nvSpPr>
        <p:spPr/>
        <p:txBody>
          <a:bodyPr/>
          <a:lstStyle/>
          <a:p>
            <a:fld id="{523A240F-EAFE-E84F-B44C-6D7A08E0E409}" type="slidenum">
              <a:rPr lang="en-US" smtClean="0"/>
              <a:t>18</a:t>
            </a:fld>
            <a:endParaRPr lang="en-US"/>
          </a:p>
        </p:txBody>
      </p:sp>
      <p:sp>
        <p:nvSpPr>
          <p:cNvPr id="3" name="Footer Placeholder 2">
            <a:extLst>
              <a:ext uri="{FF2B5EF4-FFF2-40B4-BE49-F238E27FC236}">
                <a16:creationId xmlns:a16="http://schemas.microsoft.com/office/drawing/2014/main" id="{A1274C43-26EE-6640-8925-9CC66D66DC45}"/>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ED09C3EC-1DCE-987B-9EAD-8B4D47378452}"/>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CAF2CEF8-5374-8D4B-C9D8-65B0887ACC09}"/>
              </a:ext>
            </a:extLst>
          </p:cNvPr>
          <p:cNvSpPr>
            <a:spLocks noGrp="1"/>
          </p:cNvSpPr>
          <p:nvPr>
            <p:ph type="title"/>
          </p:nvPr>
        </p:nvSpPr>
        <p:spPr>
          <a:xfrm>
            <a:off x="512063" y="457201"/>
            <a:ext cx="11184423" cy="454862"/>
          </a:xfrm>
        </p:spPr>
        <p:txBody>
          <a:bodyPr/>
          <a:lstStyle/>
          <a:p>
            <a:r>
              <a:rPr lang="sv-SE" sz="2800" dirty="0"/>
              <a:t>References</a:t>
            </a:r>
            <a:endParaRPr lang="en-US" sz="2800" dirty="0"/>
          </a:p>
        </p:txBody>
      </p:sp>
      <p:sp>
        <p:nvSpPr>
          <p:cNvPr id="18" name="TextBox 17">
            <a:extLst>
              <a:ext uri="{FF2B5EF4-FFF2-40B4-BE49-F238E27FC236}">
                <a16:creationId xmlns:a16="http://schemas.microsoft.com/office/drawing/2014/main" id="{41F9747B-CA29-76EA-E265-555D9104BF41}"/>
              </a:ext>
            </a:extLst>
          </p:cNvPr>
          <p:cNvSpPr txBox="1"/>
          <p:nvPr/>
        </p:nvSpPr>
        <p:spPr>
          <a:xfrm>
            <a:off x="595619" y="1459684"/>
            <a:ext cx="10484758" cy="1600438"/>
          </a:xfrm>
          <a:prstGeom prst="rect">
            <a:avLst/>
          </a:prstGeom>
          <a:noFill/>
        </p:spPr>
        <p:txBody>
          <a:bodyPr wrap="square" rtlCol="0">
            <a:spAutoFit/>
          </a:bodyPr>
          <a:lstStyle/>
          <a:p>
            <a:r>
              <a:rPr lang="en-US" sz="1400" dirty="0">
                <a:solidFill>
                  <a:srgbClr val="272524"/>
                </a:solidFill>
              </a:rPr>
              <a:t>1. </a:t>
            </a:r>
            <a:r>
              <a:rPr lang="en-US" sz="1400" b="0" i="0" dirty="0">
                <a:solidFill>
                  <a:srgbClr val="272524"/>
                </a:solidFill>
                <a:effectLst/>
              </a:rPr>
              <a:t>Kahan, B. C., &amp; Morris, T. P. (2012). Improper analysis of trials </a:t>
            </a:r>
            <a:r>
              <a:rPr lang="en-US" sz="1400" b="0" i="0" dirty="0" err="1">
                <a:solidFill>
                  <a:srgbClr val="272524"/>
                </a:solidFill>
                <a:effectLst/>
              </a:rPr>
              <a:t>randomised</a:t>
            </a:r>
            <a:r>
              <a:rPr lang="en-US" sz="1400" b="0" i="0" dirty="0">
                <a:solidFill>
                  <a:srgbClr val="272524"/>
                </a:solidFill>
                <a:effectLst/>
              </a:rPr>
              <a:t> using stratified blocks or </a:t>
            </a:r>
            <a:r>
              <a:rPr lang="en-US" sz="1400" b="0" i="0" dirty="0" err="1">
                <a:solidFill>
                  <a:srgbClr val="272524"/>
                </a:solidFill>
                <a:effectLst/>
              </a:rPr>
              <a:t>minimisation</a:t>
            </a:r>
            <a:r>
              <a:rPr lang="en-US" sz="1400" b="0" i="0" dirty="0">
                <a:solidFill>
                  <a:srgbClr val="272524"/>
                </a:solidFill>
                <a:effectLst/>
              </a:rPr>
              <a:t>. </a:t>
            </a:r>
            <a:r>
              <a:rPr lang="en-US" sz="1400" b="0" i="1" dirty="0">
                <a:solidFill>
                  <a:srgbClr val="272524"/>
                </a:solidFill>
                <a:effectLst/>
              </a:rPr>
              <a:t>Statistics in medicine</a:t>
            </a:r>
            <a:r>
              <a:rPr lang="en-US" sz="1400" b="0" i="0" dirty="0">
                <a:solidFill>
                  <a:srgbClr val="272524"/>
                </a:solidFill>
                <a:effectLst/>
              </a:rPr>
              <a:t>, </a:t>
            </a:r>
            <a:r>
              <a:rPr lang="en-US" sz="1400" b="0" i="1" dirty="0">
                <a:solidFill>
                  <a:srgbClr val="272524"/>
                </a:solidFill>
                <a:effectLst/>
              </a:rPr>
              <a:t>31</a:t>
            </a:r>
            <a:r>
              <a:rPr lang="en-US" sz="1400" b="0" i="0" dirty="0">
                <a:solidFill>
                  <a:srgbClr val="272524"/>
                </a:solidFill>
                <a:effectLst/>
              </a:rPr>
              <a:t>(4), 328–340. https://doi.org/10.1002/sim.4431</a:t>
            </a:r>
            <a:endParaRPr lang="en-US" sz="1400" dirty="0">
              <a:solidFill>
                <a:srgbClr val="272524"/>
              </a:solidFill>
            </a:endParaRPr>
          </a:p>
          <a:p>
            <a:r>
              <a:rPr lang="en-US" sz="1400" b="0" i="0" dirty="0">
                <a:solidFill>
                  <a:srgbClr val="272524"/>
                </a:solidFill>
                <a:effectLst/>
              </a:rPr>
              <a:t>2. </a:t>
            </a:r>
            <a:r>
              <a:rPr lang="en-US" sz="1400" b="0" i="0" dirty="0" err="1">
                <a:solidFill>
                  <a:srgbClr val="272524"/>
                </a:solidFill>
                <a:effectLst/>
              </a:rPr>
              <a:t>Gerbershagen</a:t>
            </a:r>
            <a:r>
              <a:rPr lang="en-US" sz="1400" b="0" i="0" dirty="0">
                <a:solidFill>
                  <a:srgbClr val="272524"/>
                </a:solidFill>
                <a:effectLst/>
              </a:rPr>
              <a:t>, H. J., </a:t>
            </a:r>
            <a:r>
              <a:rPr lang="en-US" sz="1400" b="0" i="0" dirty="0" err="1">
                <a:solidFill>
                  <a:srgbClr val="272524"/>
                </a:solidFill>
                <a:effectLst/>
              </a:rPr>
              <a:t>Rothaug</a:t>
            </a:r>
            <a:r>
              <a:rPr lang="en-US" sz="1400" b="0" i="0" dirty="0">
                <a:solidFill>
                  <a:srgbClr val="272524"/>
                </a:solidFill>
                <a:effectLst/>
              </a:rPr>
              <a:t>, J., </a:t>
            </a:r>
            <a:r>
              <a:rPr lang="en-US" sz="1400" b="0" i="0" dirty="0" err="1">
                <a:solidFill>
                  <a:srgbClr val="272524"/>
                </a:solidFill>
                <a:effectLst/>
              </a:rPr>
              <a:t>Kalkman</a:t>
            </a:r>
            <a:r>
              <a:rPr lang="en-US" sz="1400" b="0" i="0" dirty="0">
                <a:solidFill>
                  <a:srgbClr val="272524"/>
                </a:solidFill>
                <a:effectLst/>
              </a:rPr>
              <a:t>, C. J., &amp; Meissner, W. (2011). Determination of moderate-to-severe postoperative pain on the numeric rating scale: a cut-off point analysis applying four different methods. </a:t>
            </a:r>
            <a:r>
              <a:rPr lang="en-US" sz="1400" b="0" i="1" dirty="0">
                <a:solidFill>
                  <a:srgbClr val="272524"/>
                </a:solidFill>
                <a:effectLst/>
              </a:rPr>
              <a:t>British journal of </a:t>
            </a:r>
            <a:r>
              <a:rPr lang="en-US" sz="1400" b="0" i="1" dirty="0" err="1">
                <a:solidFill>
                  <a:srgbClr val="272524"/>
                </a:solidFill>
                <a:effectLst/>
              </a:rPr>
              <a:t>anaesthesia</a:t>
            </a:r>
            <a:r>
              <a:rPr lang="en-US" sz="1400" b="0" i="0" dirty="0">
                <a:solidFill>
                  <a:srgbClr val="272524"/>
                </a:solidFill>
                <a:effectLst/>
              </a:rPr>
              <a:t>, </a:t>
            </a:r>
            <a:r>
              <a:rPr lang="en-US" sz="1400" b="0" i="1" dirty="0">
                <a:solidFill>
                  <a:srgbClr val="272524"/>
                </a:solidFill>
                <a:effectLst/>
              </a:rPr>
              <a:t>107</a:t>
            </a:r>
            <a:r>
              <a:rPr lang="en-US" sz="1400" b="0" i="0" dirty="0">
                <a:solidFill>
                  <a:srgbClr val="272524"/>
                </a:solidFill>
                <a:effectLst/>
              </a:rPr>
              <a:t>(4), 619–626. </a:t>
            </a:r>
            <a:r>
              <a:rPr lang="en-US" sz="1400" b="0" i="0" dirty="0">
                <a:solidFill>
                  <a:srgbClr val="272524"/>
                </a:solidFill>
                <a:effectLst/>
                <a:hlinkClick r:id="rId2">
                  <a:extLst>
                    <a:ext uri="{A12FA001-AC4F-418D-AE19-62706E023703}">
                      <ahyp:hlinkClr xmlns:ahyp="http://schemas.microsoft.com/office/drawing/2018/hyperlinkcolor" val="tx"/>
                    </a:ext>
                  </a:extLst>
                </a:hlinkClick>
              </a:rPr>
              <a:t>https://doi.org/10.1093/bja/aer195</a:t>
            </a:r>
            <a:endParaRPr lang="en-US" sz="1400" b="0" i="0" dirty="0">
              <a:solidFill>
                <a:srgbClr val="272524"/>
              </a:solidFill>
              <a:effectLst/>
            </a:endParaRPr>
          </a:p>
          <a:p>
            <a:r>
              <a:rPr kumimoji="0" lang="en-US" altLang="en-US" sz="1400" b="0" i="0" u="none" strike="noStrike" cap="none" normalizeH="0" baseline="0" dirty="0">
                <a:ln>
                  <a:noFill/>
                </a:ln>
                <a:solidFill>
                  <a:srgbClr val="272524"/>
                </a:solidFill>
                <a:effectLst/>
              </a:rPr>
              <a:t>3. Robinson, L. D., &amp; Jewell, N. P. (1991). Some Surprising Results about Covariate Adjustment in Logistic Regression Models. </a:t>
            </a:r>
            <a:r>
              <a:rPr kumimoji="0" lang="en-US" altLang="en-US" sz="1400" b="0" i="1" u="none" strike="noStrike" cap="none" normalizeH="0" baseline="0" dirty="0">
                <a:ln>
                  <a:noFill/>
                </a:ln>
                <a:solidFill>
                  <a:srgbClr val="272524"/>
                </a:solidFill>
                <a:effectLst/>
              </a:rPr>
              <a:t>International Statistical Review / Revue </a:t>
            </a:r>
            <a:r>
              <a:rPr kumimoji="0" lang="en-US" altLang="en-US" sz="1400" b="0" i="1" u="none" strike="noStrike" cap="none" normalizeH="0" baseline="0" dirty="0" err="1">
                <a:ln>
                  <a:noFill/>
                </a:ln>
                <a:solidFill>
                  <a:srgbClr val="272524"/>
                </a:solidFill>
                <a:effectLst/>
              </a:rPr>
              <a:t>Internationale</a:t>
            </a:r>
            <a:r>
              <a:rPr kumimoji="0" lang="en-US" altLang="en-US" sz="1400" b="0" i="1" u="none" strike="noStrike" cap="none" normalizeH="0" baseline="0" dirty="0">
                <a:ln>
                  <a:noFill/>
                </a:ln>
                <a:solidFill>
                  <a:srgbClr val="272524"/>
                </a:solidFill>
                <a:effectLst/>
              </a:rPr>
              <a:t> de </a:t>
            </a:r>
            <a:r>
              <a:rPr kumimoji="0" lang="en-US" altLang="en-US" sz="1400" b="0" i="1" u="none" strike="noStrike" cap="none" normalizeH="0" baseline="0" dirty="0" err="1">
                <a:ln>
                  <a:noFill/>
                </a:ln>
                <a:solidFill>
                  <a:srgbClr val="272524"/>
                </a:solidFill>
                <a:effectLst/>
              </a:rPr>
              <a:t>Statistique</a:t>
            </a:r>
            <a:r>
              <a:rPr kumimoji="0" lang="en-US" altLang="en-US" sz="1400" b="0" i="0" u="none" strike="noStrike" cap="none" normalizeH="0" baseline="0" dirty="0">
                <a:ln>
                  <a:noFill/>
                </a:ln>
                <a:solidFill>
                  <a:srgbClr val="272524"/>
                </a:solidFill>
                <a:effectLst/>
              </a:rPr>
              <a:t>, </a:t>
            </a:r>
            <a:r>
              <a:rPr kumimoji="0" lang="en-US" altLang="en-US" sz="1400" b="0" i="1" u="none" strike="noStrike" cap="none" normalizeH="0" baseline="0" dirty="0">
                <a:ln>
                  <a:noFill/>
                </a:ln>
                <a:solidFill>
                  <a:srgbClr val="272524"/>
                </a:solidFill>
                <a:effectLst/>
              </a:rPr>
              <a:t>59</a:t>
            </a:r>
            <a:r>
              <a:rPr kumimoji="0" lang="en-US" altLang="en-US" sz="1400" b="0" i="0" u="none" strike="noStrike" cap="none" normalizeH="0" baseline="0" dirty="0">
                <a:ln>
                  <a:noFill/>
                </a:ln>
                <a:solidFill>
                  <a:srgbClr val="272524"/>
                </a:solidFill>
                <a:effectLst/>
              </a:rPr>
              <a:t>(2), 227–240. https://doi.org/10.2307/1403444</a:t>
            </a:r>
          </a:p>
        </p:txBody>
      </p:sp>
    </p:spTree>
    <p:extLst>
      <p:ext uri="{BB962C8B-B14F-4D97-AF65-F5344CB8AC3E}">
        <p14:creationId xmlns:p14="http://schemas.microsoft.com/office/powerpoint/2010/main" val="761720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C127E3-FF22-12B4-71E3-612CEED0D3C1}"/>
              </a:ext>
            </a:extLst>
          </p:cNvPr>
          <p:cNvSpPr>
            <a:spLocks noGrp="1"/>
          </p:cNvSpPr>
          <p:nvPr>
            <p:ph type="sldNum" sz="quarter" idx="11"/>
          </p:nvPr>
        </p:nvSpPr>
        <p:spPr/>
        <p:txBody>
          <a:bodyPr/>
          <a:lstStyle/>
          <a:p>
            <a:fld id="{523A240F-EAFE-E84F-B44C-6D7A08E0E409}" type="slidenum">
              <a:rPr lang="en-US" smtClean="0"/>
              <a:t>19</a:t>
            </a:fld>
            <a:endParaRPr lang="en-US"/>
          </a:p>
        </p:txBody>
      </p:sp>
      <p:sp>
        <p:nvSpPr>
          <p:cNvPr id="3" name="Footer Placeholder 2">
            <a:extLst>
              <a:ext uri="{FF2B5EF4-FFF2-40B4-BE49-F238E27FC236}">
                <a16:creationId xmlns:a16="http://schemas.microsoft.com/office/drawing/2014/main" id="{A1274C43-26EE-6640-8925-9CC66D66DC45}"/>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ED09C3EC-1DCE-987B-9EAD-8B4D47378452}"/>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CAF2CEF8-5374-8D4B-C9D8-65B0887ACC09}"/>
              </a:ext>
            </a:extLst>
          </p:cNvPr>
          <p:cNvSpPr>
            <a:spLocks noGrp="1"/>
          </p:cNvSpPr>
          <p:nvPr>
            <p:ph type="title"/>
          </p:nvPr>
        </p:nvSpPr>
        <p:spPr/>
        <p:txBody>
          <a:bodyPr/>
          <a:lstStyle/>
          <a:p>
            <a:r>
              <a:rPr lang="sv-SE" dirty="0"/>
              <a:t>Supplementary 1: Data Generating Mechanism</a:t>
            </a: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2A4577B-0FEB-2651-D577-B53BB9B29E31}"/>
                  </a:ext>
                </a:extLst>
              </p:cNvPr>
              <p:cNvSpPr txBox="1"/>
              <p:nvPr/>
            </p:nvSpPr>
            <p:spPr>
              <a:xfrm>
                <a:off x="512064" y="1371601"/>
                <a:ext cx="11184422" cy="2572371"/>
              </a:xfrm>
              <a:prstGeom prst="rect">
                <a:avLst/>
              </a:prstGeom>
              <a:noFill/>
            </p:spPr>
            <p:txBody>
              <a:bodyPr wrap="square">
                <a:spAutoFit/>
              </a:bodyPr>
              <a:lstStyle/>
              <a:p>
                <a:pPr lvl="0"/>
                <a:r>
                  <a:rPr lang="en-US" dirty="0"/>
                  <a:t>1) Generate values for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𝑋</m:t>
                        </m:r>
                      </m:e>
                      <m:sub>
                        <m:r>
                          <a:rPr lang="en-US" i="1">
                            <a:latin typeface="Cambria Math" panose="02040503050406030204" pitchFamily="18" charset="0"/>
                          </a:rPr>
                          <m:t>2</m:t>
                        </m:r>
                      </m:sub>
                      <m:sup>
                        <m:r>
                          <a:rPr lang="en-US" i="1">
                            <a:latin typeface="Cambria Math" panose="02040503050406030204" pitchFamily="18" charset="0"/>
                          </a:rPr>
                          <m:t>(</m:t>
                        </m:r>
                        <m:r>
                          <a:rPr lang="en-US" i="1">
                            <a:latin typeface="Cambria Math" panose="02040503050406030204" pitchFamily="18" charset="0"/>
                          </a:rPr>
                          <m:t>𝑐𝑜𝑟𝑟</m:t>
                        </m:r>
                        <m:r>
                          <a:rPr lang="en-US" i="1">
                            <a:latin typeface="Cambria Math" panose="02040503050406030204" pitchFamily="18" charset="0"/>
                          </a:rPr>
                          <m:t>,</m:t>
                        </m:r>
                        <m:r>
                          <a:rPr lang="en-US" i="1">
                            <a:latin typeface="Cambria Math" panose="02040503050406030204" pitchFamily="18" charset="0"/>
                          </a:rPr>
                          <m:t>𝑐𝑜𝑛𝑡</m:t>
                        </m:r>
                        <m:r>
                          <a:rPr lang="en-US" i="1">
                            <a:latin typeface="Cambria Math" panose="02040503050406030204" pitchFamily="18" charset="0"/>
                          </a:rPr>
                          <m:t>)</m:t>
                        </m:r>
                      </m:sup>
                    </m:sSubSup>
                    <m:r>
                      <a:rPr lang="en-US" i="1">
                        <a:latin typeface="Cambria Math" panose="02040503050406030204" pitchFamily="18" charset="0"/>
                      </a:rPr>
                      <m:t> ~ </m:t>
                    </m:r>
                    <m:r>
                      <a:rPr lang="en-US" i="1">
                        <a:latin typeface="Cambria Math" panose="02040503050406030204" pitchFamily="18" charset="0"/>
                      </a:rPr>
                      <m:t>𝑁𝑜𝑟𝑚</m:t>
                    </m:r>
                    <m:r>
                      <a:rPr lang="en-US" i="1">
                        <a:latin typeface="Cambria Math" panose="02040503050406030204" pitchFamily="18" charset="0"/>
                      </a:rPr>
                      <m:t>(</m:t>
                    </m:r>
                    <m:r>
                      <a:rPr lang="en-US" i="1">
                        <a:latin typeface="Cambria Math" panose="02040503050406030204" pitchFamily="18" charset="0"/>
                      </a:rPr>
                      <m:t>𝜇</m:t>
                    </m:r>
                    <m:r>
                      <a:rPr lang="en-US" i="1">
                        <a:latin typeface="Cambria Math" panose="02040503050406030204" pitchFamily="18" charset="0"/>
                      </a:rPr>
                      <m:t> = 28, </m:t>
                    </m:r>
                    <m:r>
                      <a:rPr lang="en-US" i="1">
                        <a:latin typeface="Cambria Math" panose="02040503050406030204" pitchFamily="18" charset="0"/>
                      </a:rPr>
                      <m:t>𝜎</m:t>
                    </m:r>
                    <m:r>
                      <a:rPr lang="en-US" i="1">
                        <a:latin typeface="Cambria Math" panose="02040503050406030204" pitchFamily="18" charset="0"/>
                      </a:rPr>
                      <m:t>=3.5)</m:t>
                    </m:r>
                  </m:oMath>
                </a14:m>
                <a:endParaRPr lang="en-US" dirty="0"/>
              </a:p>
              <a:p>
                <a:pPr lvl="0"/>
                <a:r>
                  <a:rPr lang="en-US" dirty="0"/>
                  <a:t>2) Induce Measurement Error via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𝑋</m:t>
                        </m:r>
                      </m:e>
                      <m:sub>
                        <m:r>
                          <a:rPr lang="en-US" i="1">
                            <a:latin typeface="Cambria Math" panose="02040503050406030204" pitchFamily="18" charset="0"/>
                          </a:rPr>
                          <m:t>2</m:t>
                        </m:r>
                      </m:sub>
                      <m:sup>
                        <m:r>
                          <a:rPr lang="en-US" i="1">
                            <a:latin typeface="Cambria Math" panose="02040503050406030204" pitchFamily="18" charset="0"/>
                          </a:rPr>
                          <m:t>(</m:t>
                        </m:r>
                        <m:r>
                          <a:rPr lang="en-US" i="1">
                            <a:latin typeface="Cambria Math" panose="02040503050406030204" pitchFamily="18" charset="0"/>
                          </a:rPr>
                          <m:t>𝑝𝑟</m:t>
                        </m:r>
                        <m:r>
                          <a:rPr lang="en-US" i="1">
                            <a:latin typeface="Cambria Math" panose="02040503050406030204" pitchFamily="18" charset="0"/>
                          </a:rPr>
                          <m:t>,</m:t>
                        </m:r>
                        <m:r>
                          <a:rPr lang="en-US" i="1">
                            <a:latin typeface="Cambria Math" panose="02040503050406030204" pitchFamily="18" charset="0"/>
                          </a:rPr>
                          <m:t>𝑐𝑜𝑛𝑡</m:t>
                        </m:r>
                        <m:r>
                          <a:rPr lang="en-US" i="1">
                            <a:latin typeface="Cambria Math" panose="02040503050406030204" pitchFamily="18" charset="0"/>
                          </a:rPr>
                          <m:t>)</m:t>
                        </m:r>
                      </m:sup>
                    </m:sSubSup>
                    <m:r>
                      <a:rPr lang="en-US" i="1">
                        <a:latin typeface="Cambria Math" panose="02040503050406030204" pitchFamily="18" charset="0"/>
                      </a:rPr>
                      <m:t> ~ </m:t>
                    </m:r>
                    <m:sSubSup>
                      <m:sSubSupPr>
                        <m:ctrlPr>
                          <a:rPr lang="en-US" i="1">
                            <a:latin typeface="Cambria Math" panose="02040503050406030204" pitchFamily="18" charset="0"/>
                          </a:rPr>
                        </m:ctrlPr>
                      </m:sSubSupPr>
                      <m:e>
                        <m:r>
                          <a:rPr lang="en-US" i="1">
                            <a:latin typeface="Cambria Math" panose="02040503050406030204" pitchFamily="18" charset="0"/>
                          </a:rPr>
                          <m:t>𝑋</m:t>
                        </m:r>
                      </m:e>
                      <m:sub>
                        <m:r>
                          <a:rPr lang="en-US" i="1">
                            <a:latin typeface="Cambria Math" panose="02040503050406030204" pitchFamily="18" charset="0"/>
                          </a:rPr>
                          <m:t>2</m:t>
                        </m:r>
                      </m:sub>
                      <m:sup>
                        <m:r>
                          <a:rPr lang="en-US" i="1">
                            <a:latin typeface="Cambria Math" panose="02040503050406030204" pitchFamily="18" charset="0"/>
                          </a:rPr>
                          <m:t>(</m:t>
                        </m:r>
                        <m:r>
                          <a:rPr lang="en-US" i="1">
                            <a:latin typeface="Cambria Math" panose="02040503050406030204" pitchFamily="18" charset="0"/>
                          </a:rPr>
                          <m:t>𝑐𝑜𝑟𝑟</m:t>
                        </m:r>
                        <m:r>
                          <a:rPr lang="en-US" i="1">
                            <a:latin typeface="Cambria Math" panose="02040503050406030204" pitchFamily="18" charset="0"/>
                          </a:rPr>
                          <m:t>,</m:t>
                        </m:r>
                        <m:r>
                          <a:rPr lang="en-US" i="1">
                            <a:latin typeface="Cambria Math" panose="02040503050406030204" pitchFamily="18" charset="0"/>
                          </a:rPr>
                          <m:t>𝑐𝑜𝑛𝑡</m:t>
                        </m:r>
                        <m:r>
                          <a:rPr lang="en-US" i="1">
                            <a:latin typeface="Cambria Math" panose="02040503050406030204" pitchFamily="18" charset="0"/>
                          </a:rPr>
                          <m:t>)</m:t>
                        </m:r>
                      </m:sup>
                    </m:sSubSup>
                    <m:r>
                      <a:rPr lang="en-US" i="1">
                        <a:latin typeface="Cambria Math" panose="02040503050406030204" pitchFamily="18" charset="0"/>
                      </a:rPr>
                      <m:t>+ ℇ</m:t>
                    </m:r>
                  </m:oMath>
                </a14:m>
                <a:r>
                  <a:rPr lang="en-US" dirty="0"/>
                  <a:t>, where </a:t>
                </a:r>
                <a14:m>
                  <m:oMath xmlns:m="http://schemas.openxmlformats.org/officeDocument/2006/math">
                    <m:r>
                      <a:rPr lang="en-US" i="1">
                        <a:latin typeface="Cambria Math" panose="02040503050406030204" pitchFamily="18" charset="0"/>
                      </a:rPr>
                      <m:t>ℇ ~ </m:t>
                    </m:r>
                    <m:r>
                      <a:rPr lang="en-US" i="1">
                        <a:latin typeface="Cambria Math" panose="02040503050406030204" pitchFamily="18" charset="0"/>
                      </a:rPr>
                      <m:t>𝐿𝑎𝑝𝑙𝑎𝑐𝑒</m:t>
                    </m:r>
                    <m:r>
                      <a:rPr lang="en-US" i="1">
                        <a:latin typeface="Cambria Math" panose="02040503050406030204" pitchFamily="18" charset="0"/>
                      </a:rPr>
                      <m:t>(</m:t>
                    </m:r>
                    <m:r>
                      <a:rPr lang="en-US" i="1">
                        <a:latin typeface="Cambria Math" panose="02040503050406030204" pitchFamily="18" charset="0"/>
                      </a:rPr>
                      <m:t>𝜇</m:t>
                    </m:r>
                    <m:r>
                      <a:rPr lang="en-US" i="1">
                        <a:latin typeface="Cambria Math" panose="02040503050406030204" pitchFamily="18" charset="0"/>
                      </a:rPr>
                      <m:t>=0, </m:t>
                    </m:r>
                    <m:r>
                      <m:rPr>
                        <m:sty m:val="p"/>
                      </m:rPr>
                      <a:rPr lang="en-US">
                        <a:latin typeface="Cambria Math" panose="02040503050406030204" pitchFamily="18" charset="0"/>
                      </a:rPr>
                      <m:t>β</m:t>
                    </m:r>
                    <m:r>
                      <a:rPr lang="en-US">
                        <a:latin typeface="Cambria Math" panose="02040503050406030204" pitchFamily="18" charset="0"/>
                      </a:rPr>
                      <m:t>)</m:t>
                    </m:r>
                  </m:oMath>
                </a14:m>
                <a:endParaRPr lang="en-US" dirty="0"/>
              </a:p>
              <a:p>
                <a:pPr lvl="0"/>
                <a:r>
                  <a:rPr lang="en-US" dirty="0"/>
                  <a:t>3) Dichotomize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𝑋</m:t>
                        </m:r>
                      </m:e>
                      <m:sub>
                        <m:r>
                          <a:rPr lang="en-US" i="1">
                            <a:latin typeface="Cambria Math" panose="02040503050406030204" pitchFamily="18" charset="0"/>
                          </a:rPr>
                          <m:t>2</m:t>
                        </m:r>
                      </m:sub>
                      <m:sup>
                        <m:r>
                          <a:rPr lang="en-US" i="1">
                            <a:latin typeface="Cambria Math" panose="02040503050406030204" pitchFamily="18" charset="0"/>
                          </a:rPr>
                          <m:t>(</m:t>
                        </m:r>
                        <m:r>
                          <a:rPr lang="en-US" i="1">
                            <a:latin typeface="Cambria Math" panose="02040503050406030204" pitchFamily="18" charset="0"/>
                          </a:rPr>
                          <m:t>𝑝𝑟</m:t>
                        </m:r>
                        <m:r>
                          <a:rPr lang="en-US" i="1">
                            <a:latin typeface="Cambria Math" panose="02040503050406030204" pitchFamily="18" charset="0"/>
                          </a:rPr>
                          <m:t>,</m:t>
                        </m:r>
                        <m:r>
                          <a:rPr lang="en-US" i="1">
                            <a:latin typeface="Cambria Math" panose="02040503050406030204" pitchFamily="18" charset="0"/>
                          </a:rPr>
                          <m:t>𝑐𝑜𝑛𝑡</m:t>
                        </m:r>
                        <m:r>
                          <a:rPr lang="en-US" i="1">
                            <a:latin typeface="Cambria Math" panose="02040503050406030204" pitchFamily="18" charset="0"/>
                          </a:rPr>
                          <m:t>)</m:t>
                        </m:r>
                      </m:sup>
                    </m:sSubSup>
                  </m:oMath>
                </a14:m>
                <a:r>
                  <a:rPr lang="en-US" dirty="0"/>
                  <a:t> based on the cutoff value of 30 – notated as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𝑋</m:t>
                        </m:r>
                      </m:e>
                      <m:sub>
                        <m:r>
                          <a:rPr lang="en-US" i="1">
                            <a:latin typeface="Cambria Math" panose="02040503050406030204" pitchFamily="18" charset="0"/>
                          </a:rPr>
                          <m:t>2</m:t>
                        </m:r>
                      </m:sub>
                      <m:sup>
                        <m:r>
                          <a:rPr lang="en-US" i="1">
                            <a:latin typeface="Cambria Math" panose="02040503050406030204" pitchFamily="18" charset="0"/>
                          </a:rPr>
                          <m:t>(</m:t>
                        </m:r>
                        <m:r>
                          <a:rPr lang="en-US" i="1">
                            <a:latin typeface="Cambria Math" panose="02040503050406030204" pitchFamily="18" charset="0"/>
                          </a:rPr>
                          <m:t>𝑝𝑟</m:t>
                        </m:r>
                        <m:r>
                          <a:rPr lang="en-US" i="1">
                            <a:latin typeface="Cambria Math" panose="02040503050406030204" pitchFamily="18" charset="0"/>
                          </a:rPr>
                          <m:t>,</m:t>
                        </m:r>
                        <m:r>
                          <a:rPr lang="en-US" i="1">
                            <a:latin typeface="Cambria Math" panose="02040503050406030204" pitchFamily="18" charset="0"/>
                          </a:rPr>
                          <m:t>𝑑𝑖</m:t>
                        </m:r>
                        <m:r>
                          <a:rPr lang="en-US" i="1">
                            <a:latin typeface="Cambria Math" panose="02040503050406030204" pitchFamily="18" charset="0"/>
                          </a:rPr>
                          <m:t>)</m:t>
                        </m:r>
                      </m:sup>
                    </m:sSubSup>
                  </m:oMath>
                </a14:m>
                <a:r>
                  <a:rPr lang="en-US" dirty="0"/>
                  <a:t> - to create strata</a:t>
                </a:r>
              </a:p>
              <a:p>
                <a:pPr lvl="0"/>
                <a:r>
                  <a:rPr lang="en-US" dirty="0"/>
                  <a:t>4) Assign Treatment Arms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i="1">
                            <a:latin typeface="Cambria Math" panose="02040503050406030204" pitchFamily="18" charset="0"/>
                          </a:rPr>
                          <m:t>1</m:t>
                        </m:r>
                      </m:sub>
                    </m:sSub>
                  </m:oMath>
                </a14:m>
                <a:r>
                  <a:rPr lang="en-US" dirty="0"/>
                  <a:t> equally within each stratum, with 0 being the control and 1 being the treatment</a:t>
                </a:r>
              </a:p>
              <a:p>
                <a:pPr lvl="0"/>
                <a:r>
                  <a:rPr lang="en-US" dirty="0"/>
                  <a:t>5) Generate cumulative probabilities of each category via </a:t>
                </a:r>
                <a14:m>
                  <m:oMath xmlns:m="http://schemas.openxmlformats.org/officeDocument/2006/math">
                    <m:r>
                      <a:rPr lang="en-US" i="1">
                        <a:latin typeface="Cambria Math" panose="02040503050406030204" pitchFamily="18" charset="0"/>
                      </a:rPr>
                      <m:t>𝑙𝑜𝑔𝑖𝑡</m:t>
                    </m:r>
                    <m:d>
                      <m:dPr>
                        <m:ctrlPr>
                          <a:rPr lang="en-US" i="1">
                            <a:latin typeface="Cambria Math" panose="02040503050406030204" pitchFamily="18" charset="0"/>
                          </a:rPr>
                        </m:ctrlPr>
                      </m:dPr>
                      <m:e>
                        <m:r>
                          <a:rPr lang="en-US" i="1">
                            <a:latin typeface="Cambria Math" panose="02040503050406030204" pitchFamily="18" charset="0"/>
                          </a:rPr>
                          <m:t>𝑃𝑟</m:t>
                        </m:r>
                        <m:d>
                          <m:dPr>
                            <m:ctrlPr>
                              <a:rPr lang="en-US" i="1">
                                <a:latin typeface="Cambria Math" panose="02040503050406030204" pitchFamily="18" charset="0"/>
                              </a:rPr>
                            </m:ctrlPr>
                          </m:dPr>
                          <m:e>
                            <m:r>
                              <a:rPr lang="en-US" i="1">
                                <a:latin typeface="Cambria Math" panose="02040503050406030204" pitchFamily="18" charset="0"/>
                              </a:rPr>
                              <m:t>𝑌</m:t>
                            </m:r>
                            <m:r>
                              <a:rPr lang="en-US">
                                <a:latin typeface="Cambria Math" panose="02040503050406030204" pitchFamily="18" charset="0"/>
                              </a:rPr>
                              <m:t>≤</m:t>
                            </m:r>
                            <m:r>
                              <m:rPr>
                                <m:sty m:val="p"/>
                              </m:rPr>
                              <a:rPr lang="en-US">
                                <a:latin typeface="Cambria Math" panose="02040503050406030204" pitchFamily="18" charset="0"/>
                              </a:rPr>
                              <m:t>c</m:t>
                            </m:r>
                          </m:e>
                        </m:d>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𝑐</m:t>
                        </m:r>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η</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η</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i="1">
                            <a:latin typeface="Cambria Math" panose="02040503050406030204" pitchFamily="18" charset="0"/>
                          </a:rPr>
                          <m:t>2</m:t>
                        </m:r>
                      </m:sub>
                    </m:sSub>
                  </m:oMath>
                </a14:m>
                <a:endParaRPr lang="en-US" dirty="0"/>
              </a:p>
              <a:p>
                <a:pPr lvl="0"/>
                <a:r>
                  <a:rPr lang="en-US" dirty="0"/>
                  <a:t>6) Convert cumulative probabilities to probabilities via </a:t>
                </a:r>
                <a14:m>
                  <m:oMath xmlns:m="http://schemas.openxmlformats.org/officeDocument/2006/math">
                    <m:r>
                      <a:rPr lang="en-US" sz="1800" i="1" kern="100" smtClean="0">
                        <a:effectLst/>
                        <a:latin typeface="Cambria Math" panose="02040503050406030204" pitchFamily="18" charset="0"/>
                        <a:ea typeface="Aptos" panose="020B0004020202020204" pitchFamily="34" charset="0"/>
                        <a:cs typeface="Times New Roman" panose="02020603050405020304" pitchFamily="18" charset="0"/>
                      </a:rPr>
                      <m:t>𝑃𝑟</m:t>
                    </m:r>
                    <m:r>
                      <a:rPr lang="en-US" sz="1800" i="1" kern="100" smtClean="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smtClean="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smtClean="0">
                        <a:effectLst/>
                        <a:latin typeface="Cambria Math" panose="02040503050406030204" pitchFamily="18" charset="0"/>
                        <a:ea typeface="Aptos" panose="020B0004020202020204" pitchFamily="34" charset="0"/>
                        <a:cs typeface="Times New Roman" panose="02020603050405020304" pitchFamily="18" charset="0"/>
                      </a:rPr>
                      <m:t>) = </m:t>
                    </m:r>
                    <m:r>
                      <a:rPr lang="en-US" sz="1800" i="1" kern="100" smtClean="0">
                        <a:effectLst/>
                        <a:latin typeface="Cambria Math" panose="02040503050406030204" pitchFamily="18" charset="0"/>
                        <a:ea typeface="Aptos" panose="020B0004020202020204" pitchFamily="34" charset="0"/>
                        <a:cs typeface="Times New Roman" panose="02020603050405020304" pitchFamily="18" charset="0"/>
                      </a:rPr>
                      <m:t>𝑃𝑟</m:t>
                    </m:r>
                    <m:r>
                      <a:rPr lang="en-US" sz="1800" i="1" kern="100" smtClean="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𝑃𝑎𝑖𝑛</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𝐶𝑎𝑡𝑒𝑔𝑜𝑟𝑦</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𝑖</m:t>
                        </m:r>
                      </m:sub>
                    </m:sSub>
                    <m:r>
                      <a:rPr lang="en-US" sz="1800"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 − </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𝑃𝑟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𝑃𝑎𝑖𝑛</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𝐶𝑎𝑡𝑒𝑔𝑜𝑟𝑦</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𝑖</m:t>
                        </m:r>
                      </m:sub>
                    </m:sSub>
                    <m:r>
                      <a:rPr lang="en-US" sz="1800"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oMath>
                </a14:m>
                <a:r>
                  <a:rPr lang="en-US" sz="1800" kern="100" dirty="0">
                    <a:effectLst/>
                    <a:ea typeface="Times New Roman" panose="02020603050405020304" pitchFamily="18" charset="0"/>
                    <a:cs typeface="Times New Roman" panose="02020603050405020304" pitchFamily="18" charset="0"/>
                  </a:rPr>
                  <a:t> for the </a:t>
                </a:r>
                <a14:m>
                  <m:oMath xmlns:m="http://schemas.openxmlformats.org/officeDocument/2006/math">
                    <m:sSup>
                      <m:s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p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𝑖</m:t>
                        </m:r>
                      </m:e>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𝑡h</m:t>
                        </m:r>
                      </m:sup>
                    </m:sSup>
                  </m:oMath>
                </a14:m>
                <a:r>
                  <a:rPr lang="en-US" sz="1800" kern="100" dirty="0">
                    <a:effectLst/>
                    <a:ea typeface="Aptos" panose="020B0004020202020204" pitchFamily="34" charset="0"/>
                    <a:cs typeface="Times New Roman" panose="02020603050405020304" pitchFamily="18" charset="0"/>
                  </a:rPr>
                  <a:t> patient </a:t>
                </a:r>
                <a:r>
                  <a:rPr lang="en-US" sz="1050" kern="100" dirty="0">
                    <a:ea typeface="Aptos" panose="020B0004020202020204" pitchFamily="34" charset="0"/>
                    <a:cs typeface="Times New Roman" panose="02020603050405020304" pitchFamily="18" charset="0"/>
                  </a:rPr>
                  <a:t>(for our case, define the edge cases: </a:t>
                </a:r>
                <a:r>
                  <a:rPr lang="en-US" sz="1050" kern="100" dirty="0" err="1">
                    <a:ea typeface="Aptos" panose="020B0004020202020204" pitchFamily="34" charset="0"/>
                    <a:cs typeface="Times New Roman" panose="02020603050405020304" pitchFamily="18" charset="0"/>
                  </a:rPr>
                  <a:t>Pr</a:t>
                </a:r>
                <a:r>
                  <a:rPr lang="en-US" sz="1050" kern="100" dirty="0">
                    <a:ea typeface="Aptos" panose="020B0004020202020204" pitchFamily="34" charset="0"/>
                    <a:cs typeface="Times New Roman" panose="02020603050405020304" pitchFamily="18" charset="0"/>
                  </a:rPr>
                  <a:t>(c=3) = 1, </a:t>
                </a:r>
                <a:r>
                  <a:rPr lang="en-US" sz="1050" kern="100" dirty="0" err="1">
                    <a:ea typeface="Aptos" panose="020B0004020202020204" pitchFamily="34" charset="0"/>
                    <a:cs typeface="Times New Roman" panose="02020603050405020304" pitchFamily="18" charset="0"/>
                  </a:rPr>
                  <a:t>Pr</a:t>
                </a:r>
                <a:r>
                  <a:rPr lang="en-US" sz="1050" kern="100" dirty="0">
                    <a:ea typeface="Aptos" panose="020B0004020202020204" pitchFamily="34" charset="0"/>
                    <a:cs typeface="Times New Roman" panose="02020603050405020304" pitchFamily="18" charset="0"/>
                  </a:rPr>
                  <a:t>(c=0) = 0)</a:t>
                </a:r>
                <a:endParaRPr lang="en-US" sz="1600" kern="100" dirty="0">
                  <a:ea typeface="Aptos" panose="020B0004020202020204" pitchFamily="34" charset="0"/>
                  <a:cs typeface="Times New Roman" panose="02020603050405020304" pitchFamily="18" charset="0"/>
                </a:endParaRPr>
              </a:p>
              <a:p>
                <a:pPr lvl="0"/>
                <a:r>
                  <a:rPr lang="en-US" sz="1600" kern="100" dirty="0">
                    <a:effectLst/>
                    <a:ea typeface="Aptos" panose="020B0004020202020204" pitchFamily="34" charset="0"/>
                    <a:cs typeface="Times New Roman" panose="02020603050405020304" pitchFamily="18" charset="0"/>
                  </a:rPr>
                  <a:t>7) </a:t>
                </a:r>
                <a:r>
                  <a:rPr lang="en-US" sz="1800" kern="100" dirty="0">
                    <a:effectLst/>
                    <a:ea typeface="Aptos" panose="020B0004020202020204" pitchFamily="34" charset="0"/>
                    <a:cs typeface="Times New Roman" panose="02020603050405020304" pitchFamily="18" charset="0"/>
                  </a:rPr>
                  <a:t>Use categorical distribution to randomly assign a category based on probabilities from previous step</a:t>
                </a:r>
                <a:endParaRPr lang="en-US" sz="1600" kern="100" dirty="0">
                  <a:effectLst/>
                  <a:ea typeface="Aptos" panose="020B0004020202020204" pitchFamily="34"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42A4577B-0FEB-2651-D577-B53BB9B29E31}"/>
                  </a:ext>
                </a:extLst>
              </p:cNvPr>
              <p:cNvSpPr txBox="1">
                <a:spLocks noRot="1" noChangeAspect="1" noMove="1" noResize="1" noEditPoints="1" noAdjustHandles="1" noChangeArrowheads="1" noChangeShapeType="1" noTextEdit="1"/>
              </p:cNvSpPr>
              <p:nvPr/>
            </p:nvSpPr>
            <p:spPr>
              <a:xfrm>
                <a:off x="512064" y="1371601"/>
                <a:ext cx="11184422" cy="2572371"/>
              </a:xfrm>
              <a:prstGeom prst="rect">
                <a:avLst/>
              </a:prstGeom>
              <a:blipFill>
                <a:blip r:embed="rId2"/>
                <a:stretch>
                  <a:fillRect l="-436" b="-2844"/>
                </a:stretch>
              </a:blipFill>
            </p:spPr>
            <p:txBody>
              <a:bodyPr/>
              <a:lstStyle/>
              <a:p>
                <a:r>
                  <a:rPr lang="en-US">
                    <a:noFill/>
                  </a:rPr>
                  <a:t> </a:t>
                </a:r>
              </a:p>
            </p:txBody>
          </p:sp>
        </mc:Fallback>
      </mc:AlternateContent>
    </p:spTree>
    <p:extLst>
      <p:ext uri="{BB962C8B-B14F-4D97-AF65-F5344CB8AC3E}">
        <p14:creationId xmlns:p14="http://schemas.microsoft.com/office/powerpoint/2010/main" val="3425983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C127E3-FF22-12B4-71E3-612CEED0D3C1}"/>
              </a:ext>
            </a:extLst>
          </p:cNvPr>
          <p:cNvSpPr>
            <a:spLocks noGrp="1"/>
          </p:cNvSpPr>
          <p:nvPr>
            <p:ph type="sldNum" sz="quarter" idx="11"/>
          </p:nvPr>
        </p:nvSpPr>
        <p:spPr/>
        <p:txBody>
          <a:bodyPr/>
          <a:lstStyle/>
          <a:p>
            <a:fld id="{523A240F-EAFE-E84F-B44C-6D7A08E0E409}" type="slidenum">
              <a:rPr lang="en-US" smtClean="0"/>
              <a:t>20</a:t>
            </a:fld>
            <a:endParaRPr lang="en-US"/>
          </a:p>
        </p:txBody>
      </p:sp>
      <p:sp>
        <p:nvSpPr>
          <p:cNvPr id="3" name="Footer Placeholder 2">
            <a:extLst>
              <a:ext uri="{FF2B5EF4-FFF2-40B4-BE49-F238E27FC236}">
                <a16:creationId xmlns:a16="http://schemas.microsoft.com/office/drawing/2014/main" id="{A1274C43-26EE-6640-8925-9CC66D66DC45}"/>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ED09C3EC-1DCE-987B-9EAD-8B4D47378452}"/>
              </a:ext>
            </a:extLst>
          </p:cNvPr>
          <p:cNvSpPr>
            <a:spLocks noGrp="1"/>
          </p:cNvSpPr>
          <p:nvPr>
            <p:ph type="body" sz="half" idx="2"/>
          </p:nvPr>
        </p:nvSpPr>
        <p:spPr>
          <a:xfrm>
            <a:off x="512064" y="6382400"/>
            <a:ext cx="4434840" cy="245223"/>
          </a:xfrm>
        </p:spPr>
        <p:txBody>
          <a:bodyPr/>
          <a:lstStyle/>
          <a:p>
            <a:endParaRPr lang="en-US" dirty="0"/>
          </a:p>
        </p:txBody>
      </p:sp>
      <p:sp>
        <p:nvSpPr>
          <p:cNvPr id="5" name="Title 4">
            <a:extLst>
              <a:ext uri="{FF2B5EF4-FFF2-40B4-BE49-F238E27FC236}">
                <a16:creationId xmlns:a16="http://schemas.microsoft.com/office/drawing/2014/main" id="{CAF2CEF8-5374-8D4B-C9D8-65B0887ACC09}"/>
              </a:ext>
            </a:extLst>
          </p:cNvPr>
          <p:cNvSpPr>
            <a:spLocks noGrp="1"/>
          </p:cNvSpPr>
          <p:nvPr>
            <p:ph type="title"/>
          </p:nvPr>
        </p:nvSpPr>
        <p:spPr/>
        <p:txBody>
          <a:bodyPr/>
          <a:lstStyle/>
          <a:p>
            <a:r>
              <a:rPr lang="sv-SE" dirty="0"/>
              <a:t>Supplementary 2: Ordinal Logistic Regression Model</a:t>
            </a: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5603B7C-1107-21A2-AC9B-2FB7426E7A54}"/>
                  </a:ext>
                </a:extLst>
              </p:cNvPr>
              <p:cNvSpPr txBox="1"/>
              <p:nvPr/>
            </p:nvSpPr>
            <p:spPr>
              <a:xfrm>
                <a:off x="504314" y="1537760"/>
                <a:ext cx="3675430" cy="9460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800" i="1" kern="10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𝑃𝑟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𝑌</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num>
                        <m:den>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𝑃𝑟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𝑌</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=0)</m:t>
                          </m:r>
                        </m:den>
                      </m:f>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f>
                        <m:f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fPr>
                        <m:num>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𝑃𝑟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𝑌</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num>
                        <m:den>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𝑃𝑟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𝑌</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den>
                      </m:f>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f>
                        <m:f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fPr>
                        <m:num>
                          <m:sSub>
                            <m:sSub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π</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num>
                        <m:den>
                          <m:sSub>
                            <m:sSub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π</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den>
                      </m:f>
                      <m:r>
                        <a:rPr lang="en-US" sz="1800" i="1" kern="100">
                          <a:effectLst/>
                          <a:latin typeface="Cambria Math" panose="02040503050406030204" pitchFamily="18" charset="0"/>
                          <a:ea typeface="Aptos" panose="020B0004020202020204" pitchFamily="34" charset="0"/>
                          <a:cs typeface="Times New Roman" panose="02020603050405020304" pitchFamily="18" charset="0"/>
                        </a:rPr>
                        <m:t>  </m:t>
                      </m:r>
                    </m:oMath>
                  </m:oMathPara>
                </a14:m>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gn="l"/>
                <a:endParaRPr lang="en-US" dirty="0">
                  <a:solidFill>
                    <a:srgbClr val="272524"/>
                  </a:solidFill>
                </a:endParaRPr>
              </a:p>
            </p:txBody>
          </p:sp>
        </mc:Choice>
        <mc:Fallback xmlns="">
          <p:sp>
            <p:nvSpPr>
              <p:cNvPr id="6" name="TextBox 5">
                <a:extLst>
                  <a:ext uri="{FF2B5EF4-FFF2-40B4-BE49-F238E27FC236}">
                    <a16:creationId xmlns:a16="http://schemas.microsoft.com/office/drawing/2014/main" id="{75603B7C-1107-21A2-AC9B-2FB7426E7A54}"/>
                  </a:ext>
                </a:extLst>
              </p:cNvPr>
              <p:cNvSpPr txBox="1">
                <a:spLocks noRot="1" noChangeAspect="1" noMove="1" noResize="1" noEditPoints="1" noAdjustHandles="1" noChangeArrowheads="1" noChangeShapeType="1" noTextEdit="1"/>
              </p:cNvSpPr>
              <p:nvPr/>
            </p:nvSpPr>
            <p:spPr>
              <a:xfrm>
                <a:off x="504314" y="1537760"/>
                <a:ext cx="3675430" cy="94609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6CAB097-55DE-E7D7-FCDF-916512D7D2A2}"/>
                  </a:ext>
                </a:extLst>
              </p:cNvPr>
              <p:cNvSpPr txBox="1"/>
              <p:nvPr/>
            </p:nvSpPr>
            <p:spPr>
              <a:xfrm>
                <a:off x="504314" y="3560398"/>
                <a:ext cx="5841920" cy="7069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𝑃𝑟</m:t>
                          </m:r>
                          <m:d>
                            <m:dPr>
                              <m:ctrlPr>
                                <a:rPr lang="en-US" i="1">
                                  <a:latin typeface="Cambria Math" panose="02040503050406030204" pitchFamily="18" charset="0"/>
                                </a:rPr>
                              </m:ctrlPr>
                            </m:dPr>
                            <m:e>
                              <m:r>
                                <a:rPr lang="en-US" i="1">
                                  <a:latin typeface="Cambria Math" panose="02040503050406030204" pitchFamily="18" charset="0"/>
                                </a:rPr>
                                <m:t>𝑌</m:t>
                              </m:r>
                              <m:r>
                                <a:rPr lang="en-US">
                                  <a:latin typeface="Cambria Math" panose="02040503050406030204" pitchFamily="18" charset="0"/>
                                </a:rPr>
                                <m:t>≤</m:t>
                              </m:r>
                              <m:r>
                                <m:rPr>
                                  <m:sty m:val="p"/>
                                </m:rPr>
                                <a:rPr lang="en-US">
                                  <a:latin typeface="Cambria Math" panose="02040503050406030204" pitchFamily="18" charset="0"/>
                                </a:rPr>
                                <m:t>c</m:t>
                              </m:r>
                            </m:e>
                          </m:d>
                          <m:r>
                            <a:rPr lang="en-US">
                              <a:latin typeface="Cambria Math" panose="02040503050406030204" pitchFamily="18" charset="0"/>
                            </a:rPr>
                            <m:t> </m:t>
                          </m:r>
                        </m:num>
                        <m:den>
                          <m:r>
                            <a:rPr lang="en-US" i="1">
                              <a:latin typeface="Cambria Math" panose="02040503050406030204" pitchFamily="18" charset="0"/>
                            </a:rPr>
                            <m:t>𝑃𝑟</m:t>
                          </m:r>
                          <m:d>
                            <m:dPr>
                              <m:ctrlPr>
                                <a:rPr lang="en-US" i="1">
                                  <a:latin typeface="Cambria Math" panose="02040503050406030204" pitchFamily="18" charset="0"/>
                                </a:rPr>
                              </m:ctrlPr>
                            </m:dPr>
                            <m:e>
                              <m:r>
                                <a:rPr lang="en-US" i="1">
                                  <a:latin typeface="Cambria Math" panose="02040503050406030204" pitchFamily="18" charset="0"/>
                                </a:rPr>
                                <m:t>𝑌</m:t>
                              </m:r>
                              <m:r>
                                <a:rPr lang="en-US">
                                  <a:latin typeface="Cambria Math" panose="02040503050406030204" pitchFamily="18" charset="0"/>
                                </a:rPr>
                                <m:t>&gt;</m:t>
                              </m:r>
                              <m:r>
                                <m:rPr>
                                  <m:sty m:val="p"/>
                                </m:rPr>
                                <a:rPr lang="en-US">
                                  <a:latin typeface="Cambria Math" panose="02040503050406030204" pitchFamily="18" charset="0"/>
                                </a:rPr>
                                <m:t>c</m:t>
                              </m:r>
                            </m:e>
                          </m:d>
                        </m:den>
                      </m:f>
                      <m:r>
                        <a:rPr lang="en-US" i="1">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𝑃𝑟</m:t>
                          </m:r>
                          <m:d>
                            <m:dPr>
                              <m:ctrlPr>
                                <a:rPr lang="en-US" i="1">
                                  <a:latin typeface="Cambria Math" panose="02040503050406030204" pitchFamily="18" charset="0"/>
                                </a:rPr>
                              </m:ctrlPr>
                            </m:dPr>
                            <m:e>
                              <m:r>
                                <a:rPr lang="en-US" i="1">
                                  <a:latin typeface="Cambria Math" panose="02040503050406030204" pitchFamily="18" charset="0"/>
                                </a:rPr>
                                <m:t>𝑌</m:t>
                              </m:r>
                              <m:r>
                                <a:rPr lang="en-US">
                                  <a:latin typeface="Cambria Math" panose="02040503050406030204" pitchFamily="18" charset="0"/>
                                </a:rPr>
                                <m:t>≤</m:t>
                              </m:r>
                              <m:r>
                                <m:rPr>
                                  <m:sty m:val="p"/>
                                </m:rPr>
                                <a:rPr lang="en-US">
                                  <a:latin typeface="Cambria Math" panose="02040503050406030204" pitchFamily="18" charset="0"/>
                                </a:rPr>
                                <m:t>c</m:t>
                              </m:r>
                            </m:e>
                          </m:d>
                          <m:r>
                            <a:rPr lang="en-US">
                              <a:latin typeface="Cambria Math" panose="02040503050406030204" pitchFamily="18" charset="0"/>
                            </a:rPr>
                            <m:t> </m:t>
                          </m:r>
                        </m:num>
                        <m:den>
                          <m:r>
                            <a:rPr lang="en-US" i="1">
                              <a:latin typeface="Cambria Math" panose="02040503050406030204" pitchFamily="18" charset="0"/>
                            </a:rPr>
                            <m:t>1−</m:t>
                          </m:r>
                          <m:r>
                            <a:rPr lang="en-US" i="1">
                              <a:latin typeface="Cambria Math" panose="02040503050406030204" pitchFamily="18" charset="0"/>
                            </a:rPr>
                            <m:t>𝑃𝑟</m:t>
                          </m:r>
                          <m:d>
                            <m:dPr>
                              <m:ctrlPr>
                                <a:rPr lang="en-US" i="1">
                                  <a:latin typeface="Cambria Math" panose="02040503050406030204" pitchFamily="18" charset="0"/>
                                </a:rPr>
                              </m:ctrlPr>
                            </m:dPr>
                            <m:e>
                              <m:r>
                                <a:rPr lang="en-US" i="1">
                                  <a:latin typeface="Cambria Math" panose="02040503050406030204" pitchFamily="18" charset="0"/>
                                </a:rPr>
                                <m:t>𝑌</m:t>
                              </m:r>
                              <m:r>
                                <a:rPr lang="en-US">
                                  <a:latin typeface="Cambria Math" panose="02040503050406030204" pitchFamily="18" charset="0"/>
                                </a:rPr>
                                <m:t>≤</m:t>
                              </m:r>
                              <m:r>
                                <m:rPr>
                                  <m:sty m:val="p"/>
                                </m:rPr>
                                <a:rPr lang="en-US">
                                  <a:latin typeface="Cambria Math" panose="02040503050406030204" pitchFamily="18" charset="0"/>
                                </a:rPr>
                                <m:t>c</m:t>
                              </m:r>
                            </m:e>
                          </m:d>
                          <m:r>
                            <a:rPr lang="en-US">
                              <a:latin typeface="Cambria Math" panose="02040503050406030204" pitchFamily="18" charset="0"/>
                            </a:rPr>
                            <m:t> </m:t>
                          </m:r>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i="1">
                                  <a:latin typeface="Cambria Math" panose="02040503050406030204" pitchFamily="18" charset="0"/>
                                </a:rPr>
                                <m:t>𝑐</m:t>
                              </m:r>
                            </m:sub>
                          </m:sSub>
                        </m:num>
                        <m:den>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i="1">
                                  <a:latin typeface="Cambria Math" panose="02040503050406030204" pitchFamily="18" charset="0"/>
                                </a:rPr>
                                <m:t>𝑐</m:t>
                              </m:r>
                            </m:sub>
                          </m:sSub>
                        </m:den>
                      </m:f>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a:latin typeface="Cambria Math" panose="02040503050406030204" pitchFamily="18" charset="0"/>
                                </a:rPr>
                                <m:t>π</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π</m:t>
                              </m:r>
                            </m:e>
                            <m:sub>
                              <m:r>
                                <a:rPr lang="en-US" i="1">
                                  <a:latin typeface="Cambria Math" panose="02040503050406030204" pitchFamily="18" charset="0"/>
                                </a:rPr>
                                <m:t>𝑐</m:t>
                              </m:r>
                            </m:sub>
                          </m:sSub>
                        </m:num>
                        <m:den>
                          <m:sSub>
                            <m:sSubPr>
                              <m:ctrlPr>
                                <a:rPr lang="en-US" i="1">
                                  <a:latin typeface="Cambria Math" panose="02040503050406030204" pitchFamily="18" charset="0"/>
                                </a:rPr>
                              </m:ctrlPr>
                            </m:sSubPr>
                            <m:e>
                              <m:r>
                                <m:rPr>
                                  <m:sty m:val="p"/>
                                </m:rPr>
                                <a:rPr lang="en-US">
                                  <a:latin typeface="Cambria Math" panose="02040503050406030204" pitchFamily="18" charset="0"/>
                                </a:rPr>
                                <m:t>π</m:t>
                              </m:r>
                            </m:e>
                            <m:sub>
                              <m:r>
                                <a:rPr lang="en-US" i="1">
                                  <a:latin typeface="Cambria Math" panose="02040503050406030204" pitchFamily="18" charset="0"/>
                                </a:rPr>
                                <m:t>𝑐</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π</m:t>
                              </m:r>
                            </m:e>
                            <m:sub>
                              <m:r>
                                <a:rPr lang="en-US" i="1">
                                  <a:latin typeface="Cambria Math" panose="02040503050406030204" pitchFamily="18" charset="0"/>
                                </a:rPr>
                                <m:t>𝐽</m:t>
                              </m:r>
                              <m:r>
                                <a:rPr lang="en-US" i="1">
                                  <a:latin typeface="Cambria Math" panose="02040503050406030204" pitchFamily="18" charset="0"/>
                                </a:rPr>
                                <m:t>−1</m:t>
                              </m:r>
                            </m:sub>
                          </m:sSub>
                        </m:den>
                      </m:f>
                    </m:oMath>
                  </m:oMathPara>
                </a14:m>
                <a:endParaRPr lang="en-US" dirty="0"/>
              </a:p>
            </p:txBody>
          </p:sp>
        </mc:Choice>
        <mc:Fallback xmlns="">
          <p:sp>
            <p:nvSpPr>
              <p:cNvPr id="7" name="TextBox 6">
                <a:extLst>
                  <a:ext uri="{FF2B5EF4-FFF2-40B4-BE49-F238E27FC236}">
                    <a16:creationId xmlns:a16="http://schemas.microsoft.com/office/drawing/2014/main" id="{46CAB097-55DE-E7D7-FCDF-916512D7D2A2}"/>
                  </a:ext>
                </a:extLst>
              </p:cNvPr>
              <p:cNvSpPr txBox="1">
                <a:spLocks noRot="1" noChangeAspect="1" noMove="1" noResize="1" noEditPoints="1" noAdjustHandles="1" noChangeArrowheads="1" noChangeShapeType="1" noTextEdit="1"/>
              </p:cNvSpPr>
              <p:nvPr/>
            </p:nvSpPr>
            <p:spPr>
              <a:xfrm>
                <a:off x="504314" y="3560398"/>
                <a:ext cx="5841920" cy="70698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1C05519-1187-A641-3DF6-EA7534C1A316}"/>
                  </a:ext>
                </a:extLst>
              </p:cNvPr>
              <p:cNvSpPr txBox="1"/>
              <p:nvPr/>
            </p:nvSpPr>
            <p:spPr>
              <a:xfrm>
                <a:off x="504314" y="2359788"/>
                <a:ext cx="6660734" cy="669094"/>
              </a:xfrm>
              <a:prstGeom prst="rect">
                <a:avLst/>
              </a:prstGeom>
              <a:noFill/>
            </p:spPr>
            <p:txBody>
              <a:bodyPr wrap="none" rtlCol="0">
                <a:spAutoFit/>
              </a:bodyPr>
              <a:lstStyle/>
              <a:p>
                <a:pPr algn="l"/>
                <a14:m>
                  <m:oMathPara xmlns:m="http://schemas.openxmlformats.org/officeDocument/2006/math">
                    <m:oMathParaPr>
                      <m:jc m:val="centerGroup"/>
                    </m:oMathParaPr>
                    <m:oMath xmlns:m="http://schemas.openxmlformats.org/officeDocument/2006/math">
                      <m:r>
                        <a:rPr lang="en-US" sz="1800" i="1" smtClean="0">
                          <a:effectLst/>
                          <a:latin typeface="Cambria Math" panose="02040503050406030204" pitchFamily="18" charset="0"/>
                          <a:ea typeface="Aptos" panose="020B0004020202020204" pitchFamily="34" charset="0"/>
                          <a:cs typeface="Times New Roman" panose="02020603050405020304" pitchFamily="18" charset="0"/>
                        </a:rPr>
                        <m:t>𝑙𝑛</m:t>
                      </m:r>
                      <m:r>
                        <a:rPr lang="en-US" sz="1800" i="1" smtClean="0">
                          <a:effectLst/>
                          <a:latin typeface="Cambria Math" panose="02040503050406030204" pitchFamily="18" charset="0"/>
                          <a:ea typeface="Aptos" panose="020B0004020202020204" pitchFamily="34" charset="0"/>
                          <a:cs typeface="Times New Roman" panose="02020603050405020304" pitchFamily="18" charset="0"/>
                        </a:rPr>
                        <m:t>(</m:t>
                      </m:r>
                      <m:f>
                        <m:fPr>
                          <m:ctrlPr>
                            <a:rPr lang="en-US" sz="1800" i="1">
                              <a:effectLst/>
                              <a:latin typeface="Cambria Math" panose="02040503050406030204" pitchFamily="18" charset="0"/>
                              <a:cs typeface="Times New Roman" panose="02020603050405020304" pitchFamily="18" charset="0"/>
                            </a:rPr>
                          </m:ctrlPr>
                        </m:fPr>
                        <m:num>
                          <m:r>
                            <a:rPr lang="en-US" sz="1800" i="1">
                              <a:effectLst/>
                              <a:latin typeface="Cambria Math" panose="02040503050406030204" pitchFamily="18" charset="0"/>
                              <a:ea typeface="Aptos" panose="020B0004020202020204" pitchFamily="34" charset="0"/>
                              <a:cs typeface="Times New Roman" panose="02020603050405020304" pitchFamily="18" charset="0"/>
                            </a:rPr>
                            <m:t>𝑃𝑟</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𝑌</m:t>
                          </m:r>
                          <m:r>
                            <a:rPr lang="en-US"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en-US" sz="1800" i="1">
                              <a:effectLst/>
                              <a:latin typeface="Cambria Math" panose="02040503050406030204" pitchFamily="18" charset="0"/>
                              <a:ea typeface="Aptos" panose="020B0004020202020204" pitchFamily="34" charset="0"/>
                              <a:cs typeface="Times New Roman" panose="02020603050405020304" pitchFamily="18" charset="0"/>
                            </a:rPr>
                            <m:t>1−</m:t>
                          </m:r>
                          <m:r>
                            <a:rPr lang="en-US" sz="1800" i="1">
                              <a:effectLst/>
                              <a:latin typeface="Cambria Math" panose="02040503050406030204" pitchFamily="18" charset="0"/>
                              <a:ea typeface="Aptos" panose="020B0004020202020204" pitchFamily="34" charset="0"/>
                              <a:cs typeface="Times New Roman" panose="02020603050405020304" pitchFamily="18" charset="0"/>
                            </a:rPr>
                            <m:t>𝑃𝑟</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𝑌</m:t>
                          </m:r>
                          <m:r>
                            <a:rPr lang="en-US" sz="1800" i="1">
                              <a:effectLst/>
                              <a:latin typeface="Cambria Math" panose="02040503050406030204" pitchFamily="18" charset="0"/>
                              <a:ea typeface="Aptos" panose="020B0004020202020204" pitchFamily="34" charset="0"/>
                              <a:cs typeface="Times New Roman" panose="02020603050405020304" pitchFamily="18" charset="0"/>
                            </a:rPr>
                            <m:t>=1)</m:t>
                          </m:r>
                        </m:den>
                      </m:f>
                      <m:r>
                        <a:rPr lang="en-US" sz="1800" i="1">
                          <a:effectLst/>
                          <a:latin typeface="Cambria Math" panose="02040503050406030204" pitchFamily="18" charset="0"/>
                          <a:ea typeface="Aptos" panose="020B0004020202020204" pitchFamily="34" charset="0"/>
                          <a:cs typeface="Times New Roman" panose="02020603050405020304" pitchFamily="18" charset="0"/>
                        </a:rPr>
                        <m:t>) = </m:t>
                      </m:r>
                      <m:r>
                        <a:rPr lang="en-US" sz="1800" i="1">
                          <a:effectLst/>
                          <a:latin typeface="Cambria Math" panose="02040503050406030204" pitchFamily="18" charset="0"/>
                          <a:ea typeface="Aptos" panose="020B0004020202020204" pitchFamily="34" charset="0"/>
                          <a:cs typeface="Times New Roman" panose="02020603050405020304" pitchFamily="18" charset="0"/>
                        </a:rPr>
                        <m:t>𝑙𝑜𝑔𝑖𝑡</m:t>
                      </m:r>
                      <m:d>
                        <m:dPr>
                          <m:ctrlPr>
                            <a:rPr lang="en-US" sz="1800" i="1">
                              <a:effectLst/>
                              <a:latin typeface="Cambria Math" panose="02040503050406030204" pitchFamily="18" charset="0"/>
                              <a:cs typeface="Times New Roman" panose="02020603050405020304" pitchFamily="18" charset="0"/>
                            </a:rPr>
                          </m:ctrlPr>
                        </m:dPr>
                        <m:e>
                          <m:r>
                            <a:rPr lang="en-US" sz="1800" i="1">
                              <a:effectLst/>
                              <a:latin typeface="Cambria Math" panose="02040503050406030204" pitchFamily="18" charset="0"/>
                              <a:ea typeface="Aptos" panose="020B0004020202020204" pitchFamily="34" charset="0"/>
                              <a:cs typeface="Times New Roman" panose="02020603050405020304" pitchFamily="18" charset="0"/>
                            </a:rPr>
                            <m:t>𝑃𝑟</m:t>
                          </m:r>
                          <m:d>
                            <m:dPr>
                              <m:ctrlPr>
                                <a:rPr lang="en-US" sz="1800" i="1">
                                  <a:effectLst/>
                                  <a:latin typeface="Cambria Math" panose="02040503050406030204" pitchFamily="18" charset="0"/>
                                  <a:cs typeface="Times New Roman" panose="02020603050405020304" pitchFamily="18" charset="0"/>
                                </a:rPr>
                              </m:ctrlPr>
                            </m:dPr>
                            <m:e>
                              <m:r>
                                <a:rPr lang="en-US" sz="1800" i="1">
                                  <a:effectLst/>
                                  <a:latin typeface="Cambria Math" panose="02040503050406030204" pitchFamily="18" charset="0"/>
                                  <a:ea typeface="Aptos" panose="020B0004020202020204" pitchFamily="34" charset="0"/>
                                  <a:cs typeface="Times New Roman" panose="02020603050405020304" pitchFamily="18" charset="0"/>
                                </a:rPr>
                                <m:t>𝑌</m:t>
                              </m:r>
                              <m:r>
                                <a:rPr lang="en-US" sz="1800">
                                  <a:effectLst/>
                                  <a:latin typeface="Cambria Math" panose="02040503050406030204" pitchFamily="18" charset="0"/>
                                  <a:ea typeface="Aptos" panose="020B0004020202020204" pitchFamily="34" charset="0"/>
                                  <a:cs typeface="Times New Roman" panose="02020603050405020304" pitchFamily="18" charset="0"/>
                                </a:rPr>
                                <m:t>=1</m:t>
                              </m:r>
                            </m:e>
                          </m:d>
                        </m:e>
                      </m:d>
                      <m:r>
                        <a:rPr lang="en-US"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a:effectLst/>
                              <a:latin typeface="Cambria Math" panose="02040503050406030204" pitchFamily="18" charset="0"/>
                              <a:cs typeface="Times New Roman" panose="02020603050405020304" pitchFamily="18" charset="0"/>
                            </a:rPr>
                          </m:ctrlPr>
                        </m:sSubPr>
                        <m:e>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β</m:t>
                          </m:r>
                        </m:e>
                        <m:sub>
                          <m:r>
                            <a:rPr lang="en-US" sz="1800" i="1">
                              <a:effectLst/>
                              <a:latin typeface="Cambria Math" panose="02040503050406030204" pitchFamily="18" charset="0"/>
                              <a:ea typeface="Aptos" panose="020B0004020202020204" pitchFamily="34" charset="0"/>
                              <a:cs typeface="Times New Roman" panose="02020603050405020304" pitchFamily="18" charset="0"/>
                            </a:rPr>
                            <m:t>0</m:t>
                          </m:r>
                        </m:sub>
                      </m:sSub>
                      <m:r>
                        <a:rPr lang="en-US" sz="1800" i="1">
                          <a:effectLst/>
                          <a:latin typeface="Cambria Math" panose="02040503050406030204" pitchFamily="18" charset="0"/>
                          <a:ea typeface="Aptos" panose="020B0004020202020204" pitchFamily="34" charset="0"/>
                          <a:cs typeface="Times New Roman" panose="02020603050405020304" pitchFamily="18" charset="0"/>
                        </a:rPr>
                        <m:t> +</m:t>
                      </m:r>
                      <m:sSub>
                        <m:sSubPr>
                          <m:ctrlPr>
                            <a:rPr lang="en-US" sz="1800" i="1">
                              <a:effectLst/>
                              <a:latin typeface="Cambria Math" panose="02040503050406030204" pitchFamily="18" charset="0"/>
                              <a:cs typeface="Times New Roman" panose="02020603050405020304" pitchFamily="18" charset="0"/>
                            </a:rPr>
                          </m:ctrlPr>
                        </m:sSubPr>
                        <m:e>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β</m:t>
                          </m:r>
                        </m:e>
                        <m:sub>
                          <m:r>
                            <a:rPr lang="en-US" sz="1800" i="1">
                              <a:effectLst/>
                              <a:latin typeface="Cambria Math" panose="02040503050406030204" pitchFamily="18" charset="0"/>
                              <a:ea typeface="Aptos" panose="020B0004020202020204" pitchFamily="34" charset="0"/>
                              <a:cs typeface="Times New Roman" panose="02020603050405020304" pitchFamily="18" charset="0"/>
                            </a:rPr>
                            <m:t>1</m:t>
                          </m:r>
                        </m:sub>
                      </m:sSub>
                      <m:sSub>
                        <m:sSubPr>
                          <m:ctrlPr>
                            <a:rPr lang="en-US" sz="1800" i="1">
                              <a:effectLst/>
                              <a:latin typeface="Cambria Math" panose="02040503050406030204" pitchFamily="18" charset="0"/>
                              <a:cs typeface="Times New Roman" panose="02020603050405020304" pitchFamily="18" charset="0"/>
                            </a:rPr>
                          </m:ctrlPr>
                        </m:sSubPr>
                        <m:e>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X</m:t>
                          </m:r>
                        </m:e>
                        <m:sub>
                          <m:r>
                            <a:rPr lang="en-US" sz="1800" i="1">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a:effectLst/>
                              <a:latin typeface="Cambria Math" panose="02040503050406030204" pitchFamily="18" charset="0"/>
                              <a:cs typeface="Times New Roman" panose="02020603050405020304" pitchFamily="18" charset="0"/>
                            </a:rPr>
                          </m:ctrlPr>
                        </m:sSubPr>
                        <m:e>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β</m:t>
                          </m:r>
                        </m:e>
                        <m:sub>
                          <m:r>
                            <a:rPr lang="en-US" sz="1800" i="1">
                              <a:effectLst/>
                              <a:latin typeface="Cambria Math" panose="02040503050406030204" pitchFamily="18" charset="0"/>
                              <a:ea typeface="Aptos" panose="020B0004020202020204" pitchFamily="34" charset="0"/>
                              <a:cs typeface="Times New Roman" panose="02020603050405020304" pitchFamily="18" charset="0"/>
                            </a:rPr>
                            <m:t>𝑘</m:t>
                          </m:r>
                        </m:sub>
                      </m:sSub>
                      <m:sSub>
                        <m:sSubPr>
                          <m:ctrlPr>
                            <a:rPr lang="en-US" sz="1800" i="1">
                              <a:effectLst/>
                              <a:latin typeface="Cambria Math" panose="02040503050406030204" pitchFamily="18" charset="0"/>
                              <a:cs typeface="Times New Roman" panose="02020603050405020304" pitchFamily="18" charset="0"/>
                            </a:rPr>
                          </m:ctrlPr>
                        </m:sSubPr>
                        <m:e>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X</m:t>
                          </m:r>
                        </m:e>
                        <m:sub>
                          <m:r>
                            <a:rPr lang="en-US" sz="1800" i="1">
                              <a:effectLst/>
                              <a:latin typeface="Cambria Math" panose="02040503050406030204" pitchFamily="18" charset="0"/>
                              <a:ea typeface="Aptos" panose="020B0004020202020204" pitchFamily="34" charset="0"/>
                              <a:cs typeface="Times New Roman" panose="02020603050405020304" pitchFamily="18" charset="0"/>
                            </a:rPr>
                            <m:t>𝑘</m:t>
                          </m:r>
                        </m:sub>
                      </m:sSub>
                    </m:oMath>
                  </m:oMathPara>
                </a14:m>
                <a:endParaRPr lang="en-US" dirty="0">
                  <a:solidFill>
                    <a:srgbClr val="272524"/>
                  </a:solidFill>
                </a:endParaRPr>
              </a:p>
            </p:txBody>
          </p:sp>
        </mc:Choice>
        <mc:Fallback xmlns="">
          <p:sp>
            <p:nvSpPr>
              <p:cNvPr id="8" name="TextBox 7">
                <a:extLst>
                  <a:ext uri="{FF2B5EF4-FFF2-40B4-BE49-F238E27FC236}">
                    <a16:creationId xmlns:a16="http://schemas.microsoft.com/office/drawing/2014/main" id="{21C05519-1187-A641-3DF6-EA7534C1A316}"/>
                  </a:ext>
                </a:extLst>
              </p:cNvPr>
              <p:cNvSpPr txBox="1">
                <a:spLocks noRot="1" noChangeAspect="1" noMove="1" noResize="1" noEditPoints="1" noAdjustHandles="1" noChangeArrowheads="1" noChangeShapeType="1" noTextEdit="1"/>
              </p:cNvSpPr>
              <p:nvPr/>
            </p:nvSpPr>
            <p:spPr>
              <a:xfrm>
                <a:off x="504314" y="2359788"/>
                <a:ext cx="6660734" cy="66909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AD0663C-D9C5-A548-2E50-D150BBC37910}"/>
                  </a:ext>
                </a:extLst>
              </p:cNvPr>
              <p:cNvSpPr txBox="1"/>
              <p:nvPr/>
            </p:nvSpPr>
            <p:spPr>
              <a:xfrm>
                <a:off x="7749" y="4350466"/>
                <a:ext cx="7885083" cy="7574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𝛾</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𝑒𝑥𝑝</m:t>
                          </m:r>
                          <m:d>
                            <m:dPr>
                              <m:ctrlPr>
                                <a:rPr lang="en-US" i="1">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𝑐</m:t>
                                  </m:r>
                                </m:sub>
                              </m:sSub>
                              <m:r>
                                <a:rPr lang="en-US" i="0">
                                  <a:latin typeface="Cambria Math" panose="02040503050406030204" pitchFamily="18" charset="0"/>
                                </a:rPr>
                                <m:t>−</m:t>
                              </m:r>
                              <m:d>
                                <m:dPr>
                                  <m:ctrlPr>
                                    <a:rPr lang="en-US" i="1">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β</m:t>
                                      </m:r>
                                    </m:e>
                                    <m:sub>
                                      <m:r>
                                        <a:rPr lang="en-US" i="0">
                                          <a:latin typeface="Cambria Math" panose="02040503050406030204" pitchFamily="18" charset="0"/>
                                        </a:rPr>
                                        <m:t>1</m:t>
                                      </m:r>
                                    </m:sub>
                                  </m:sSub>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X</m:t>
                                      </m:r>
                                    </m:e>
                                    <m:sub>
                                      <m:r>
                                        <a:rPr lang="en-US" i="0">
                                          <a:latin typeface="Cambria Math" panose="02040503050406030204" pitchFamily="18" charset="0"/>
                                        </a:rPr>
                                        <m:t>1</m:t>
                                      </m:r>
                                    </m:sub>
                                  </m:sSub>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β</m:t>
                                      </m:r>
                                    </m:e>
                                    <m:sub>
                                      <m:r>
                                        <a:rPr lang="en-US" i="1">
                                          <a:latin typeface="Cambria Math" panose="02040503050406030204" pitchFamily="18" charset="0"/>
                                        </a:rPr>
                                        <m:t>𝑘</m:t>
                                      </m:r>
                                    </m:sub>
                                  </m:sSub>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X</m:t>
                                      </m:r>
                                    </m:e>
                                    <m:sub>
                                      <m:r>
                                        <a:rPr lang="en-US" i="1">
                                          <a:latin typeface="Cambria Math" panose="02040503050406030204" pitchFamily="18" charset="0"/>
                                        </a:rPr>
                                        <m:t>𝑘</m:t>
                                      </m:r>
                                    </m:sub>
                                  </m:sSub>
                                </m:e>
                              </m:d>
                            </m:e>
                          </m:d>
                        </m:num>
                        <m:den>
                          <m:r>
                            <a:rPr lang="en-US" i="0">
                              <a:latin typeface="Cambria Math" panose="02040503050406030204" pitchFamily="18" charset="0"/>
                            </a:rPr>
                            <m:t>1+</m:t>
                          </m:r>
                          <m:r>
                            <a:rPr lang="en-US" i="1">
                              <a:latin typeface="Cambria Math" panose="02040503050406030204" pitchFamily="18" charset="0"/>
                            </a:rPr>
                            <m:t>𝑒𝑥𝑝</m:t>
                          </m:r>
                          <m:d>
                            <m:dPr>
                              <m:ctrlPr>
                                <a:rPr lang="en-US" i="1">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𝑐</m:t>
                                  </m:r>
                                </m:sub>
                              </m:sSub>
                              <m:r>
                                <a:rPr lang="en-US" i="0">
                                  <a:latin typeface="Cambria Math" panose="02040503050406030204" pitchFamily="18" charset="0"/>
                                </a:rPr>
                                <m:t>−</m:t>
                              </m:r>
                              <m:d>
                                <m:dPr>
                                  <m:ctrlPr>
                                    <a:rPr lang="en-US" i="1">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β</m:t>
                                      </m:r>
                                    </m:e>
                                    <m:sub>
                                      <m:r>
                                        <a:rPr lang="en-US" i="0">
                                          <a:latin typeface="Cambria Math" panose="02040503050406030204" pitchFamily="18" charset="0"/>
                                        </a:rPr>
                                        <m:t>1</m:t>
                                      </m:r>
                                    </m:sub>
                                  </m:sSub>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X</m:t>
                                      </m:r>
                                    </m:e>
                                    <m:sub>
                                      <m:r>
                                        <a:rPr lang="en-US" i="0">
                                          <a:latin typeface="Cambria Math" panose="02040503050406030204" pitchFamily="18" charset="0"/>
                                        </a:rPr>
                                        <m:t>1</m:t>
                                      </m:r>
                                    </m:sub>
                                  </m:sSub>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β</m:t>
                                      </m:r>
                                    </m:e>
                                    <m:sub>
                                      <m:r>
                                        <a:rPr lang="en-US" i="1">
                                          <a:latin typeface="Cambria Math" panose="02040503050406030204" pitchFamily="18" charset="0"/>
                                        </a:rPr>
                                        <m:t>𝑘</m:t>
                                      </m:r>
                                    </m:sub>
                                  </m:sSub>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X</m:t>
                                      </m:r>
                                    </m:e>
                                    <m:sub>
                                      <m:r>
                                        <a:rPr lang="en-US" i="1">
                                          <a:latin typeface="Cambria Math" panose="02040503050406030204" pitchFamily="18" charset="0"/>
                                        </a:rPr>
                                        <m:t>𝑘</m:t>
                                      </m:r>
                                    </m:sub>
                                  </m:sSub>
                                </m:e>
                              </m:d>
                            </m:e>
                          </m:d>
                        </m:den>
                      </m:f>
                      <m:r>
                        <a:rPr lang="en-US" i="0">
                          <a:latin typeface="Cambria Math" panose="02040503050406030204" pitchFamily="18" charset="0"/>
                        </a:rPr>
                        <m:t>=</m:t>
                      </m:r>
                      <m:r>
                        <a:rPr lang="en-US" i="1">
                          <a:latin typeface="Cambria Math" panose="02040503050406030204" pitchFamily="18" charset="0"/>
                        </a:rPr>
                        <m:t>𝜎</m:t>
                      </m:r>
                      <m:d>
                        <m:dPr>
                          <m:ctrlPr>
                            <a:rPr lang="en-US" i="1">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𝑐</m:t>
                              </m:r>
                            </m:sub>
                          </m:sSub>
                          <m:r>
                            <a:rPr lang="en-US" i="0">
                              <a:latin typeface="Cambria Math" panose="02040503050406030204" pitchFamily="18" charset="0"/>
                            </a:rPr>
                            <m:t>−</m:t>
                          </m:r>
                          <m:d>
                            <m:dPr>
                              <m:ctrlPr>
                                <a:rPr lang="en-US" i="1">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β</m:t>
                                  </m:r>
                                </m:e>
                                <m:sub>
                                  <m:r>
                                    <a:rPr lang="en-US" i="0">
                                      <a:latin typeface="Cambria Math" panose="02040503050406030204" pitchFamily="18" charset="0"/>
                                    </a:rPr>
                                    <m:t>1</m:t>
                                  </m:r>
                                </m:sub>
                              </m:sSub>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X</m:t>
                                  </m:r>
                                </m:e>
                                <m:sub>
                                  <m:r>
                                    <a:rPr lang="en-US" i="0">
                                      <a:latin typeface="Cambria Math" panose="02040503050406030204" pitchFamily="18" charset="0"/>
                                    </a:rPr>
                                    <m:t>1</m:t>
                                  </m:r>
                                </m:sub>
                              </m:sSub>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β</m:t>
                                  </m:r>
                                </m:e>
                                <m:sub>
                                  <m:r>
                                    <a:rPr lang="en-US" i="1">
                                      <a:latin typeface="Cambria Math" panose="02040503050406030204" pitchFamily="18" charset="0"/>
                                    </a:rPr>
                                    <m:t>𝑘</m:t>
                                  </m:r>
                                </m:sub>
                              </m:sSub>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X</m:t>
                                  </m:r>
                                </m:e>
                                <m:sub>
                                  <m:r>
                                    <a:rPr lang="en-US" i="1">
                                      <a:latin typeface="Cambria Math" panose="02040503050406030204" pitchFamily="18" charset="0"/>
                                    </a:rPr>
                                    <m:t>𝑘</m:t>
                                  </m:r>
                                </m:sub>
                              </m:sSub>
                            </m:e>
                          </m:d>
                        </m:e>
                      </m:d>
                    </m:oMath>
                  </m:oMathPara>
                </a14:m>
                <a:endParaRPr lang="en-US" dirty="0"/>
              </a:p>
            </p:txBody>
          </p:sp>
        </mc:Choice>
        <mc:Fallback xmlns="">
          <p:sp>
            <p:nvSpPr>
              <p:cNvPr id="10" name="TextBox 9">
                <a:extLst>
                  <a:ext uri="{FF2B5EF4-FFF2-40B4-BE49-F238E27FC236}">
                    <a16:creationId xmlns:a16="http://schemas.microsoft.com/office/drawing/2014/main" id="{7AD0663C-D9C5-A548-2E50-D150BBC37910}"/>
                  </a:ext>
                </a:extLst>
              </p:cNvPr>
              <p:cNvSpPr txBox="1">
                <a:spLocks noRot="1" noChangeAspect="1" noMove="1" noResize="1" noEditPoints="1" noAdjustHandles="1" noChangeArrowheads="1" noChangeShapeType="1" noTextEdit="1"/>
              </p:cNvSpPr>
              <p:nvPr/>
            </p:nvSpPr>
            <p:spPr>
              <a:xfrm>
                <a:off x="7749" y="4350466"/>
                <a:ext cx="7885083" cy="75745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C54D340-0A2D-6D2A-F260-C88F33DE0B97}"/>
                  </a:ext>
                </a:extLst>
              </p:cNvPr>
              <p:cNvSpPr txBox="1"/>
              <p:nvPr/>
            </p:nvSpPr>
            <p:spPr>
              <a:xfrm>
                <a:off x="8278398" y="2331333"/>
                <a:ext cx="2919493" cy="6690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solidFill>
                                <a:srgbClr val="836967"/>
                              </a:solidFill>
                              <a:latin typeface="Cambria Math" panose="02040503050406030204" pitchFamily="18" charset="0"/>
                            </a:rPr>
                          </m:ctrlPr>
                        </m:fPr>
                        <m:num>
                          <m:r>
                            <a:rPr lang="en-US" i="1">
                              <a:latin typeface="Cambria Math" panose="02040503050406030204" pitchFamily="18" charset="0"/>
                            </a:rPr>
                            <m:t>𝑃𝑟</m:t>
                          </m:r>
                          <m:d>
                            <m:dPr>
                              <m:ctrlPr>
                                <a:rPr lang="en-US" i="1">
                                  <a:latin typeface="Cambria Math" panose="02040503050406030204" pitchFamily="18" charset="0"/>
                                </a:rPr>
                              </m:ctrlPr>
                            </m:dPr>
                            <m:e>
                              <m:r>
                                <a:rPr lang="en-US" i="1">
                                  <a:latin typeface="Cambria Math" panose="02040503050406030204" pitchFamily="18" charset="0"/>
                                </a:rPr>
                                <m:t>𝑌</m:t>
                              </m:r>
                              <m:r>
                                <a:rPr lang="en-US" i="0">
                                  <a:latin typeface="Cambria Math" panose="02040503050406030204" pitchFamily="18" charset="0"/>
                                </a:rPr>
                                <m:t>=1</m:t>
                              </m:r>
                            </m:e>
                          </m:d>
                        </m:num>
                        <m:den>
                          <m:r>
                            <a:rPr lang="en-US" i="1">
                              <a:latin typeface="Cambria Math" panose="02040503050406030204" pitchFamily="18" charset="0"/>
                            </a:rPr>
                            <m:t>𝑃𝑟</m:t>
                          </m:r>
                          <m:d>
                            <m:dPr>
                              <m:ctrlPr>
                                <a:rPr lang="en-US" i="1">
                                  <a:latin typeface="Cambria Math" panose="02040503050406030204" pitchFamily="18" charset="0"/>
                                </a:rPr>
                              </m:ctrlPr>
                            </m:dPr>
                            <m:e>
                              <m:r>
                                <a:rPr lang="en-US" i="1">
                                  <a:latin typeface="Cambria Math" panose="02040503050406030204" pitchFamily="18" charset="0"/>
                                </a:rPr>
                                <m:t>𝑌</m:t>
                              </m:r>
                              <m:r>
                                <a:rPr lang="en-US" i="0">
                                  <a:latin typeface="Cambria Math" panose="02040503050406030204" pitchFamily="18" charset="0"/>
                                </a:rPr>
                                <m:t>=0</m:t>
                              </m:r>
                            </m:e>
                          </m:d>
                        </m:den>
                      </m:f>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𝑃𝑟</m:t>
                          </m:r>
                          <m:d>
                            <m:dPr>
                              <m:ctrlPr>
                                <a:rPr lang="en-US" i="1">
                                  <a:latin typeface="Cambria Math" panose="02040503050406030204" pitchFamily="18" charset="0"/>
                                </a:rPr>
                              </m:ctrlPr>
                            </m:dPr>
                            <m:e>
                              <m:r>
                                <a:rPr lang="en-US" i="1">
                                  <a:latin typeface="Cambria Math" panose="02040503050406030204" pitchFamily="18" charset="0"/>
                                </a:rPr>
                                <m:t>𝑌</m:t>
                              </m:r>
                              <m:r>
                                <a:rPr lang="en-US" i="0">
                                  <a:latin typeface="Cambria Math" panose="02040503050406030204" pitchFamily="18" charset="0"/>
                                </a:rPr>
                                <m:t>≥1</m:t>
                              </m:r>
                            </m:e>
                          </m:d>
                        </m:num>
                        <m:den>
                          <m:r>
                            <a:rPr lang="en-US" i="1">
                              <a:latin typeface="Cambria Math" panose="02040503050406030204" pitchFamily="18" charset="0"/>
                            </a:rPr>
                            <m:t>𝑃𝑟</m:t>
                          </m:r>
                          <m:d>
                            <m:dPr>
                              <m:ctrlPr>
                                <a:rPr lang="en-US" i="1">
                                  <a:latin typeface="Cambria Math" panose="02040503050406030204" pitchFamily="18" charset="0"/>
                                </a:rPr>
                              </m:ctrlPr>
                            </m:dPr>
                            <m:e>
                              <m:r>
                                <a:rPr lang="en-US" i="1">
                                  <a:latin typeface="Cambria Math" panose="02040503050406030204" pitchFamily="18" charset="0"/>
                                </a:rPr>
                                <m:t>𝑌</m:t>
                              </m:r>
                              <m:r>
                                <a:rPr lang="en-US" i="0">
                                  <a:latin typeface="Cambria Math" panose="02040503050406030204" pitchFamily="18" charset="0"/>
                                </a:rPr>
                                <m:t>&lt;1</m:t>
                              </m:r>
                            </m:e>
                          </m:d>
                        </m:den>
                      </m:f>
                    </m:oMath>
                  </m:oMathPara>
                </a14:m>
                <a:endParaRPr lang="en-US" dirty="0"/>
              </a:p>
            </p:txBody>
          </p:sp>
        </mc:Choice>
        <mc:Fallback xmlns="">
          <p:sp>
            <p:nvSpPr>
              <p:cNvPr id="12" name="TextBox 11">
                <a:extLst>
                  <a:ext uri="{FF2B5EF4-FFF2-40B4-BE49-F238E27FC236}">
                    <a16:creationId xmlns:a16="http://schemas.microsoft.com/office/drawing/2014/main" id="{EC54D340-0A2D-6D2A-F260-C88F33DE0B97}"/>
                  </a:ext>
                </a:extLst>
              </p:cNvPr>
              <p:cNvSpPr txBox="1">
                <a:spLocks noRot="1" noChangeAspect="1" noMove="1" noResize="1" noEditPoints="1" noAdjustHandles="1" noChangeArrowheads="1" noChangeShapeType="1" noTextEdit="1"/>
              </p:cNvSpPr>
              <p:nvPr/>
            </p:nvSpPr>
            <p:spPr>
              <a:xfrm>
                <a:off x="8278398" y="2331333"/>
                <a:ext cx="2919493" cy="66909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CA2FEAF-6749-6C4D-0260-14E4E82B1053}"/>
                  </a:ext>
                </a:extLst>
              </p:cNvPr>
              <p:cNvSpPr txBox="1"/>
              <p:nvPr/>
            </p:nvSpPr>
            <p:spPr>
              <a:xfrm>
                <a:off x="-527123" y="5183248"/>
                <a:ext cx="8615121"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𝑙𝑛</m:t>
                      </m:r>
                      <m:d>
                        <m:dPr>
                          <m:ctrlPr>
                            <a:rPr lang="en-US" i="1">
                              <a:latin typeface="Cambria Math" panose="02040503050406030204" pitchFamily="18" charset="0"/>
                            </a:rPr>
                          </m:ctrlPr>
                        </m:dPr>
                        <m:e>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𝑃𝑟</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𝑌</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 </m:t>
                              </m:r>
                            </m:num>
                            <m:den>
                              <m:r>
                                <a:rPr lang="en-US" i="0">
                                  <a:latin typeface="Cambria Math" panose="02040503050406030204" pitchFamily="18" charset="0"/>
                                </a:rPr>
                                <m:t>1−</m:t>
                              </m:r>
                              <m:r>
                                <a:rPr lang="en-US" i="1">
                                  <a:latin typeface="Cambria Math" panose="02040503050406030204" pitchFamily="18" charset="0"/>
                                </a:rPr>
                                <m:t>𝑃𝑟</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𝑌</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 </m:t>
                              </m:r>
                            </m:den>
                          </m:f>
                        </m:e>
                      </m:d>
                      <m:r>
                        <a:rPr lang="en-US" i="0">
                          <a:latin typeface="Cambria Math" panose="02040503050406030204" pitchFamily="18" charset="0"/>
                        </a:rPr>
                        <m:t> = </m:t>
                      </m:r>
                      <m:r>
                        <a:rPr lang="en-US" i="1">
                          <a:latin typeface="Cambria Math" panose="02040503050406030204" pitchFamily="18" charset="0"/>
                        </a:rPr>
                        <m:t>𝑙𝑜𝑔𝑖𝑡</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𝑃𝑟</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𝑌</m:t>
                              </m:r>
                              <m:r>
                                <a:rPr lang="en-US" i="0">
                                  <a:latin typeface="Cambria Math" panose="02040503050406030204" pitchFamily="18" charset="0"/>
                                </a:rPr>
                                <m:t>≤</m:t>
                              </m:r>
                              <m:r>
                                <m:rPr>
                                  <m:sty m:val="p"/>
                                </m:rPr>
                                <a:rPr lang="en-US" i="0">
                                  <a:latin typeface="Cambria Math" panose="02040503050406030204" pitchFamily="18" charset="0"/>
                                </a:rPr>
                                <m:t>c</m:t>
                              </m:r>
                            </m:e>
                          </m:d>
                        </m:e>
                      </m:d>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𝑐</m:t>
                          </m:r>
                        </m:sub>
                      </m:sSub>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η</m:t>
                          </m:r>
                        </m:e>
                        <m:sub>
                          <m:r>
                            <a:rPr lang="en-US" i="0">
                              <a:latin typeface="Cambria Math" panose="02040503050406030204" pitchFamily="18" charset="0"/>
                            </a:rPr>
                            <m:t>1</m:t>
                          </m:r>
                        </m:sub>
                      </m:sSub>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X</m:t>
                          </m:r>
                        </m:e>
                        <m:sub>
                          <m:r>
                            <a:rPr lang="en-US" i="0">
                              <a:latin typeface="Cambria Math" panose="02040503050406030204" pitchFamily="18" charset="0"/>
                            </a:rPr>
                            <m:t>1</m:t>
                          </m:r>
                        </m:sub>
                      </m:sSub>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η</m:t>
                          </m:r>
                        </m:e>
                        <m:sub>
                          <m:r>
                            <a:rPr lang="en-US" i="1">
                              <a:latin typeface="Cambria Math" panose="02040503050406030204" pitchFamily="18" charset="0"/>
                            </a:rPr>
                            <m:t>𝑘</m:t>
                          </m:r>
                        </m:sub>
                      </m:sSub>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X</m:t>
                          </m:r>
                        </m:e>
                        <m:sub>
                          <m:r>
                            <a:rPr lang="en-US" i="1">
                              <a:latin typeface="Cambria Math" panose="02040503050406030204" pitchFamily="18" charset="0"/>
                            </a:rPr>
                            <m:t>𝑘</m:t>
                          </m:r>
                        </m:sub>
                      </m:sSub>
                    </m:oMath>
                  </m:oMathPara>
                </a14:m>
                <a:endParaRPr lang="en-US" dirty="0"/>
              </a:p>
            </p:txBody>
          </p:sp>
        </mc:Choice>
        <mc:Fallback xmlns="">
          <p:sp>
            <p:nvSpPr>
              <p:cNvPr id="14" name="TextBox 13">
                <a:extLst>
                  <a:ext uri="{FF2B5EF4-FFF2-40B4-BE49-F238E27FC236}">
                    <a16:creationId xmlns:a16="http://schemas.microsoft.com/office/drawing/2014/main" id="{FCA2FEAF-6749-6C4D-0260-14E4E82B1053}"/>
                  </a:ext>
                </a:extLst>
              </p:cNvPr>
              <p:cNvSpPr txBox="1">
                <a:spLocks noRot="1" noChangeAspect="1" noMove="1" noResize="1" noEditPoints="1" noAdjustHandles="1" noChangeArrowheads="1" noChangeShapeType="1" noTextEdit="1"/>
              </p:cNvSpPr>
              <p:nvPr/>
            </p:nvSpPr>
            <p:spPr>
              <a:xfrm>
                <a:off x="-527123" y="5183248"/>
                <a:ext cx="8615121" cy="714683"/>
              </a:xfrm>
              <a:prstGeom prst="rect">
                <a:avLst/>
              </a:prstGeom>
              <a:blipFill>
                <a:blip r:embed="rId7"/>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AE7A37F-5984-792C-6004-BFFEE50BC95D}"/>
              </a:ext>
            </a:extLst>
          </p:cNvPr>
          <p:cNvSpPr txBox="1"/>
          <p:nvPr/>
        </p:nvSpPr>
        <p:spPr>
          <a:xfrm>
            <a:off x="371959" y="1077132"/>
            <a:ext cx="2859438" cy="369332"/>
          </a:xfrm>
          <a:prstGeom prst="rect">
            <a:avLst/>
          </a:prstGeom>
          <a:noFill/>
        </p:spPr>
        <p:txBody>
          <a:bodyPr wrap="square" rtlCol="0">
            <a:spAutoFit/>
          </a:bodyPr>
          <a:lstStyle/>
          <a:p>
            <a:pPr algn="l"/>
            <a:r>
              <a:rPr lang="en-US" dirty="0">
                <a:solidFill>
                  <a:srgbClr val="272524"/>
                </a:solidFill>
              </a:rPr>
              <a:t>Binary Logistic</a:t>
            </a:r>
          </a:p>
        </p:txBody>
      </p:sp>
      <p:sp>
        <p:nvSpPr>
          <p:cNvPr id="11" name="TextBox 10">
            <a:extLst>
              <a:ext uri="{FF2B5EF4-FFF2-40B4-BE49-F238E27FC236}">
                <a16:creationId xmlns:a16="http://schemas.microsoft.com/office/drawing/2014/main" id="{3C85D0B9-ED21-F12B-14E2-F9B74BA642EF}"/>
              </a:ext>
            </a:extLst>
          </p:cNvPr>
          <p:cNvSpPr txBox="1"/>
          <p:nvPr/>
        </p:nvSpPr>
        <p:spPr>
          <a:xfrm>
            <a:off x="371959" y="3109213"/>
            <a:ext cx="2859438" cy="369332"/>
          </a:xfrm>
          <a:prstGeom prst="rect">
            <a:avLst/>
          </a:prstGeom>
          <a:noFill/>
        </p:spPr>
        <p:txBody>
          <a:bodyPr wrap="square" rtlCol="0">
            <a:spAutoFit/>
          </a:bodyPr>
          <a:lstStyle/>
          <a:p>
            <a:pPr algn="l"/>
            <a:r>
              <a:rPr lang="en-US" dirty="0">
                <a:solidFill>
                  <a:srgbClr val="272524"/>
                </a:solidFill>
              </a:rPr>
              <a:t>Ordinal Logistic</a:t>
            </a:r>
          </a:p>
        </p:txBody>
      </p:sp>
    </p:spTree>
    <p:extLst>
      <p:ext uri="{BB962C8B-B14F-4D97-AF65-F5344CB8AC3E}">
        <p14:creationId xmlns:p14="http://schemas.microsoft.com/office/powerpoint/2010/main" val="3308902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C127E3-FF22-12B4-71E3-612CEED0D3C1}"/>
              </a:ext>
            </a:extLst>
          </p:cNvPr>
          <p:cNvSpPr>
            <a:spLocks noGrp="1"/>
          </p:cNvSpPr>
          <p:nvPr>
            <p:ph type="sldNum" sz="quarter" idx="11"/>
          </p:nvPr>
        </p:nvSpPr>
        <p:spPr/>
        <p:txBody>
          <a:bodyPr/>
          <a:lstStyle/>
          <a:p>
            <a:fld id="{523A240F-EAFE-E84F-B44C-6D7A08E0E409}" type="slidenum">
              <a:rPr lang="en-US" smtClean="0"/>
              <a:t>21</a:t>
            </a:fld>
            <a:endParaRPr lang="en-US"/>
          </a:p>
        </p:txBody>
      </p:sp>
      <p:sp>
        <p:nvSpPr>
          <p:cNvPr id="3" name="Footer Placeholder 2">
            <a:extLst>
              <a:ext uri="{FF2B5EF4-FFF2-40B4-BE49-F238E27FC236}">
                <a16:creationId xmlns:a16="http://schemas.microsoft.com/office/drawing/2014/main" id="{A1274C43-26EE-6640-8925-9CC66D66DC45}"/>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ED09C3EC-1DCE-987B-9EAD-8B4D47378452}"/>
              </a:ext>
            </a:extLst>
          </p:cNvPr>
          <p:cNvSpPr>
            <a:spLocks noGrp="1"/>
          </p:cNvSpPr>
          <p:nvPr>
            <p:ph type="body" sz="half" idx="2"/>
          </p:nvPr>
        </p:nvSpPr>
        <p:spPr>
          <a:xfrm>
            <a:off x="512064" y="6382400"/>
            <a:ext cx="4434840" cy="245223"/>
          </a:xfrm>
        </p:spPr>
        <p:txBody>
          <a:bodyPr/>
          <a:lstStyle/>
          <a:p>
            <a:endParaRPr lang="en-US" dirty="0"/>
          </a:p>
        </p:txBody>
      </p:sp>
      <p:sp>
        <p:nvSpPr>
          <p:cNvPr id="5" name="Title 4">
            <a:extLst>
              <a:ext uri="{FF2B5EF4-FFF2-40B4-BE49-F238E27FC236}">
                <a16:creationId xmlns:a16="http://schemas.microsoft.com/office/drawing/2014/main" id="{CAF2CEF8-5374-8D4B-C9D8-65B0887ACC09}"/>
              </a:ext>
            </a:extLst>
          </p:cNvPr>
          <p:cNvSpPr>
            <a:spLocks noGrp="1"/>
          </p:cNvSpPr>
          <p:nvPr>
            <p:ph type="title"/>
          </p:nvPr>
        </p:nvSpPr>
        <p:spPr/>
        <p:txBody>
          <a:bodyPr/>
          <a:lstStyle/>
          <a:p>
            <a:r>
              <a:rPr lang="sv-SE" dirty="0"/>
              <a:t>Supplementary 3: Conjecture</a:t>
            </a:r>
            <a:endParaRPr lang="en-US"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5C09E30-F46A-1802-B606-E23AF54DB716}"/>
                  </a:ext>
                </a:extLst>
              </p:cNvPr>
              <p:cNvSpPr txBox="1"/>
              <p:nvPr/>
            </p:nvSpPr>
            <p:spPr>
              <a:xfrm>
                <a:off x="1714823" y="1524837"/>
                <a:ext cx="8762354" cy="4141647"/>
              </a:xfrm>
              <a:prstGeom prst="rect">
                <a:avLst/>
              </a:prstGeom>
              <a:noFill/>
            </p:spPr>
            <p:txBody>
              <a:bodyPr wrap="square">
                <a:spAutoFit/>
              </a:bodyPr>
              <a:lstStyle/>
              <a:p>
                <a:pPr marL="0" marR="0" algn="ctr">
                  <a:lnSpc>
                    <a:spcPct val="107000"/>
                  </a:lnSpc>
                  <a:spcBef>
                    <a:spcPts val="0"/>
                  </a:spcBef>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Recall the four fitted models with the four variants of the covariate </a:t>
                </a:r>
                <a14:m>
                  <m:oMath xmlns:m="http://schemas.openxmlformats.org/officeDocument/2006/math">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2</m:t>
                        </m:r>
                      </m:sub>
                    </m:sSub>
                  </m:oMath>
                </a14:m>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𝑙𝑜𝑔𝑖𝑡</m:t>
                      </m:r>
                      <m:d>
                        <m:d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𝑃𝑟</m:t>
                          </m:r>
                          <m:d>
                            <m:d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𝑌</m:t>
                              </m:r>
                              <m:r>
                                <a:rPr lang="en-US" sz="1800" kern="1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en-US" sz="1800" kern="100">
                                  <a:effectLst/>
                                  <a:latin typeface="Cambria Math" panose="02040503050406030204" pitchFamily="18" charset="0"/>
                                  <a:ea typeface="Aptos" panose="020B0004020202020204" pitchFamily="34" charset="0"/>
                                  <a:cs typeface="Times New Roman" panose="02020603050405020304" pitchFamily="18" charset="0"/>
                                </a:rPr>
                                <m:t>c</m:t>
                              </m:r>
                            </m:e>
                          </m:d>
                        </m:e>
                      </m:d>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𝛼</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sub>
                      </m:s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η</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r>
                            <m:rPr>
                              <m:sty m:val="p"/>
                            </m:rPr>
                            <a:rPr lang="en-US" sz="1800" kern="100">
                              <a:effectLst/>
                              <a:latin typeface="Cambria Math" panose="02040503050406030204" pitchFamily="18" charset="0"/>
                              <a:ea typeface="Aptos" panose="020B0004020202020204" pitchFamily="34" charset="0"/>
                              <a:cs typeface="Times New Roman" panose="02020603050405020304" pitchFamily="18" charset="0"/>
                            </a:rPr>
                            <m:t>X</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η</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2</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2</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oMath>
                  </m:oMathPara>
                </a14:m>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𝑙𝑜𝑔𝑖𝑡</m:t>
                      </m:r>
                      <m:d>
                        <m:d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𝑃𝑟</m:t>
                          </m:r>
                          <m:d>
                            <m:d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𝑌</m:t>
                              </m:r>
                              <m:r>
                                <a:rPr lang="en-US" sz="1800" kern="1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en-US" sz="1800" kern="100">
                                  <a:effectLst/>
                                  <a:latin typeface="Cambria Math" panose="02040503050406030204" pitchFamily="18" charset="0"/>
                                  <a:ea typeface="Aptos" panose="020B0004020202020204" pitchFamily="34" charset="0"/>
                                  <a:cs typeface="Times New Roman" panose="02020603050405020304" pitchFamily="18" charset="0"/>
                                </a:rPr>
                                <m:t>c</m:t>
                              </m:r>
                            </m:e>
                          </m:d>
                        </m:e>
                      </m:d>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𝛼</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sub>
                      </m:s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η</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𝑝𝑟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m:rPr>
                              <m:sty m:val="p"/>
                            </m:rPr>
                            <a:rPr lang="en-US" sz="1800" kern="100">
                              <a:effectLst/>
                              <a:latin typeface="Cambria Math" panose="02040503050406030204" pitchFamily="18" charset="0"/>
                              <a:ea typeface="Aptos" panose="020B0004020202020204" pitchFamily="34" charset="0"/>
                              <a:cs typeface="Times New Roman" panose="02020603050405020304" pitchFamily="18" charset="0"/>
                            </a:rPr>
                            <m:t>X</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η</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2</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𝑝𝑟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2</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𝑝𝑟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oMath>
                  </m:oMathPara>
                </a14:m>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𝑙𝑜𝑔𝑖𝑡</m:t>
                      </m:r>
                      <m:d>
                        <m:d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𝑃𝑟</m:t>
                          </m:r>
                          <m:d>
                            <m:d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𝑌</m:t>
                              </m:r>
                              <m:r>
                                <a:rPr lang="en-US" sz="1800" kern="1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en-US" sz="1800" kern="100">
                                  <a:effectLst/>
                                  <a:latin typeface="Cambria Math" panose="02040503050406030204" pitchFamily="18" charset="0"/>
                                  <a:ea typeface="Aptos" panose="020B0004020202020204" pitchFamily="34" charset="0"/>
                                  <a:cs typeface="Times New Roman" panose="02020603050405020304" pitchFamily="18" charset="0"/>
                                </a:rPr>
                                <m:t>c</m:t>
                              </m:r>
                            </m:e>
                          </m:d>
                        </m:e>
                      </m:d>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𝛼</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sub>
                      </m:s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η</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𝑑𝑖</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m:rPr>
                              <m:sty m:val="p"/>
                            </m:rPr>
                            <a:rPr lang="en-US" sz="1800" kern="100">
                              <a:effectLst/>
                              <a:latin typeface="Cambria Math" panose="02040503050406030204" pitchFamily="18" charset="0"/>
                              <a:ea typeface="Aptos" panose="020B0004020202020204" pitchFamily="34" charset="0"/>
                              <a:cs typeface="Times New Roman" panose="02020603050405020304" pitchFamily="18" charset="0"/>
                            </a:rPr>
                            <m:t>X</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η</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2</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𝑑𝑖</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2</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𝑑𝑖</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oMath>
                  </m:oMathPara>
                </a14:m>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𝑙𝑜𝑔𝑖𝑡</m:t>
                      </m:r>
                      <m:d>
                        <m:d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𝑃𝑟</m:t>
                          </m:r>
                          <m:d>
                            <m:d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𝑌</m:t>
                              </m:r>
                              <m:r>
                                <a:rPr lang="en-US" sz="1800" kern="1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en-US" sz="1800" kern="100">
                                  <a:effectLst/>
                                  <a:latin typeface="Cambria Math" panose="02040503050406030204" pitchFamily="18" charset="0"/>
                                  <a:ea typeface="Aptos" panose="020B0004020202020204" pitchFamily="34" charset="0"/>
                                  <a:cs typeface="Times New Roman" panose="02020603050405020304" pitchFamily="18" charset="0"/>
                                </a:rPr>
                                <m:t>c</m:t>
                              </m:r>
                            </m:e>
                          </m:d>
                        </m:e>
                      </m:d>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𝛼</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sub>
                      </m:s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η</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𝑝𝑟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𝑑𝑖</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m:rPr>
                              <m:sty m:val="p"/>
                            </m:rPr>
                            <a:rPr lang="en-US" sz="1800" kern="100">
                              <a:effectLst/>
                              <a:latin typeface="Cambria Math" panose="02040503050406030204" pitchFamily="18" charset="0"/>
                              <a:ea typeface="Aptos" panose="020B0004020202020204" pitchFamily="34" charset="0"/>
                              <a:cs typeface="Times New Roman" panose="02020603050405020304" pitchFamily="18" charset="0"/>
                            </a:rPr>
                            <m:t>X</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η</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2</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𝑝𝑟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𝑑𝑖</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2</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𝑝𝑟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𝑑𝑖</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oMath>
                  </m:oMathPara>
                </a14:m>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07000"/>
                  </a:lnSpc>
                  <a:spcBef>
                    <a:spcPts val="0"/>
                  </a:spcBef>
                  <a:spcAft>
                    <a:spcPts val="800"/>
                  </a:spcAft>
                </a:pPr>
                <a:endPar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800"/>
                  </a:spcAf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The asymptotic variances of </a:t>
                </a:r>
                <a14:m>
                  <m:oMath xmlns:m="http://schemas.openxmlformats.org/officeDocument/2006/math">
                    <m:sSub>
                      <m:sSub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η</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conditional on </a:t>
                </a:r>
                <a14:m>
                  <m:oMath xmlns:m="http://schemas.openxmlformats.org/officeDocument/2006/math">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Sub>
                  </m:oMath>
                </a14:m>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follow the inequalities: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𝑉𝑎𝑟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η</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𝑉𝑎𝑟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η</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𝑝𝑟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 </m:t>
                      </m:r>
                    </m:oMath>
                  </m:oMathPara>
                </a14:m>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𝑉𝑎𝑟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η</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𝑉𝑎𝑟</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SupPr>
                        <m:e>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η</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𝑐</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𝑑𝑖</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up>
                      </m:sSub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 </m:t>
                      </m:r>
                    </m:oMath>
                  </m:oMathPara>
                </a14:m>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25C09E30-F46A-1802-B606-E23AF54DB716}"/>
                  </a:ext>
                </a:extLst>
              </p:cNvPr>
              <p:cNvSpPr txBox="1">
                <a:spLocks noRot="1" noChangeAspect="1" noMove="1" noResize="1" noEditPoints="1" noAdjustHandles="1" noChangeArrowheads="1" noChangeShapeType="1" noTextEdit="1"/>
              </p:cNvSpPr>
              <p:nvPr/>
            </p:nvSpPr>
            <p:spPr>
              <a:xfrm>
                <a:off x="1714823" y="1524837"/>
                <a:ext cx="8762354" cy="4141647"/>
              </a:xfrm>
              <a:prstGeom prst="rect">
                <a:avLst/>
              </a:prstGeom>
              <a:blipFill>
                <a:blip r:embed="rId2"/>
                <a:stretch>
                  <a:fillRect t="-73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E706895C-8685-BA0E-DA90-20BAE2F00E14}"/>
              </a:ext>
            </a:extLst>
          </p:cNvPr>
          <p:cNvSpPr txBox="1"/>
          <p:nvPr/>
        </p:nvSpPr>
        <p:spPr>
          <a:xfrm>
            <a:off x="8253770" y="5200399"/>
            <a:ext cx="3577036" cy="738664"/>
          </a:xfrm>
          <a:prstGeom prst="rect">
            <a:avLst/>
          </a:prstGeom>
          <a:noFill/>
        </p:spPr>
        <p:txBody>
          <a:bodyPr wrap="square" rtlCol="0">
            <a:spAutoFit/>
          </a:bodyPr>
          <a:lstStyle/>
          <a:p>
            <a:pPr algn="l"/>
            <a:r>
              <a:rPr lang="en-US" sz="1400" dirty="0">
                <a:solidFill>
                  <a:srgbClr val="272524"/>
                </a:solidFill>
              </a:rPr>
              <a:t>i.e. the less informative the covariate, the more precise the treatment effect estimate (says nothing about bias of the </a:t>
            </a:r>
            <a:r>
              <a:rPr lang="en-US" sz="1400" dirty="0" err="1">
                <a:solidFill>
                  <a:srgbClr val="272524"/>
                </a:solidFill>
              </a:rPr>
              <a:t>estimand</a:t>
            </a:r>
            <a:r>
              <a:rPr lang="en-US" sz="1400" dirty="0">
                <a:solidFill>
                  <a:srgbClr val="272524"/>
                </a:solidFill>
              </a:rPr>
              <a:t>)</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DAFA461-4BB3-91B2-75F7-61086C9DDADF}"/>
                  </a:ext>
                </a:extLst>
              </p:cNvPr>
              <p:cNvSpPr txBox="1"/>
              <p:nvPr/>
            </p:nvSpPr>
            <p:spPr>
              <a:xfrm>
                <a:off x="9203081" y="2482885"/>
                <a:ext cx="2626777" cy="954107"/>
              </a:xfrm>
              <a:prstGeom prst="rect">
                <a:avLst/>
              </a:prstGeom>
              <a:noFill/>
            </p:spPr>
            <p:txBody>
              <a:bodyPr wrap="square" rtlCol="0">
                <a:spAutoFit/>
              </a:bodyPr>
              <a:lstStyle/>
              <a:p>
                <a:pPr algn="l"/>
                <a:r>
                  <a:rPr lang="en-US" sz="1400" dirty="0">
                    <a:solidFill>
                      <a:srgbClr val="272524"/>
                    </a:solidFill>
                  </a:rPr>
                  <a:t>Nuance: </a:t>
                </a:r>
                <a14:m>
                  <m:oMath xmlns:m="http://schemas.openxmlformats.org/officeDocument/2006/math">
                    <m:sSub>
                      <m:sSubPr>
                        <m:ctrlPr>
                          <a:rPr lang="en-US" sz="1400" i="1" kern="100" smtClean="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𝛼</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𝑐</m:t>
                        </m:r>
                      </m:sub>
                    </m:sSub>
                  </m:oMath>
                </a14:m>
                <a:r>
                  <a:rPr lang="en-US" sz="1400" dirty="0">
                    <a:solidFill>
                      <a:srgbClr val="272524"/>
                    </a:solidFill>
                  </a:rPr>
                  <a:t> will be different for all four models, but it is a nuisance parameter for this simulation</a:t>
                </a:r>
              </a:p>
            </p:txBody>
          </p:sp>
        </mc:Choice>
        <mc:Fallback xmlns="">
          <p:sp>
            <p:nvSpPr>
              <p:cNvPr id="7" name="TextBox 6">
                <a:extLst>
                  <a:ext uri="{FF2B5EF4-FFF2-40B4-BE49-F238E27FC236}">
                    <a16:creationId xmlns:a16="http://schemas.microsoft.com/office/drawing/2014/main" id="{FDAFA461-4BB3-91B2-75F7-61086C9DDADF}"/>
                  </a:ext>
                </a:extLst>
              </p:cNvPr>
              <p:cNvSpPr txBox="1">
                <a:spLocks noRot="1" noChangeAspect="1" noMove="1" noResize="1" noEditPoints="1" noAdjustHandles="1" noChangeArrowheads="1" noChangeShapeType="1" noTextEdit="1"/>
              </p:cNvSpPr>
              <p:nvPr/>
            </p:nvSpPr>
            <p:spPr>
              <a:xfrm>
                <a:off x="9203081" y="2482885"/>
                <a:ext cx="2626777" cy="954107"/>
              </a:xfrm>
              <a:prstGeom prst="rect">
                <a:avLst/>
              </a:prstGeom>
              <a:blipFill>
                <a:blip r:embed="rId3"/>
                <a:stretch>
                  <a:fillRect l="-696" t="-637" b="-5732"/>
                </a:stretch>
              </a:blipFill>
            </p:spPr>
            <p:txBody>
              <a:bodyPr/>
              <a:lstStyle/>
              <a:p>
                <a:r>
                  <a:rPr lang="en-US">
                    <a:noFill/>
                  </a:rPr>
                  <a:t> </a:t>
                </a:r>
              </a:p>
            </p:txBody>
          </p:sp>
        </mc:Fallback>
      </mc:AlternateContent>
    </p:spTree>
    <p:extLst>
      <p:ext uri="{BB962C8B-B14F-4D97-AF65-F5344CB8AC3E}">
        <p14:creationId xmlns:p14="http://schemas.microsoft.com/office/powerpoint/2010/main" val="951689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C127E3-FF22-12B4-71E3-612CEED0D3C1}"/>
              </a:ext>
            </a:extLst>
          </p:cNvPr>
          <p:cNvSpPr>
            <a:spLocks noGrp="1"/>
          </p:cNvSpPr>
          <p:nvPr>
            <p:ph type="sldNum" sz="quarter" idx="11"/>
          </p:nvPr>
        </p:nvSpPr>
        <p:spPr/>
        <p:txBody>
          <a:bodyPr/>
          <a:lstStyle/>
          <a:p>
            <a:fld id="{523A240F-EAFE-E84F-B44C-6D7A08E0E409}" type="slidenum">
              <a:rPr lang="en-US" smtClean="0"/>
              <a:t>22</a:t>
            </a:fld>
            <a:endParaRPr lang="en-US"/>
          </a:p>
        </p:txBody>
      </p:sp>
      <p:sp>
        <p:nvSpPr>
          <p:cNvPr id="3" name="Footer Placeholder 2">
            <a:extLst>
              <a:ext uri="{FF2B5EF4-FFF2-40B4-BE49-F238E27FC236}">
                <a16:creationId xmlns:a16="http://schemas.microsoft.com/office/drawing/2014/main" id="{A1274C43-26EE-6640-8925-9CC66D66DC45}"/>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ED09C3EC-1DCE-987B-9EAD-8B4D47378452}"/>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CAF2CEF8-5374-8D4B-C9D8-65B0887ACC09}"/>
              </a:ext>
            </a:extLst>
          </p:cNvPr>
          <p:cNvSpPr>
            <a:spLocks noGrp="1"/>
          </p:cNvSpPr>
          <p:nvPr>
            <p:ph type="title"/>
          </p:nvPr>
        </p:nvSpPr>
        <p:spPr/>
        <p:txBody>
          <a:bodyPr/>
          <a:lstStyle/>
          <a:p>
            <a:r>
              <a:rPr lang="sv-SE" dirty="0"/>
              <a:t>Supplemental 4: Simulation Settings</a:t>
            </a:r>
            <a:endParaRPr lang="en-US" dirty="0"/>
          </a:p>
        </p:txBody>
      </p:sp>
      <mc:AlternateContent xmlns:mc="http://schemas.openxmlformats.org/markup-compatibility/2006">
        <mc:Choice xmlns:a14="http://schemas.microsoft.com/office/drawing/2010/main" Requires="a14">
          <p:graphicFrame>
            <p:nvGraphicFramePr>
              <p:cNvPr id="6" name="Table 5">
                <a:extLst>
                  <a:ext uri="{FF2B5EF4-FFF2-40B4-BE49-F238E27FC236}">
                    <a16:creationId xmlns:a16="http://schemas.microsoft.com/office/drawing/2014/main" id="{73A422EB-AA0B-324A-E5D6-7667E7CA5259}"/>
                  </a:ext>
                </a:extLst>
              </p:cNvPr>
              <p:cNvGraphicFramePr>
                <a:graphicFrameLocks noGrp="1"/>
              </p:cNvGraphicFramePr>
              <p:nvPr>
                <p:extLst>
                  <p:ext uri="{D42A27DB-BD31-4B8C-83A1-F6EECF244321}">
                    <p14:modId xmlns:p14="http://schemas.microsoft.com/office/powerpoint/2010/main" val="484242531"/>
                  </p:ext>
                </p:extLst>
              </p:nvPr>
            </p:nvGraphicFramePr>
            <p:xfrm>
              <a:off x="2794750" y="2201549"/>
              <a:ext cx="6972300" cy="2578360"/>
            </p:xfrm>
            <a:graphic>
              <a:graphicData uri="http://schemas.openxmlformats.org/drawingml/2006/table">
                <a:tbl>
                  <a:tblPr firstRow="1" firstCol="1" bandRow="1">
                    <a:tableStyleId>{073A0DAA-6AF3-43AB-8588-CEC1D06C72B9}</a:tableStyleId>
                  </a:tblPr>
                  <a:tblGrid>
                    <a:gridCol w="1714500">
                      <a:extLst>
                        <a:ext uri="{9D8B030D-6E8A-4147-A177-3AD203B41FA5}">
                          <a16:colId xmlns:a16="http://schemas.microsoft.com/office/drawing/2014/main" val="3750897364"/>
                        </a:ext>
                      </a:extLst>
                    </a:gridCol>
                    <a:gridCol w="2971800">
                      <a:extLst>
                        <a:ext uri="{9D8B030D-6E8A-4147-A177-3AD203B41FA5}">
                          <a16:colId xmlns:a16="http://schemas.microsoft.com/office/drawing/2014/main" val="633335769"/>
                        </a:ext>
                      </a:extLst>
                    </a:gridCol>
                    <a:gridCol w="2286000">
                      <a:extLst>
                        <a:ext uri="{9D8B030D-6E8A-4147-A177-3AD203B41FA5}">
                          <a16:colId xmlns:a16="http://schemas.microsoft.com/office/drawing/2014/main" val="374616032"/>
                        </a:ext>
                      </a:extLst>
                    </a:gridCol>
                  </a:tblGrid>
                  <a:tr h="221320">
                    <a:tc>
                      <a:txBody>
                        <a:bodyPr/>
                        <a:lstStyle/>
                        <a:p>
                          <a:pPr marL="0" marR="0">
                            <a:lnSpc>
                              <a:spcPct val="107000"/>
                            </a:lnSpc>
                            <a:spcBef>
                              <a:spcPts val="0"/>
                            </a:spcBef>
                            <a:spcAft>
                              <a:spcPts val="0"/>
                            </a:spcAft>
                          </a:pPr>
                          <a:r>
                            <a:rPr lang="en-US" sz="1200" kern="100" dirty="0">
                              <a:effectLst/>
                            </a:rPr>
                            <a:t>Simulation Settings</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kern="100" dirty="0">
                              <a:effectLst/>
                            </a:rPr>
                            <a:t>Levels / Values</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kern="100" dirty="0">
                              <a:effectLst/>
                            </a:rPr>
                            <a:t>Description / Notes</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26997703"/>
                      </a:ext>
                    </a:extLst>
                  </a:tr>
                  <a:tr h="387673">
                    <a:tc>
                      <a:txBody>
                        <a:bodyPr/>
                        <a:lstStyle/>
                        <a:p>
                          <a:pPr marL="0" marR="0">
                            <a:lnSpc>
                              <a:spcPct val="107000"/>
                            </a:lnSpc>
                            <a:spcBef>
                              <a:spcPts val="0"/>
                            </a:spcBef>
                            <a:spcAft>
                              <a:spcPts val="0"/>
                            </a:spcAft>
                          </a:pPr>
                          <a:r>
                            <a:rPr lang="en-US" sz="1200" kern="100">
                              <a:effectLst/>
                            </a:rPr>
                            <a:t>Sample Size</a:t>
                          </a:r>
                          <a:endParaRPr lang="en-US" sz="11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kern="100" dirty="0">
                              <a:effectLst/>
                            </a:rPr>
                            <a:t>120*, 400, 1000</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kern="100">
                              <a:effectLst/>
                            </a:rPr>
                            <a:t>(3) Sample size of each dataset</a:t>
                          </a:r>
                          <a:endParaRPr lang="en-US" sz="11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02710125"/>
                      </a:ext>
                    </a:extLst>
                  </a:tr>
                  <a:tr h="790847">
                    <a:tc>
                      <a:txBody>
                        <a:bodyPr/>
                        <a:lstStyle/>
                        <a:p>
                          <a:pPr marL="0" marR="0">
                            <a:lnSpc>
                              <a:spcPct val="107000"/>
                            </a:lnSpc>
                            <a:spcBef>
                              <a:spcPts val="0"/>
                            </a:spcBef>
                            <a:spcAft>
                              <a:spcPts val="0"/>
                            </a:spcAft>
                          </a:pPr>
                          <a:r>
                            <a:rPr lang="en-US" sz="1200" kern="100" dirty="0">
                              <a:effectLst/>
                            </a:rPr>
                            <a:t>Measurement Error (Laplace)</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kern="100" dirty="0">
                              <a:effectLst/>
                            </a:rPr>
                            <a:t>None (</a:t>
                          </a:r>
                          <a14:m>
                            <m:oMath xmlns:m="http://schemas.openxmlformats.org/officeDocument/2006/math">
                              <m:r>
                                <m:rPr>
                                  <m:sty m:val="p"/>
                                </m:rPr>
                                <a:rPr lang="en-US" sz="1200" kern="100">
                                  <a:effectLst/>
                                </a:rPr>
                                <m:t>β</m:t>
                              </m:r>
                              <m:r>
                                <a:rPr lang="en-US" sz="1200" kern="100">
                                  <a:effectLst/>
                                </a:rPr>
                                <m:t>=0)</m:t>
                              </m:r>
                            </m:oMath>
                          </a14:m>
                          <a:endParaRPr lang="en-US" sz="1100" kern="100" dirty="0">
                            <a:effectLst/>
                          </a:endParaRPr>
                        </a:p>
                        <a:p>
                          <a:pPr marL="0" marR="0">
                            <a:lnSpc>
                              <a:spcPct val="107000"/>
                            </a:lnSpc>
                            <a:spcBef>
                              <a:spcPts val="0"/>
                            </a:spcBef>
                            <a:spcAft>
                              <a:spcPts val="0"/>
                            </a:spcAft>
                          </a:pPr>
                          <a:r>
                            <a:rPr lang="en-US" sz="1200" kern="100" dirty="0">
                              <a:effectLst/>
                            </a:rPr>
                            <a:t>Weak (</a:t>
                          </a:r>
                          <a14:m>
                            <m:oMath xmlns:m="http://schemas.openxmlformats.org/officeDocument/2006/math">
                              <m:r>
                                <m:rPr>
                                  <m:sty m:val="p"/>
                                </m:rPr>
                                <a:rPr lang="en-US" sz="1200" kern="100">
                                  <a:effectLst/>
                                </a:rPr>
                                <m:t>β</m:t>
                              </m:r>
                              <m:r>
                                <a:rPr lang="en-US" sz="1200" kern="100">
                                  <a:effectLst/>
                                </a:rPr>
                                <m:t>=0.1)</m:t>
                              </m:r>
                            </m:oMath>
                          </a14:m>
                          <a:r>
                            <a:rPr lang="en-US" sz="1200" kern="100" dirty="0">
                              <a:effectLst/>
                            </a:rPr>
                            <a:t>*</a:t>
                          </a:r>
                          <a:endParaRPr lang="en-US" sz="1100" kern="100" dirty="0">
                            <a:effectLst/>
                          </a:endParaRPr>
                        </a:p>
                        <a:p>
                          <a:pPr marL="0" marR="0">
                            <a:lnSpc>
                              <a:spcPct val="107000"/>
                            </a:lnSpc>
                            <a:spcBef>
                              <a:spcPts val="0"/>
                            </a:spcBef>
                            <a:spcAft>
                              <a:spcPts val="0"/>
                            </a:spcAft>
                          </a:pPr>
                          <a:r>
                            <a:rPr lang="en-US" sz="1200" kern="100" dirty="0">
                              <a:effectLst/>
                            </a:rPr>
                            <a:t>Moderate (</a:t>
                          </a:r>
                          <a14:m>
                            <m:oMath xmlns:m="http://schemas.openxmlformats.org/officeDocument/2006/math">
                              <m:r>
                                <m:rPr>
                                  <m:sty m:val="p"/>
                                </m:rPr>
                                <a:rPr lang="en-US" sz="1200" kern="100">
                                  <a:effectLst/>
                                </a:rPr>
                                <m:t>β</m:t>
                              </m:r>
                              <m:r>
                                <a:rPr lang="en-US" sz="1200" kern="100">
                                  <a:effectLst/>
                                </a:rPr>
                                <m:t>=0.5)</m:t>
                              </m:r>
                            </m:oMath>
                          </a14:m>
                          <a:endParaRPr lang="en-US" sz="1100" kern="100" dirty="0">
                            <a:effectLst/>
                          </a:endParaRPr>
                        </a:p>
                        <a:p>
                          <a:pPr marL="0" marR="0">
                            <a:lnSpc>
                              <a:spcPct val="107000"/>
                            </a:lnSpc>
                            <a:spcBef>
                              <a:spcPts val="0"/>
                            </a:spcBef>
                            <a:spcAft>
                              <a:spcPts val="0"/>
                            </a:spcAft>
                          </a:pPr>
                          <a:r>
                            <a:rPr lang="en-US" sz="1200" kern="100" dirty="0">
                              <a:effectLst/>
                            </a:rPr>
                            <a:t>Strong (</a:t>
                          </a:r>
                          <a14:m>
                            <m:oMath xmlns:m="http://schemas.openxmlformats.org/officeDocument/2006/math">
                              <m:r>
                                <m:rPr>
                                  <m:sty m:val="p"/>
                                </m:rPr>
                                <a:rPr lang="en-US" sz="1200" kern="100">
                                  <a:effectLst/>
                                </a:rPr>
                                <m:t>β</m:t>
                              </m:r>
                              <m:r>
                                <a:rPr lang="en-US" sz="1200" kern="100">
                                  <a:effectLst/>
                                </a:rPr>
                                <m:t>=1)</m:t>
                              </m:r>
                            </m:oMath>
                          </a14:m>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kern="100">
                              <a:effectLst/>
                            </a:rPr>
                            <a:t>(4) strength of measurement error based on </a:t>
                          </a:r>
                          <a14:m>
                            <m:oMath xmlns:m="http://schemas.openxmlformats.org/officeDocument/2006/math">
                              <m:r>
                                <m:rPr>
                                  <m:sty m:val="p"/>
                                </m:rPr>
                                <a:rPr lang="en-US" sz="1200" kern="100">
                                  <a:effectLst/>
                                </a:rPr>
                                <m:t>β</m:t>
                              </m:r>
                            </m:oMath>
                          </a14:m>
                          <a:r>
                            <a:rPr lang="en-US" sz="1200" kern="100">
                              <a:effectLst/>
                            </a:rPr>
                            <a:t> in step 2 of DGM</a:t>
                          </a:r>
                          <a:endParaRPr lang="en-US" sz="11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9326319"/>
                      </a:ext>
                    </a:extLst>
                  </a:tr>
                  <a:tr h="589260">
                    <a:tc>
                      <a:txBody>
                        <a:bodyPr/>
                        <a:lstStyle/>
                        <a:p>
                          <a:pPr marL="0" marR="0">
                            <a:lnSpc>
                              <a:spcPct val="107000"/>
                            </a:lnSpc>
                            <a:spcBef>
                              <a:spcPts val="0"/>
                            </a:spcBef>
                            <a:spcAft>
                              <a:spcPts val="0"/>
                            </a:spcAft>
                          </a:pPr>
                          <a:r>
                            <a:rPr lang="en-US" sz="1200" kern="100" dirty="0">
                              <a:effectLst/>
                            </a:rPr>
                            <a:t>Treatment Effect</a:t>
                          </a:r>
                        </a:p>
                        <a:p>
                          <a:pPr marL="0" marR="0">
                            <a:lnSpc>
                              <a:spcPct val="107000"/>
                            </a:lnSpc>
                            <a:spcBef>
                              <a:spcPts val="0"/>
                            </a:spcBef>
                            <a:spcAft>
                              <a:spcPts val="0"/>
                            </a:spcAft>
                          </a:pPr>
                          <a:r>
                            <a:rPr lang="en-US" sz="1200" kern="100" dirty="0">
                              <a:effectLst/>
                            </a:rPr>
                            <a:t>(Binary)</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kern="100">
                              <a:effectLst/>
                            </a:rPr>
                            <a:t>No treatment effect (</a:t>
                          </a:r>
                          <a14:m>
                            <m:oMath xmlns:m="http://schemas.openxmlformats.org/officeDocument/2006/math">
                              <m:sSub>
                                <m:sSubPr>
                                  <m:ctrlPr>
                                    <a:rPr lang="en-US" sz="1200" kern="100">
                                      <a:effectLst/>
                                    </a:rPr>
                                  </m:ctrlPr>
                                </m:sSubPr>
                                <m:e>
                                  <m:r>
                                    <m:rPr>
                                      <m:sty m:val="p"/>
                                    </m:rPr>
                                    <a:rPr lang="en-US" sz="1200" kern="100">
                                      <a:effectLst/>
                                    </a:rPr>
                                    <m:t>η</m:t>
                                  </m:r>
                                </m:e>
                                <m:sub>
                                  <m:r>
                                    <a:rPr lang="en-US" sz="1200" kern="100">
                                      <a:effectLst/>
                                    </a:rPr>
                                    <m:t>1</m:t>
                                  </m:r>
                                </m:sub>
                              </m:sSub>
                              <m:r>
                                <a:rPr lang="en-US" sz="1200" kern="100">
                                  <a:effectLst/>
                                </a:rPr>
                                <m:t>=</m:t>
                              </m:r>
                              <m:r>
                                <a:rPr lang="en-US" sz="1200" kern="100">
                                  <a:effectLst/>
                                </a:rPr>
                                <m:t>𝑙𝑜𝑔</m:t>
                              </m:r>
                              <m:r>
                                <a:rPr lang="en-US" sz="1200" kern="100">
                                  <a:effectLst/>
                                </a:rPr>
                                <m:t>(1)</m:t>
                              </m:r>
                            </m:oMath>
                          </a14:m>
                          <a:r>
                            <a:rPr lang="en-US" sz="1200" kern="100">
                              <a:effectLst/>
                            </a:rPr>
                            <a:t>)</a:t>
                          </a:r>
                          <a:endParaRPr lang="en-US" sz="1100" kern="100">
                            <a:effectLst/>
                          </a:endParaRPr>
                        </a:p>
                        <a:p>
                          <a:pPr marL="0" marR="0">
                            <a:lnSpc>
                              <a:spcPct val="107000"/>
                            </a:lnSpc>
                            <a:spcBef>
                              <a:spcPts val="0"/>
                            </a:spcBef>
                            <a:spcAft>
                              <a:spcPts val="0"/>
                            </a:spcAft>
                          </a:pPr>
                          <a:r>
                            <a:rPr lang="en-US" sz="1200" kern="100">
                              <a:effectLst/>
                            </a:rPr>
                            <a:t>Observed treatment effect (</a:t>
                          </a:r>
                          <a14:m>
                            <m:oMath xmlns:m="http://schemas.openxmlformats.org/officeDocument/2006/math">
                              <m:sSub>
                                <m:sSubPr>
                                  <m:ctrlPr>
                                    <a:rPr lang="en-US" sz="1200" kern="100">
                                      <a:effectLst/>
                                    </a:rPr>
                                  </m:ctrlPr>
                                </m:sSubPr>
                                <m:e>
                                  <m:r>
                                    <m:rPr>
                                      <m:sty m:val="p"/>
                                    </m:rPr>
                                    <a:rPr lang="en-US" sz="1200" kern="100">
                                      <a:effectLst/>
                                    </a:rPr>
                                    <m:t>η</m:t>
                                  </m:r>
                                </m:e>
                                <m:sub>
                                  <m:r>
                                    <a:rPr lang="en-US" sz="1200" kern="100">
                                      <a:effectLst/>
                                    </a:rPr>
                                    <m:t>1</m:t>
                                  </m:r>
                                </m:sub>
                              </m:sSub>
                              <m:r>
                                <a:rPr lang="en-US" sz="1200" kern="100">
                                  <a:effectLst/>
                                </a:rPr>
                                <m:t>=</m:t>
                              </m:r>
                              <m:r>
                                <a:rPr lang="en-US" sz="1200" kern="100">
                                  <a:effectLst/>
                                </a:rPr>
                                <m:t>𝑙𝑜𝑔</m:t>
                              </m:r>
                              <m:r>
                                <a:rPr lang="en-US" sz="1200" kern="100">
                                  <a:effectLst/>
                                </a:rPr>
                                <m:t>(0.6)</m:t>
                              </m:r>
                            </m:oMath>
                          </a14:m>
                          <a:r>
                            <a:rPr lang="en-US" sz="1200" kern="100">
                              <a:effectLst/>
                            </a:rPr>
                            <a:t>)*</a:t>
                          </a:r>
                          <a:endParaRPr lang="en-US" sz="11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kern="100">
                              <a:effectLst/>
                            </a:rPr>
                            <a:t>(2): Strength of Treatment Effect</a:t>
                          </a:r>
                          <a:endParaRPr lang="en-US" sz="11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14425506"/>
                      </a:ext>
                    </a:extLst>
                  </a:tr>
                  <a:tr h="589260">
                    <a:tc>
                      <a:txBody>
                        <a:bodyPr/>
                        <a:lstStyle/>
                        <a:p>
                          <a:pPr marL="0" marR="0">
                            <a:lnSpc>
                              <a:spcPct val="107000"/>
                            </a:lnSpc>
                            <a:spcBef>
                              <a:spcPts val="0"/>
                            </a:spcBef>
                            <a:spcAft>
                              <a:spcPts val="0"/>
                            </a:spcAft>
                          </a:pPr>
                          <a:r>
                            <a:rPr lang="en-US" sz="1200" kern="100" dirty="0">
                              <a:effectLst/>
                            </a:rPr>
                            <a:t>Covariate Effect</a:t>
                          </a:r>
                        </a:p>
                        <a:p>
                          <a:pPr marL="0" marR="0">
                            <a:lnSpc>
                              <a:spcPct val="107000"/>
                            </a:lnSpc>
                            <a:spcBef>
                              <a:spcPts val="0"/>
                            </a:spcBef>
                            <a:spcAft>
                              <a:spcPts val="0"/>
                            </a:spcAft>
                          </a:pPr>
                          <a:r>
                            <a:rPr lang="en-US" sz="1200" kern="100" dirty="0">
                              <a:effectLst/>
                            </a:rPr>
                            <a:t>(Normal)</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kern="100" dirty="0">
                              <a:effectLst/>
                            </a:rPr>
                            <a:t>Weak (</a:t>
                          </a:r>
                          <a14:m>
                            <m:oMath xmlns:m="http://schemas.openxmlformats.org/officeDocument/2006/math">
                              <m:sSub>
                                <m:sSubPr>
                                  <m:ctrlPr>
                                    <a:rPr lang="en-US" sz="1200" kern="100">
                                      <a:effectLst/>
                                    </a:rPr>
                                  </m:ctrlPr>
                                </m:sSubPr>
                                <m:e>
                                  <m:r>
                                    <m:rPr>
                                      <m:sty m:val="p"/>
                                    </m:rPr>
                                    <a:rPr lang="en-US" sz="1200" kern="100">
                                      <a:effectLst/>
                                    </a:rPr>
                                    <m:t>η</m:t>
                                  </m:r>
                                </m:e>
                                <m:sub>
                                  <m:r>
                                    <a:rPr lang="en-US" sz="1200" kern="100">
                                      <a:effectLst/>
                                    </a:rPr>
                                    <m:t>2</m:t>
                                  </m:r>
                                </m:sub>
                              </m:sSub>
                              <m:r>
                                <a:rPr lang="en-US" sz="1200" kern="100">
                                  <a:effectLst/>
                                </a:rPr>
                                <m:t>=</m:t>
                              </m:r>
                              <m:r>
                                <a:rPr lang="en-US" sz="1200" kern="100">
                                  <a:effectLst/>
                                </a:rPr>
                                <m:t>𝑙𝑜𝑔</m:t>
                              </m:r>
                              <m:r>
                                <a:rPr lang="en-US" sz="1200" kern="100">
                                  <a:effectLst/>
                                </a:rPr>
                                <m:t>(0.9)</m:t>
                              </m:r>
                            </m:oMath>
                          </a14:m>
                          <a:r>
                            <a:rPr lang="en-US" sz="1200" kern="100" dirty="0">
                              <a:effectLst/>
                            </a:rPr>
                            <a:t>)*</a:t>
                          </a:r>
                          <a:endParaRPr lang="en-US" sz="1100" kern="100" dirty="0">
                            <a:effectLst/>
                          </a:endParaRPr>
                        </a:p>
                        <a:p>
                          <a:pPr marL="0" marR="0">
                            <a:lnSpc>
                              <a:spcPct val="107000"/>
                            </a:lnSpc>
                            <a:spcBef>
                              <a:spcPts val="0"/>
                            </a:spcBef>
                            <a:spcAft>
                              <a:spcPts val="0"/>
                            </a:spcAft>
                          </a:pPr>
                          <a:r>
                            <a:rPr lang="en-US" sz="1200" kern="100" dirty="0">
                              <a:effectLst/>
                            </a:rPr>
                            <a:t>Moderate (</a:t>
                          </a:r>
                          <a14:m>
                            <m:oMath xmlns:m="http://schemas.openxmlformats.org/officeDocument/2006/math">
                              <m:sSub>
                                <m:sSubPr>
                                  <m:ctrlPr>
                                    <a:rPr lang="en-US" sz="1200" kern="100">
                                      <a:effectLst/>
                                    </a:rPr>
                                  </m:ctrlPr>
                                </m:sSubPr>
                                <m:e>
                                  <m:r>
                                    <m:rPr>
                                      <m:sty m:val="p"/>
                                    </m:rPr>
                                    <a:rPr lang="en-US" sz="1200" kern="100">
                                      <a:effectLst/>
                                    </a:rPr>
                                    <m:t>η</m:t>
                                  </m:r>
                                </m:e>
                                <m:sub>
                                  <m:r>
                                    <a:rPr lang="en-US" sz="1200" kern="100">
                                      <a:effectLst/>
                                    </a:rPr>
                                    <m:t>2</m:t>
                                  </m:r>
                                </m:sub>
                              </m:sSub>
                              <m:r>
                                <a:rPr lang="en-US" sz="1200" kern="100">
                                  <a:effectLst/>
                                </a:rPr>
                                <m:t>=</m:t>
                              </m:r>
                              <m:r>
                                <a:rPr lang="en-US" sz="1200" kern="100">
                                  <a:effectLst/>
                                </a:rPr>
                                <m:t>𝑙𝑜𝑔</m:t>
                              </m:r>
                              <m:r>
                                <a:rPr lang="en-US" sz="1200" kern="100">
                                  <a:effectLst/>
                                </a:rPr>
                                <m:t>(0.75)</m:t>
                              </m:r>
                            </m:oMath>
                          </a14:m>
                          <a:r>
                            <a:rPr lang="en-US" sz="1200" kern="100" dirty="0">
                              <a:effectLst/>
                            </a:rPr>
                            <a:t>)</a:t>
                          </a:r>
                          <a:endParaRPr lang="en-US" sz="1100" kern="100" dirty="0">
                            <a:effectLst/>
                          </a:endParaRPr>
                        </a:p>
                        <a:p>
                          <a:pPr marL="0" marR="0">
                            <a:lnSpc>
                              <a:spcPct val="107000"/>
                            </a:lnSpc>
                            <a:spcBef>
                              <a:spcPts val="0"/>
                            </a:spcBef>
                            <a:spcAft>
                              <a:spcPts val="0"/>
                            </a:spcAft>
                          </a:pPr>
                          <a:r>
                            <a:rPr lang="en-US" sz="1200" kern="100" dirty="0">
                              <a:effectLst/>
                            </a:rPr>
                            <a:t>Strong (</a:t>
                          </a:r>
                          <a14:m>
                            <m:oMath xmlns:m="http://schemas.openxmlformats.org/officeDocument/2006/math">
                              <m:sSub>
                                <m:sSubPr>
                                  <m:ctrlPr>
                                    <a:rPr lang="en-US" sz="1200" kern="100">
                                      <a:effectLst/>
                                    </a:rPr>
                                  </m:ctrlPr>
                                </m:sSubPr>
                                <m:e>
                                  <m:r>
                                    <m:rPr>
                                      <m:sty m:val="p"/>
                                    </m:rPr>
                                    <a:rPr lang="en-US" sz="1200" kern="100">
                                      <a:effectLst/>
                                    </a:rPr>
                                    <m:t>η</m:t>
                                  </m:r>
                                </m:e>
                                <m:sub>
                                  <m:r>
                                    <a:rPr lang="en-US" sz="1200" kern="100">
                                      <a:effectLst/>
                                    </a:rPr>
                                    <m:t>2</m:t>
                                  </m:r>
                                </m:sub>
                              </m:sSub>
                              <m:r>
                                <a:rPr lang="en-US" sz="1200" kern="100">
                                  <a:effectLst/>
                                </a:rPr>
                                <m:t>=</m:t>
                              </m:r>
                              <m:r>
                                <a:rPr lang="en-US" sz="1200" kern="100">
                                  <a:effectLst/>
                                </a:rPr>
                                <m:t>𝑙𝑜𝑔</m:t>
                              </m:r>
                              <m:r>
                                <a:rPr lang="en-US" sz="1200" kern="100">
                                  <a:effectLst/>
                                </a:rPr>
                                <m:t>(0.5)</m:t>
                              </m:r>
                            </m:oMath>
                          </a14:m>
                          <a:r>
                            <a:rPr lang="en-US" sz="1200" kern="100" dirty="0">
                              <a:effectLst/>
                            </a:rPr>
                            <a:t>)</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kern="100" dirty="0">
                              <a:effectLst/>
                            </a:rPr>
                            <a:t>(3): Strength of Covariate Effect</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25365283"/>
                      </a:ext>
                    </a:extLst>
                  </a:tr>
                </a:tbl>
              </a:graphicData>
            </a:graphic>
          </p:graphicFrame>
        </mc:Choice>
        <mc:Fallback>
          <p:graphicFrame>
            <p:nvGraphicFramePr>
              <p:cNvPr id="6" name="Table 5">
                <a:extLst>
                  <a:ext uri="{FF2B5EF4-FFF2-40B4-BE49-F238E27FC236}">
                    <a16:creationId xmlns:a16="http://schemas.microsoft.com/office/drawing/2014/main" id="{73A422EB-AA0B-324A-E5D6-7667E7CA5259}"/>
                  </a:ext>
                </a:extLst>
              </p:cNvPr>
              <p:cNvGraphicFramePr>
                <a:graphicFrameLocks noGrp="1"/>
              </p:cNvGraphicFramePr>
              <p:nvPr>
                <p:extLst>
                  <p:ext uri="{D42A27DB-BD31-4B8C-83A1-F6EECF244321}">
                    <p14:modId xmlns:p14="http://schemas.microsoft.com/office/powerpoint/2010/main" val="484242531"/>
                  </p:ext>
                </p:extLst>
              </p:nvPr>
            </p:nvGraphicFramePr>
            <p:xfrm>
              <a:off x="2794750" y="2201549"/>
              <a:ext cx="6972300" cy="2578360"/>
            </p:xfrm>
            <a:graphic>
              <a:graphicData uri="http://schemas.openxmlformats.org/drawingml/2006/table">
                <a:tbl>
                  <a:tblPr firstRow="1" firstCol="1" bandRow="1">
                    <a:tableStyleId>{073A0DAA-6AF3-43AB-8588-CEC1D06C72B9}</a:tableStyleId>
                  </a:tblPr>
                  <a:tblGrid>
                    <a:gridCol w="1714500">
                      <a:extLst>
                        <a:ext uri="{9D8B030D-6E8A-4147-A177-3AD203B41FA5}">
                          <a16:colId xmlns:a16="http://schemas.microsoft.com/office/drawing/2014/main" val="3750897364"/>
                        </a:ext>
                      </a:extLst>
                    </a:gridCol>
                    <a:gridCol w="2971800">
                      <a:extLst>
                        <a:ext uri="{9D8B030D-6E8A-4147-A177-3AD203B41FA5}">
                          <a16:colId xmlns:a16="http://schemas.microsoft.com/office/drawing/2014/main" val="633335769"/>
                        </a:ext>
                      </a:extLst>
                    </a:gridCol>
                    <a:gridCol w="2286000">
                      <a:extLst>
                        <a:ext uri="{9D8B030D-6E8A-4147-A177-3AD203B41FA5}">
                          <a16:colId xmlns:a16="http://schemas.microsoft.com/office/drawing/2014/main" val="374616032"/>
                        </a:ext>
                      </a:extLst>
                    </a:gridCol>
                  </a:tblGrid>
                  <a:tr h="221320">
                    <a:tc>
                      <a:txBody>
                        <a:bodyPr/>
                        <a:lstStyle/>
                        <a:p>
                          <a:pPr marL="0" marR="0">
                            <a:lnSpc>
                              <a:spcPct val="107000"/>
                            </a:lnSpc>
                            <a:spcBef>
                              <a:spcPts val="0"/>
                            </a:spcBef>
                            <a:spcAft>
                              <a:spcPts val="0"/>
                            </a:spcAft>
                          </a:pPr>
                          <a:r>
                            <a:rPr lang="en-US" sz="1200" kern="100" dirty="0">
                              <a:effectLst/>
                            </a:rPr>
                            <a:t>Simulation Settings</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kern="100" dirty="0">
                              <a:effectLst/>
                            </a:rPr>
                            <a:t>Levels / Values</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kern="100" dirty="0">
                              <a:effectLst/>
                            </a:rPr>
                            <a:t>Description / Notes</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26997703"/>
                      </a:ext>
                    </a:extLst>
                  </a:tr>
                  <a:tr h="387673">
                    <a:tc>
                      <a:txBody>
                        <a:bodyPr/>
                        <a:lstStyle/>
                        <a:p>
                          <a:pPr marL="0" marR="0">
                            <a:lnSpc>
                              <a:spcPct val="107000"/>
                            </a:lnSpc>
                            <a:spcBef>
                              <a:spcPts val="0"/>
                            </a:spcBef>
                            <a:spcAft>
                              <a:spcPts val="0"/>
                            </a:spcAft>
                          </a:pPr>
                          <a:r>
                            <a:rPr lang="en-US" sz="1200" kern="100">
                              <a:effectLst/>
                            </a:rPr>
                            <a:t>Sample Size</a:t>
                          </a:r>
                          <a:endParaRPr lang="en-US" sz="11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kern="100" dirty="0">
                              <a:effectLst/>
                            </a:rPr>
                            <a:t>120*, 400, 1000</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kern="100">
                              <a:effectLst/>
                            </a:rPr>
                            <a:t>(3) Sample size of each dataset</a:t>
                          </a:r>
                          <a:endParaRPr lang="en-US" sz="11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02710125"/>
                      </a:ext>
                    </a:extLst>
                  </a:tr>
                  <a:tr h="790847">
                    <a:tc>
                      <a:txBody>
                        <a:bodyPr/>
                        <a:lstStyle/>
                        <a:p>
                          <a:pPr marL="0" marR="0">
                            <a:lnSpc>
                              <a:spcPct val="107000"/>
                            </a:lnSpc>
                            <a:spcBef>
                              <a:spcPts val="0"/>
                            </a:spcBef>
                            <a:spcAft>
                              <a:spcPts val="0"/>
                            </a:spcAft>
                          </a:pPr>
                          <a:r>
                            <a:rPr lang="en-US" sz="1200" kern="100" dirty="0">
                              <a:effectLst/>
                            </a:rPr>
                            <a:t>Measurement Error (Laplace)</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57992" t="-83846" r="-77664" b="-157692"/>
                          </a:stretch>
                        </a:blipFill>
                      </a:tcPr>
                    </a:tc>
                    <a:tc>
                      <a:txBody>
                        <a:bodyPr/>
                        <a:lstStyle/>
                        <a:p>
                          <a:endParaRPr lang="en-US"/>
                        </a:p>
                      </a:txBody>
                      <a:tcPr marL="68580" marR="68580" marT="0" marB="0">
                        <a:blipFill>
                          <a:blip r:embed="rId2"/>
                          <a:stretch>
                            <a:fillRect l="-205600" t="-83846" r="-1067" b="-157692"/>
                          </a:stretch>
                        </a:blipFill>
                      </a:tcPr>
                    </a:tc>
                    <a:extLst>
                      <a:ext uri="{0D108BD9-81ED-4DB2-BD59-A6C34878D82A}">
                        <a16:rowId xmlns:a16="http://schemas.microsoft.com/office/drawing/2014/main" val="1009326319"/>
                      </a:ext>
                    </a:extLst>
                  </a:tr>
                  <a:tr h="589260">
                    <a:tc>
                      <a:txBody>
                        <a:bodyPr/>
                        <a:lstStyle/>
                        <a:p>
                          <a:pPr marL="0" marR="0">
                            <a:lnSpc>
                              <a:spcPct val="107000"/>
                            </a:lnSpc>
                            <a:spcBef>
                              <a:spcPts val="0"/>
                            </a:spcBef>
                            <a:spcAft>
                              <a:spcPts val="0"/>
                            </a:spcAft>
                          </a:pPr>
                          <a:r>
                            <a:rPr lang="en-US" sz="1200" kern="100" dirty="0">
                              <a:effectLst/>
                            </a:rPr>
                            <a:t>Treatment Effect</a:t>
                          </a:r>
                        </a:p>
                        <a:p>
                          <a:pPr marL="0" marR="0">
                            <a:lnSpc>
                              <a:spcPct val="107000"/>
                            </a:lnSpc>
                            <a:spcBef>
                              <a:spcPts val="0"/>
                            </a:spcBef>
                            <a:spcAft>
                              <a:spcPts val="0"/>
                            </a:spcAft>
                          </a:pPr>
                          <a:r>
                            <a:rPr lang="en-US" sz="1200" kern="100" dirty="0">
                              <a:effectLst/>
                            </a:rPr>
                            <a:t>(Binary)</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57992" t="-246392" r="-77664" b="-111340"/>
                          </a:stretch>
                        </a:blipFill>
                      </a:tcPr>
                    </a:tc>
                    <a:tc>
                      <a:txBody>
                        <a:bodyPr/>
                        <a:lstStyle/>
                        <a:p>
                          <a:pPr marL="0" marR="0">
                            <a:lnSpc>
                              <a:spcPct val="107000"/>
                            </a:lnSpc>
                            <a:spcBef>
                              <a:spcPts val="0"/>
                            </a:spcBef>
                            <a:spcAft>
                              <a:spcPts val="0"/>
                            </a:spcAft>
                          </a:pPr>
                          <a:r>
                            <a:rPr lang="en-US" sz="1200" kern="100">
                              <a:effectLst/>
                            </a:rPr>
                            <a:t>(2): Strength of Treatment Effect</a:t>
                          </a:r>
                          <a:endParaRPr lang="en-US" sz="11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14425506"/>
                      </a:ext>
                    </a:extLst>
                  </a:tr>
                  <a:tr h="589260">
                    <a:tc>
                      <a:txBody>
                        <a:bodyPr/>
                        <a:lstStyle/>
                        <a:p>
                          <a:pPr marL="0" marR="0">
                            <a:lnSpc>
                              <a:spcPct val="107000"/>
                            </a:lnSpc>
                            <a:spcBef>
                              <a:spcPts val="0"/>
                            </a:spcBef>
                            <a:spcAft>
                              <a:spcPts val="0"/>
                            </a:spcAft>
                          </a:pPr>
                          <a:r>
                            <a:rPr lang="en-US" sz="1200" kern="100" dirty="0">
                              <a:effectLst/>
                            </a:rPr>
                            <a:t>Covariate Effect</a:t>
                          </a:r>
                        </a:p>
                        <a:p>
                          <a:pPr marL="0" marR="0">
                            <a:lnSpc>
                              <a:spcPct val="107000"/>
                            </a:lnSpc>
                            <a:spcBef>
                              <a:spcPts val="0"/>
                            </a:spcBef>
                            <a:spcAft>
                              <a:spcPts val="0"/>
                            </a:spcAft>
                          </a:pPr>
                          <a:r>
                            <a:rPr lang="en-US" sz="1200" kern="100" dirty="0">
                              <a:effectLst/>
                            </a:rPr>
                            <a:t>(Normal)</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57992" t="-346392" r="-77664" b="-11340"/>
                          </a:stretch>
                        </a:blipFill>
                      </a:tcPr>
                    </a:tc>
                    <a:tc>
                      <a:txBody>
                        <a:bodyPr/>
                        <a:lstStyle/>
                        <a:p>
                          <a:pPr marL="0" marR="0">
                            <a:lnSpc>
                              <a:spcPct val="107000"/>
                            </a:lnSpc>
                            <a:spcBef>
                              <a:spcPts val="0"/>
                            </a:spcBef>
                            <a:spcAft>
                              <a:spcPts val="0"/>
                            </a:spcAft>
                          </a:pPr>
                          <a:r>
                            <a:rPr lang="en-US" sz="1200" kern="100" dirty="0">
                              <a:effectLst/>
                            </a:rPr>
                            <a:t>(3): Strength of Covariate Effect</a:t>
                          </a:r>
                          <a:endParaRPr lang="en-US" sz="1100" kern="100" dirty="0">
                            <a:effectLst/>
                            <a:latin typeface="Century Gothic" panose="020B0502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25365283"/>
                      </a:ext>
                    </a:extLst>
                  </a:tr>
                </a:tbl>
              </a:graphicData>
            </a:graphic>
          </p:graphicFrame>
        </mc:Fallback>
      </mc:AlternateContent>
    </p:spTree>
    <p:extLst>
      <p:ext uri="{BB962C8B-B14F-4D97-AF65-F5344CB8AC3E}">
        <p14:creationId xmlns:p14="http://schemas.microsoft.com/office/powerpoint/2010/main" val="413382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C127E3-FF22-12B4-71E3-612CEED0D3C1}"/>
              </a:ext>
            </a:extLst>
          </p:cNvPr>
          <p:cNvSpPr>
            <a:spLocks noGrp="1"/>
          </p:cNvSpPr>
          <p:nvPr>
            <p:ph type="sldNum" sz="quarter" idx="11"/>
          </p:nvPr>
        </p:nvSpPr>
        <p:spPr/>
        <p:txBody>
          <a:bodyPr/>
          <a:lstStyle/>
          <a:p>
            <a:fld id="{523A240F-EAFE-E84F-B44C-6D7A08E0E409}" type="slidenum">
              <a:rPr lang="en-US" smtClean="0"/>
              <a:t>23</a:t>
            </a:fld>
            <a:endParaRPr lang="en-US"/>
          </a:p>
        </p:txBody>
      </p:sp>
      <p:sp>
        <p:nvSpPr>
          <p:cNvPr id="3" name="Footer Placeholder 2">
            <a:extLst>
              <a:ext uri="{FF2B5EF4-FFF2-40B4-BE49-F238E27FC236}">
                <a16:creationId xmlns:a16="http://schemas.microsoft.com/office/drawing/2014/main" id="{A1274C43-26EE-6640-8925-9CC66D66DC45}"/>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ED09C3EC-1DCE-987B-9EAD-8B4D47378452}"/>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CAF2CEF8-5374-8D4B-C9D8-65B0887ACC09}"/>
              </a:ext>
            </a:extLst>
          </p:cNvPr>
          <p:cNvSpPr>
            <a:spLocks noGrp="1"/>
          </p:cNvSpPr>
          <p:nvPr>
            <p:ph type="title"/>
          </p:nvPr>
        </p:nvSpPr>
        <p:spPr/>
        <p:txBody>
          <a:bodyPr/>
          <a:lstStyle/>
          <a:p>
            <a:r>
              <a:rPr lang="sv-SE" dirty="0"/>
              <a:t>Supplemental 5: Coverage result</a:t>
            </a:r>
            <a:endParaRPr lang="en-US" dirty="0"/>
          </a:p>
        </p:txBody>
      </p:sp>
      <p:pic>
        <p:nvPicPr>
          <p:cNvPr id="7" name="Picture 6" descr="A graph of a graph of a graph&#10;&#10;AI-generated content may be incorrect.">
            <a:extLst>
              <a:ext uri="{FF2B5EF4-FFF2-40B4-BE49-F238E27FC236}">
                <a16:creationId xmlns:a16="http://schemas.microsoft.com/office/drawing/2014/main" id="{F64D6445-7A3A-4EC6-CCF3-AEE95522B96B}"/>
              </a:ext>
            </a:extLst>
          </p:cNvPr>
          <p:cNvPicPr>
            <a:picLocks noChangeAspect="1"/>
          </p:cNvPicPr>
          <p:nvPr/>
        </p:nvPicPr>
        <p:blipFill>
          <a:blip r:embed="rId2"/>
          <a:stretch>
            <a:fillRect/>
          </a:stretch>
        </p:blipFill>
        <p:spPr>
          <a:xfrm>
            <a:off x="2771279" y="1371601"/>
            <a:ext cx="6665990" cy="4114808"/>
          </a:xfrm>
          <a:prstGeom prst="rect">
            <a:avLst/>
          </a:prstGeom>
        </p:spPr>
      </p:pic>
    </p:spTree>
    <p:extLst>
      <p:ext uri="{BB962C8B-B14F-4D97-AF65-F5344CB8AC3E}">
        <p14:creationId xmlns:p14="http://schemas.microsoft.com/office/powerpoint/2010/main" val="3776894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C127E3-FF22-12B4-71E3-612CEED0D3C1}"/>
              </a:ext>
            </a:extLst>
          </p:cNvPr>
          <p:cNvSpPr>
            <a:spLocks noGrp="1"/>
          </p:cNvSpPr>
          <p:nvPr>
            <p:ph type="sldNum" sz="quarter" idx="11"/>
          </p:nvPr>
        </p:nvSpPr>
        <p:spPr/>
        <p:txBody>
          <a:bodyPr/>
          <a:lstStyle/>
          <a:p>
            <a:fld id="{523A240F-EAFE-E84F-B44C-6D7A08E0E409}" type="slidenum">
              <a:rPr lang="en-US" smtClean="0"/>
              <a:t>24</a:t>
            </a:fld>
            <a:endParaRPr lang="en-US"/>
          </a:p>
        </p:txBody>
      </p:sp>
      <p:sp>
        <p:nvSpPr>
          <p:cNvPr id="3" name="Footer Placeholder 2">
            <a:extLst>
              <a:ext uri="{FF2B5EF4-FFF2-40B4-BE49-F238E27FC236}">
                <a16:creationId xmlns:a16="http://schemas.microsoft.com/office/drawing/2014/main" id="{A1274C43-26EE-6640-8925-9CC66D66DC45}"/>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ED09C3EC-1DCE-987B-9EAD-8B4D47378452}"/>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CAF2CEF8-5374-8D4B-C9D8-65B0887ACC09}"/>
              </a:ext>
            </a:extLst>
          </p:cNvPr>
          <p:cNvSpPr>
            <a:spLocks noGrp="1"/>
          </p:cNvSpPr>
          <p:nvPr>
            <p:ph type="title"/>
          </p:nvPr>
        </p:nvSpPr>
        <p:spPr/>
        <p:txBody>
          <a:bodyPr/>
          <a:lstStyle/>
          <a:p>
            <a:r>
              <a:rPr lang="sv-SE" dirty="0"/>
              <a:t>Supplemental 6: What is Relative Bias?</a:t>
            </a: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9792D21-CE39-F1E6-6C90-56F76DB548C1}"/>
                  </a:ext>
                </a:extLst>
              </p:cNvPr>
              <p:cNvSpPr txBox="1"/>
              <p:nvPr/>
            </p:nvSpPr>
            <p:spPr>
              <a:xfrm>
                <a:off x="824216" y="3084159"/>
                <a:ext cx="2111929" cy="404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kern="100" smtClean="0">
                          <a:effectLst/>
                          <a:latin typeface="Cambria Math" panose="02040503050406030204" pitchFamily="18" charset="0"/>
                          <a:ea typeface="Aptos" panose="020B0004020202020204" pitchFamily="34" charset="0"/>
                          <a:cs typeface="Times New Roman" panose="02020603050405020304" pitchFamily="18" charset="0"/>
                        </a:rPr>
                        <m:t>𝐵𝑖𝑎𝑠</m:t>
                      </m:r>
                      <m:d>
                        <m:dPr>
                          <m:ctrlPr>
                            <a:rPr lang="en-US" sz="1800" b="0" i="1" kern="100" smtClean="0">
                              <a:effectLst/>
                              <a:latin typeface="Cambria Math" panose="02040503050406030204" pitchFamily="18" charset="0"/>
                              <a:ea typeface="Aptos" panose="020B0004020202020204" pitchFamily="34" charset="0"/>
                              <a:cs typeface="Times New Roman" panose="02020603050405020304" pitchFamily="18" charset="0"/>
                            </a:rPr>
                          </m:ctrlPr>
                        </m:dPr>
                        <m:e>
                          <m:acc>
                            <m:accPr>
                              <m:chr m:val="̂"/>
                              <m:ctrlPr>
                                <a:rPr lang="en-US" sz="1800" b="0" i="1" kern="100" smtClean="0">
                                  <a:effectLst/>
                                  <a:latin typeface="Cambria Math" panose="02040503050406030204" pitchFamily="18" charset="0"/>
                                  <a:ea typeface="Aptos" panose="020B0004020202020204" pitchFamily="34" charset="0"/>
                                  <a:cs typeface="Times New Roman" panose="02020603050405020304" pitchFamily="18" charset="0"/>
                                </a:rPr>
                              </m:ctrlPr>
                            </m:accPr>
                            <m:e>
                              <m:r>
                                <a:rPr lang="en-US" sz="1800" b="0" i="1" kern="100" smtClean="0">
                                  <a:effectLst/>
                                  <a:latin typeface="Cambria Math" panose="02040503050406030204" pitchFamily="18" charset="0"/>
                                  <a:cs typeface="Times New Roman" panose="02020603050405020304" pitchFamily="18" charset="0"/>
                                </a:rPr>
                                <m:t>𝜃</m:t>
                              </m:r>
                            </m:e>
                          </m:acc>
                        </m:e>
                      </m:d>
                      <m:r>
                        <a:rPr lang="en-US" sz="1800" b="0" i="1" kern="100" smtClean="0">
                          <a:effectLst/>
                          <a:latin typeface="Cambria Math" panose="02040503050406030204" pitchFamily="18" charset="0"/>
                          <a:cs typeface="Times New Roman" panose="02020603050405020304" pitchFamily="18" charset="0"/>
                        </a:rPr>
                        <m:t>=</m:t>
                      </m:r>
                      <m:r>
                        <a:rPr lang="en-US" sz="1800" b="0" i="1" kern="100" smtClean="0">
                          <a:effectLst/>
                          <a:latin typeface="Cambria Math" panose="02040503050406030204" pitchFamily="18" charset="0"/>
                          <a:cs typeface="Times New Roman" panose="02020603050405020304" pitchFamily="18" charset="0"/>
                        </a:rPr>
                        <m:t>𝜃</m:t>
                      </m:r>
                      <m:r>
                        <a:rPr lang="en-US" sz="1800" b="0" i="1" kern="100" smtClean="0">
                          <a:effectLst/>
                          <a:latin typeface="Cambria Math" panose="02040503050406030204" pitchFamily="18" charset="0"/>
                          <a:cs typeface="Times New Roman" panose="02020603050405020304" pitchFamily="18" charset="0"/>
                        </a:rPr>
                        <m:t>−</m:t>
                      </m:r>
                      <m:acc>
                        <m:accPr>
                          <m:chr m:val="̂"/>
                          <m:ctrlPr>
                            <a:rPr lang="en-US" i="1" kern="100">
                              <a:latin typeface="Cambria Math" panose="02040503050406030204" pitchFamily="18" charset="0"/>
                              <a:ea typeface="Aptos" panose="020B0004020202020204" pitchFamily="34" charset="0"/>
                              <a:cs typeface="Times New Roman" panose="02020603050405020304" pitchFamily="18" charset="0"/>
                            </a:rPr>
                          </m:ctrlPr>
                        </m:accPr>
                        <m:e>
                          <m:r>
                            <a:rPr lang="en-US" i="1" kern="100">
                              <a:latin typeface="Cambria Math" panose="02040503050406030204" pitchFamily="18" charset="0"/>
                              <a:cs typeface="Times New Roman" panose="02020603050405020304" pitchFamily="18" charset="0"/>
                            </a:rPr>
                            <m:t>𝜃</m:t>
                          </m:r>
                        </m:e>
                      </m:acc>
                    </m:oMath>
                  </m:oMathPara>
                </a14:m>
                <a:endParaRPr lang="en-US" dirty="0"/>
              </a:p>
            </p:txBody>
          </p:sp>
        </mc:Choice>
        <mc:Fallback xmlns="">
          <p:sp>
            <p:nvSpPr>
              <p:cNvPr id="8" name="TextBox 7">
                <a:extLst>
                  <a:ext uri="{FF2B5EF4-FFF2-40B4-BE49-F238E27FC236}">
                    <a16:creationId xmlns:a16="http://schemas.microsoft.com/office/drawing/2014/main" id="{09792D21-CE39-F1E6-6C90-56F76DB548C1}"/>
                  </a:ext>
                </a:extLst>
              </p:cNvPr>
              <p:cNvSpPr txBox="1">
                <a:spLocks noRot="1" noChangeAspect="1" noMove="1" noResize="1" noEditPoints="1" noAdjustHandles="1" noChangeArrowheads="1" noChangeShapeType="1" noTextEdit="1"/>
              </p:cNvSpPr>
              <p:nvPr/>
            </p:nvSpPr>
            <p:spPr>
              <a:xfrm>
                <a:off x="824216" y="3084159"/>
                <a:ext cx="2111929" cy="404983"/>
              </a:xfrm>
              <a:prstGeom prst="rect">
                <a:avLst/>
              </a:prstGeom>
              <a:blipFill>
                <a:blip r:embed="rId2"/>
                <a:stretch>
                  <a:fillRect t="-4545" r="-25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B82D86F-C52A-1A45-022F-B90AF3C89C08}"/>
                  </a:ext>
                </a:extLst>
              </p:cNvPr>
              <p:cNvSpPr txBox="1"/>
              <p:nvPr/>
            </p:nvSpPr>
            <p:spPr>
              <a:xfrm>
                <a:off x="421546" y="3577506"/>
                <a:ext cx="3244443" cy="6808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kern="100" smtClean="0">
                          <a:effectLst/>
                          <a:latin typeface="Cambria Math" panose="02040503050406030204" pitchFamily="18" charset="0"/>
                          <a:ea typeface="Aptos" panose="020B0004020202020204" pitchFamily="34" charset="0"/>
                          <a:cs typeface="Times New Roman" panose="02020603050405020304" pitchFamily="18" charset="0"/>
                        </a:rPr>
                        <m:t>𝑅𝑒𝑙𝐵𝑖𝑎𝑠</m:t>
                      </m:r>
                      <m:d>
                        <m:dPr>
                          <m:ctrlPr>
                            <a:rPr lang="en-US" sz="1800" b="0" i="1" kern="100" smtClean="0">
                              <a:effectLst/>
                              <a:latin typeface="Cambria Math" panose="02040503050406030204" pitchFamily="18" charset="0"/>
                              <a:ea typeface="Aptos" panose="020B0004020202020204" pitchFamily="34" charset="0"/>
                              <a:cs typeface="Times New Roman" panose="02020603050405020304" pitchFamily="18" charset="0"/>
                            </a:rPr>
                          </m:ctrlPr>
                        </m:dPr>
                        <m:e>
                          <m:acc>
                            <m:accPr>
                              <m:chr m:val="̂"/>
                              <m:ctrlPr>
                                <a:rPr lang="en-US" sz="1800" b="0" i="1" kern="100" smtClean="0">
                                  <a:effectLst/>
                                  <a:latin typeface="Cambria Math" panose="02040503050406030204" pitchFamily="18" charset="0"/>
                                  <a:ea typeface="Aptos" panose="020B0004020202020204" pitchFamily="34" charset="0"/>
                                  <a:cs typeface="Times New Roman" panose="02020603050405020304" pitchFamily="18" charset="0"/>
                                </a:rPr>
                              </m:ctrlPr>
                            </m:accPr>
                            <m:e>
                              <m:r>
                                <a:rPr lang="en-US" sz="1800" b="0" i="1" kern="100" smtClean="0">
                                  <a:effectLst/>
                                  <a:latin typeface="Cambria Math" panose="02040503050406030204" pitchFamily="18" charset="0"/>
                                  <a:cs typeface="Times New Roman" panose="02020603050405020304" pitchFamily="18" charset="0"/>
                                </a:rPr>
                                <m:t>𝜃</m:t>
                              </m:r>
                            </m:e>
                          </m:acc>
                        </m:e>
                      </m:d>
                      <m:r>
                        <a:rPr lang="en-US" sz="1800" b="0" i="1" kern="100" smtClean="0">
                          <a:effectLst/>
                          <a:latin typeface="Cambria Math" panose="02040503050406030204" pitchFamily="18" charset="0"/>
                          <a:cs typeface="Times New Roman" panose="02020603050405020304" pitchFamily="18" charset="0"/>
                        </a:rPr>
                        <m:t>=</m:t>
                      </m:r>
                      <m:f>
                        <m:fPr>
                          <m:ctrlPr>
                            <a:rPr lang="en-US" sz="1800" b="0" i="1" kern="100" smtClean="0">
                              <a:effectLst/>
                              <a:latin typeface="Cambria Math" panose="02040503050406030204" pitchFamily="18" charset="0"/>
                              <a:cs typeface="Times New Roman" panose="02020603050405020304" pitchFamily="18" charset="0"/>
                            </a:rPr>
                          </m:ctrlPr>
                        </m:fPr>
                        <m:num>
                          <m:r>
                            <a:rPr lang="en-US" i="1" kern="100">
                              <a:latin typeface="Cambria Math" panose="02040503050406030204" pitchFamily="18" charset="0"/>
                              <a:cs typeface="Times New Roman" panose="02020603050405020304" pitchFamily="18" charset="0"/>
                            </a:rPr>
                            <m:t>𝜃</m:t>
                          </m:r>
                          <m:r>
                            <a:rPr lang="en-US" i="1" kern="100">
                              <a:latin typeface="Cambria Math" panose="02040503050406030204" pitchFamily="18" charset="0"/>
                              <a:cs typeface="Times New Roman" panose="02020603050405020304" pitchFamily="18" charset="0"/>
                            </a:rPr>
                            <m:t>−</m:t>
                          </m:r>
                          <m:acc>
                            <m:accPr>
                              <m:chr m:val="̂"/>
                              <m:ctrlPr>
                                <a:rPr lang="en-US" i="1" kern="100">
                                  <a:latin typeface="Cambria Math" panose="02040503050406030204" pitchFamily="18" charset="0"/>
                                  <a:ea typeface="Aptos" panose="020B0004020202020204" pitchFamily="34" charset="0"/>
                                  <a:cs typeface="Times New Roman" panose="02020603050405020304" pitchFamily="18" charset="0"/>
                                </a:rPr>
                              </m:ctrlPr>
                            </m:accPr>
                            <m:e>
                              <m:r>
                                <a:rPr lang="en-US" i="1" kern="100">
                                  <a:latin typeface="Cambria Math" panose="02040503050406030204" pitchFamily="18" charset="0"/>
                                  <a:cs typeface="Times New Roman" panose="02020603050405020304" pitchFamily="18" charset="0"/>
                                </a:rPr>
                                <m:t>𝜃</m:t>
                              </m:r>
                            </m:e>
                          </m:acc>
                        </m:num>
                        <m:den>
                          <m:acc>
                            <m:accPr>
                              <m:chr m:val="̂"/>
                              <m:ctrlPr>
                                <a:rPr lang="en-US" i="1" kern="100">
                                  <a:latin typeface="Cambria Math" panose="02040503050406030204" pitchFamily="18" charset="0"/>
                                  <a:ea typeface="Aptos" panose="020B0004020202020204" pitchFamily="34" charset="0"/>
                                  <a:cs typeface="Times New Roman" panose="02020603050405020304" pitchFamily="18" charset="0"/>
                                </a:rPr>
                              </m:ctrlPr>
                            </m:accPr>
                            <m:e>
                              <m:r>
                                <a:rPr lang="en-US" i="1" kern="100">
                                  <a:latin typeface="Cambria Math" panose="02040503050406030204" pitchFamily="18" charset="0"/>
                                  <a:cs typeface="Times New Roman" panose="02020603050405020304" pitchFamily="18" charset="0"/>
                                </a:rPr>
                                <m:t>𝜃</m:t>
                              </m:r>
                            </m:e>
                          </m:acc>
                        </m:den>
                      </m:f>
                      <m:r>
                        <a:rPr lang="en-US" sz="1800" b="0" i="1" kern="100" smtClean="0">
                          <a:effectLst/>
                          <a:latin typeface="Cambria Math" panose="02040503050406030204" pitchFamily="18" charset="0"/>
                          <a:cs typeface="Times New Roman" panose="02020603050405020304" pitchFamily="18" charset="0"/>
                        </a:rPr>
                        <m:t>∗100</m:t>
                      </m:r>
                    </m:oMath>
                  </m:oMathPara>
                </a14:m>
                <a:endParaRPr lang="en-US" dirty="0"/>
              </a:p>
            </p:txBody>
          </p:sp>
        </mc:Choice>
        <mc:Fallback xmlns="">
          <p:sp>
            <p:nvSpPr>
              <p:cNvPr id="9" name="TextBox 8">
                <a:extLst>
                  <a:ext uri="{FF2B5EF4-FFF2-40B4-BE49-F238E27FC236}">
                    <a16:creationId xmlns:a16="http://schemas.microsoft.com/office/drawing/2014/main" id="{9B82D86F-C52A-1A45-022F-B90AF3C89C08}"/>
                  </a:ext>
                </a:extLst>
              </p:cNvPr>
              <p:cNvSpPr txBox="1">
                <a:spLocks noRot="1" noChangeAspect="1" noMove="1" noResize="1" noEditPoints="1" noAdjustHandles="1" noChangeArrowheads="1" noChangeShapeType="1" noTextEdit="1"/>
              </p:cNvSpPr>
              <p:nvPr/>
            </p:nvSpPr>
            <p:spPr>
              <a:xfrm>
                <a:off x="421546" y="3577506"/>
                <a:ext cx="3244443" cy="680892"/>
              </a:xfrm>
              <a:prstGeom prst="rect">
                <a:avLst/>
              </a:prstGeom>
              <a:blipFill>
                <a:blip r:embed="rId3"/>
                <a:stretch>
                  <a:fillRect/>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EABEBB98-45E8-8A44-46FB-6B5E0AFF8174}"/>
              </a:ext>
            </a:extLst>
          </p:cNvPr>
          <p:cNvCxnSpPr>
            <a:cxnSpLocks/>
          </p:cNvCxnSpPr>
          <p:nvPr/>
        </p:nvCxnSpPr>
        <p:spPr>
          <a:xfrm flipV="1">
            <a:off x="3665989" y="2399251"/>
            <a:ext cx="2248250" cy="881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2D4E8F7-5396-E55C-D2FD-B221F6A50B9D}"/>
              </a:ext>
            </a:extLst>
          </p:cNvPr>
          <p:cNvCxnSpPr>
            <a:cxnSpLocks/>
          </p:cNvCxnSpPr>
          <p:nvPr/>
        </p:nvCxnSpPr>
        <p:spPr>
          <a:xfrm>
            <a:off x="3791824" y="3929147"/>
            <a:ext cx="1979802" cy="7770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9C8612E-65C0-3931-3C0E-5B8D8395267A}"/>
                  </a:ext>
                </a:extLst>
              </p:cNvPr>
              <p:cNvSpPr txBox="1"/>
              <p:nvPr/>
            </p:nvSpPr>
            <p:spPr>
              <a:xfrm>
                <a:off x="6025392" y="2208718"/>
                <a:ext cx="1231084" cy="6580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kern="100" smtClean="0">
                          <a:effectLst/>
                          <a:latin typeface="Cambria Math" panose="02040503050406030204" pitchFamily="18" charset="0"/>
                          <a:cs typeface="Times New Roman" panose="02020603050405020304" pitchFamily="18" charset="0"/>
                        </a:rPr>
                        <m:t>𝜃</m:t>
                      </m:r>
                      <m:r>
                        <a:rPr lang="en-US" sz="1800" b="0" i="1" kern="100" smtClean="0">
                          <a:effectLst/>
                          <a:latin typeface="Cambria Math" panose="02040503050406030204" pitchFamily="18" charset="0"/>
                          <a:cs typeface="Times New Roman" panose="02020603050405020304" pitchFamily="18" charset="0"/>
                        </a:rPr>
                        <m:t>=7</m:t>
                      </m:r>
                    </m:oMath>
                  </m:oMathPara>
                </a14:m>
                <a:endParaRPr lang="en-US" sz="1800" b="0" i="1" kern="100" dirty="0">
                  <a:effectLst/>
                  <a:latin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acc>
                        <m:accPr>
                          <m:chr m:val="̂"/>
                          <m:ctrlPr>
                            <a:rPr lang="en-US" i="1" kern="100" smtClean="0">
                              <a:latin typeface="Cambria Math" panose="02040503050406030204" pitchFamily="18" charset="0"/>
                              <a:ea typeface="Aptos" panose="020B0004020202020204" pitchFamily="34" charset="0"/>
                              <a:cs typeface="Times New Roman" panose="02020603050405020304" pitchFamily="18" charset="0"/>
                            </a:rPr>
                          </m:ctrlPr>
                        </m:accPr>
                        <m:e>
                          <m:r>
                            <a:rPr lang="en-US" i="1" kern="100">
                              <a:latin typeface="Cambria Math" panose="02040503050406030204" pitchFamily="18" charset="0"/>
                              <a:cs typeface="Times New Roman" panose="02020603050405020304" pitchFamily="18" charset="0"/>
                            </a:rPr>
                            <m:t>𝜃</m:t>
                          </m:r>
                        </m:e>
                      </m:acc>
                      <m:r>
                        <a:rPr lang="en-US" b="0" i="1" kern="100" smtClean="0">
                          <a:latin typeface="Cambria Math" panose="02040503050406030204" pitchFamily="18" charset="0"/>
                          <a:cs typeface="Times New Roman" panose="02020603050405020304" pitchFamily="18" charset="0"/>
                        </a:rPr>
                        <m:t>=7.001</m:t>
                      </m:r>
                    </m:oMath>
                  </m:oMathPara>
                </a14:m>
                <a:endParaRPr lang="en-US" dirty="0"/>
              </a:p>
            </p:txBody>
          </p:sp>
        </mc:Choice>
        <mc:Fallback xmlns="">
          <p:sp>
            <p:nvSpPr>
              <p:cNvPr id="19" name="TextBox 18">
                <a:extLst>
                  <a:ext uri="{FF2B5EF4-FFF2-40B4-BE49-F238E27FC236}">
                    <a16:creationId xmlns:a16="http://schemas.microsoft.com/office/drawing/2014/main" id="{29C8612E-65C0-3931-3C0E-5B8D8395267A}"/>
                  </a:ext>
                </a:extLst>
              </p:cNvPr>
              <p:cNvSpPr txBox="1">
                <a:spLocks noRot="1" noChangeAspect="1" noMove="1" noResize="1" noEditPoints="1" noAdjustHandles="1" noChangeArrowheads="1" noChangeShapeType="1" noTextEdit="1"/>
              </p:cNvSpPr>
              <p:nvPr/>
            </p:nvSpPr>
            <p:spPr>
              <a:xfrm>
                <a:off x="6025392" y="2208718"/>
                <a:ext cx="1231084" cy="6580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1465483-DF9C-B3DD-24A0-06EBF374ECB0}"/>
                  </a:ext>
                </a:extLst>
              </p:cNvPr>
              <p:cNvSpPr txBox="1"/>
              <p:nvPr/>
            </p:nvSpPr>
            <p:spPr>
              <a:xfrm>
                <a:off x="6025392" y="4466755"/>
                <a:ext cx="1231084" cy="6580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kern="100" smtClean="0">
                          <a:effectLst/>
                          <a:latin typeface="Cambria Math" panose="02040503050406030204" pitchFamily="18" charset="0"/>
                          <a:cs typeface="Times New Roman" panose="02020603050405020304" pitchFamily="18" charset="0"/>
                        </a:rPr>
                        <m:t>𝜃</m:t>
                      </m:r>
                      <m:r>
                        <a:rPr lang="en-US" sz="1800" b="0" i="1" kern="100" smtClean="0">
                          <a:effectLst/>
                          <a:latin typeface="Cambria Math" panose="02040503050406030204" pitchFamily="18" charset="0"/>
                          <a:cs typeface="Times New Roman" panose="02020603050405020304" pitchFamily="18" charset="0"/>
                        </a:rPr>
                        <m:t>=0.002</m:t>
                      </m:r>
                    </m:oMath>
                  </m:oMathPara>
                </a14:m>
                <a:endParaRPr lang="en-US" sz="1800" b="0" i="1" kern="100" dirty="0">
                  <a:effectLst/>
                  <a:latin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acc>
                        <m:accPr>
                          <m:chr m:val="̂"/>
                          <m:ctrlPr>
                            <a:rPr lang="en-US" i="1" kern="100" smtClean="0">
                              <a:latin typeface="Cambria Math" panose="02040503050406030204" pitchFamily="18" charset="0"/>
                              <a:ea typeface="Aptos" panose="020B0004020202020204" pitchFamily="34" charset="0"/>
                              <a:cs typeface="Times New Roman" panose="02020603050405020304" pitchFamily="18" charset="0"/>
                            </a:rPr>
                          </m:ctrlPr>
                        </m:accPr>
                        <m:e>
                          <m:r>
                            <a:rPr lang="en-US" i="1" kern="100">
                              <a:latin typeface="Cambria Math" panose="02040503050406030204" pitchFamily="18" charset="0"/>
                              <a:cs typeface="Times New Roman" panose="02020603050405020304" pitchFamily="18" charset="0"/>
                            </a:rPr>
                            <m:t>𝜃</m:t>
                          </m:r>
                        </m:e>
                      </m:acc>
                      <m:r>
                        <a:rPr lang="en-US" b="0" i="1" kern="100" smtClean="0">
                          <a:latin typeface="Cambria Math" panose="02040503050406030204" pitchFamily="18" charset="0"/>
                          <a:cs typeface="Times New Roman" panose="02020603050405020304" pitchFamily="18" charset="0"/>
                        </a:rPr>
                        <m:t>=0.001</m:t>
                      </m:r>
                    </m:oMath>
                  </m:oMathPara>
                </a14:m>
                <a:endParaRPr lang="en-US" dirty="0"/>
              </a:p>
            </p:txBody>
          </p:sp>
        </mc:Choice>
        <mc:Fallback xmlns="">
          <p:sp>
            <p:nvSpPr>
              <p:cNvPr id="20" name="TextBox 19">
                <a:extLst>
                  <a:ext uri="{FF2B5EF4-FFF2-40B4-BE49-F238E27FC236}">
                    <a16:creationId xmlns:a16="http://schemas.microsoft.com/office/drawing/2014/main" id="{51465483-DF9C-B3DD-24A0-06EBF374ECB0}"/>
                  </a:ext>
                </a:extLst>
              </p:cNvPr>
              <p:cNvSpPr txBox="1">
                <a:spLocks noRot="1" noChangeAspect="1" noMove="1" noResize="1" noEditPoints="1" noAdjustHandles="1" noChangeArrowheads="1" noChangeShapeType="1" noTextEdit="1"/>
              </p:cNvSpPr>
              <p:nvPr/>
            </p:nvSpPr>
            <p:spPr>
              <a:xfrm>
                <a:off x="6025392" y="4466755"/>
                <a:ext cx="1231084" cy="658065"/>
              </a:xfrm>
              <a:prstGeom prst="rect">
                <a:avLst/>
              </a:prstGeom>
              <a:blipFill>
                <a:blip r:embed="rId5"/>
                <a:stretch>
                  <a:fillRect/>
                </a:stretch>
              </a:blipFill>
            </p:spPr>
            <p:txBody>
              <a:bodyPr/>
              <a:lstStyle/>
              <a:p>
                <a:r>
                  <a:rPr lang="en-US">
                    <a:noFill/>
                  </a:rPr>
                  <a:t> </a:t>
                </a:r>
              </a:p>
            </p:txBody>
          </p:sp>
        </mc:Fallback>
      </mc:AlternateContent>
      <p:cxnSp>
        <p:nvCxnSpPr>
          <p:cNvPr id="21" name="Straight Arrow Connector 20">
            <a:extLst>
              <a:ext uri="{FF2B5EF4-FFF2-40B4-BE49-F238E27FC236}">
                <a16:creationId xmlns:a16="http://schemas.microsoft.com/office/drawing/2014/main" id="{AB878A8C-DC6D-474A-3B94-5F39267DE39F}"/>
              </a:ext>
            </a:extLst>
          </p:cNvPr>
          <p:cNvCxnSpPr>
            <a:cxnSpLocks/>
          </p:cNvCxnSpPr>
          <p:nvPr/>
        </p:nvCxnSpPr>
        <p:spPr>
          <a:xfrm>
            <a:off x="7880714" y="2497757"/>
            <a:ext cx="12548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7EB28E5-231F-65B4-F519-A71079E42815}"/>
              </a:ext>
            </a:extLst>
          </p:cNvPr>
          <p:cNvCxnSpPr>
            <a:cxnSpLocks/>
          </p:cNvCxnSpPr>
          <p:nvPr/>
        </p:nvCxnSpPr>
        <p:spPr>
          <a:xfrm>
            <a:off x="7854148" y="4820190"/>
            <a:ext cx="12548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0C1FF50-AB81-46F9-FE34-AD3A187F419A}"/>
              </a:ext>
            </a:extLst>
          </p:cNvPr>
          <p:cNvSpPr txBox="1"/>
          <p:nvPr/>
        </p:nvSpPr>
        <p:spPr>
          <a:xfrm>
            <a:off x="9307720" y="2097911"/>
            <a:ext cx="2111929" cy="646331"/>
          </a:xfrm>
          <a:prstGeom prst="rect">
            <a:avLst/>
          </a:prstGeom>
          <a:noFill/>
        </p:spPr>
        <p:txBody>
          <a:bodyPr wrap="square">
            <a:spAutoFit/>
          </a:bodyPr>
          <a:lstStyle/>
          <a:p>
            <a:r>
              <a:rPr lang="en-US" dirty="0"/>
              <a:t>Bias: -0.001</a:t>
            </a:r>
          </a:p>
          <a:p>
            <a:r>
              <a:rPr lang="en-US" dirty="0"/>
              <a:t>Rel Bias: -0.014%</a:t>
            </a:r>
          </a:p>
        </p:txBody>
      </p:sp>
      <p:sp>
        <p:nvSpPr>
          <p:cNvPr id="28" name="TextBox 27">
            <a:extLst>
              <a:ext uri="{FF2B5EF4-FFF2-40B4-BE49-F238E27FC236}">
                <a16:creationId xmlns:a16="http://schemas.microsoft.com/office/drawing/2014/main" id="{4E9AE977-09A9-0B25-F7E0-FE2A0C0F1BA6}"/>
              </a:ext>
            </a:extLst>
          </p:cNvPr>
          <p:cNvSpPr txBox="1"/>
          <p:nvPr/>
        </p:nvSpPr>
        <p:spPr>
          <a:xfrm>
            <a:off x="9342639" y="4497024"/>
            <a:ext cx="2111929" cy="646331"/>
          </a:xfrm>
          <a:prstGeom prst="rect">
            <a:avLst/>
          </a:prstGeom>
          <a:noFill/>
        </p:spPr>
        <p:txBody>
          <a:bodyPr wrap="square">
            <a:spAutoFit/>
          </a:bodyPr>
          <a:lstStyle/>
          <a:p>
            <a:r>
              <a:rPr lang="en-US" dirty="0"/>
              <a:t>Bias: -0.001</a:t>
            </a:r>
          </a:p>
          <a:p>
            <a:r>
              <a:rPr lang="en-US" dirty="0"/>
              <a:t>Rel Bias: 100%</a:t>
            </a:r>
          </a:p>
        </p:txBody>
      </p:sp>
    </p:spTree>
    <p:extLst>
      <p:ext uri="{BB962C8B-B14F-4D97-AF65-F5344CB8AC3E}">
        <p14:creationId xmlns:p14="http://schemas.microsoft.com/office/powerpoint/2010/main" val="2344155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C127E3-FF22-12B4-71E3-612CEED0D3C1}"/>
              </a:ext>
            </a:extLst>
          </p:cNvPr>
          <p:cNvSpPr>
            <a:spLocks noGrp="1"/>
          </p:cNvSpPr>
          <p:nvPr>
            <p:ph type="sldNum" sz="quarter" idx="11"/>
          </p:nvPr>
        </p:nvSpPr>
        <p:spPr/>
        <p:txBody>
          <a:bodyPr/>
          <a:lstStyle/>
          <a:p>
            <a:fld id="{523A240F-EAFE-E84F-B44C-6D7A08E0E409}" type="slidenum">
              <a:rPr lang="en-US" smtClean="0"/>
              <a:t>25</a:t>
            </a:fld>
            <a:endParaRPr lang="en-US"/>
          </a:p>
        </p:txBody>
      </p:sp>
      <p:sp>
        <p:nvSpPr>
          <p:cNvPr id="3" name="Footer Placeholder 2">
            <a:extLst>
              <a:ext uri="{FF2B5EF4-FFF2-40B4-BE49-F238E27FC236}">
                <a16:creationId xmlns:a16="http://schemas.microsoft.com/office/drawing/2014/main" id="{A1274C43-26EE-6640-8925-9CC66D66DC45}"/>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ED09C3EC-1DCE-987B-9EAD-8B4D47378452}"/>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CAF2CEF8-5374-8D4B-C9D8-65B0887ACC09}"/>
              </a:ext>
            </a:extLst>
          </p:cNvPr>
          <p:cNvSpPr>
            <a:spLocks noGrp="1"/>
          </p:cNvSpPr>
          <p:nvPr>
            <p:ph type="title"/>
          </p:nvPr>
        </p:nvSpPr>
        <p:spPr/>
        <p:txBody>
          <a:bodyPr/>
          <a:lstStyle/>
          <a:p>
            <a:r>
              <a:rPr lang="sv-SE" dirty="0"/>
              <a:t>Supplemental 7: Mean of Area Under the Curve (AUC)</a:t>
            </a:r>
            <a:endParaRPr lang="en-US" dirty="0"/>
          </a:p>
        </p:txBody>
      </p:sp>
    </p:spTree>
    <p:extLst>
      <p:ext uri="{BB962C8B-B14F-4D97-AF65-F5344CB8AC3E}">
        <p14:creationId xmlns:p14="http://schemas.microsoft.com/office/powerpoint/2010/main" val="362916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C127E3-FF22-12B4-71E3-612CEED0D3C1}"/>
              </a:ext>
            </a:extLst>
          </p:cNvPr>
          <p:cNvSpPr>
            <a:spLocks noGrp="1"/>
          </p:cNvSpPr>
          <p:nvPr>
            <p:ph type="sldNum" sz="quarter" idx="11"/>
          </p:nvPr>
        </p:nvSpPr>
        <p:spPr/>
        <p:txBody>
          <a:bodyPr/>
          <a:lstStyle/>
          <a:p>
            <a:fld id="{523A240F-EAFE-E84F-B44C-6D7A08E0E409}" type="slidenum">
              <a:rPr lang="en-US" smtClean="0"/>
              <a:t>26</a:t>
            </a:fld>
            <a:endParaRPr lang="en-US"/>
          </a:p>
        </p:txBody>
      </p:sp>
      <p:sp>
        <p:nvSpPr>
          <p:cNvPr id="3" name="Footer Placeholder 2">
            <a:extLst>
              <a:ext uri="{FF2B5EF4-FFF2-40B4-BE49-F238E27FC236}">
                <a16:creationId xmlns:a16="http://schemas.microsoft.com/office/drawing/2014/main" id="{A1274C43-26EE-6640-8925-9CC66D66DC45}"/>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ED09C3EC-1DCE-987B-9EAD-8B4D47378452}"/>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CAF2CEF8-5374-8D4B-C9D8-65B0887ACC09}"/>
              </a:ext>
            </a:extLst>
          </p:cNvPr>
          <p:cNvSpPr>
            <a:spLocks noGrp="1"/>
          </p:cNvSpPr>
          <p:nvPr>
            <p:ph type="title"/>
          </p:nvPr>
        </p:nvSpPr>
        <p:spPr/>
        <p:txBody>
          <a:bodyPr/>
          <a:lstStyle/>
          <a:p>
            <a:r>
              <a:rPr lang="sv-SE" dirty="0"/>
              <a:t>Supplemental 8: BMI Effects</a:t>
            </a:r>
            <a:endParaRPr lang="en-US" dirty="0"/>
          </a:p>
        </p:txBody>
      </p:sp>
      <p:pic>
        <p:nvPicPr>
          <p:cNvPr id="7" name="Picture 6">
            <a:extLst>
              <a:ext uri="{FF2B5EF4-FFF2-40B4-BE49-F238E27FC236}">
                <a16:creationId xmlns:a16="http://schemas.microsoft.com/office/drawing/2014/main" id="{762CA9EF-0EAF-3FA4-B238-D25A54721CB4}"/>
              </a:ext>
            </a:extLst>
          </p:cNvPr>
          <p:cNvPicPr>
            <a:picLocks noChangeAspect="1"/>
          </p:cNvPicPr>
          <p:nvPr/>
        </p:nvPicPr>
        <p:blipFill>
          <a:blip r:embed="rId2"/>
          <a:stretch>
            <a:fillRect/>
          </a:stretch>
        </p:blipFill>
        <p:spPr>
          <a:xfrm>
            <a:off x="2093383" y="1829218"/>
            <a:ext cx="8005233" cy="3199563"/>
          </a:xfrm>
          <a:prstGeom prst="rect">
            <a:avLst/>
          </a:prstGeom>
        </p:spPr>
      </p:pic>
    </p:spTree>
    <p:extLst>
      <p:ext uri="{BB962C8B-B14F-4D97-AF65-F5344CB8AC3E}">
        <p14:creationId xmlns:p14="http://schemas.microsoft.com/office/powerpoint/2010/main" val="3332626917"/>
      </p:ext>
    </p:extLst>
  </p:cSld>
  <p:clrMapOvr>
    <a:masterClrMapping/>
  </p:clrMapOvr>
</p:sld>
</file>

<file path=ppt/theme/theme1.xml><?xml version="1.0" encoding="utf-8"?>
<a:theme xmlns:a="http://schemas.openxmlformats.org/drawingml/2006/main" name="MSK Internal Template">
  <a:themeElements>
    <a:clrScheme name="MSK Direct">
      <a:dk1>
        <a:srgbClr val="002569"/>
      </a:dk1>
      <a:lt1>
        <a:srgbClr val="FFFFFF"/>
      </a:lt1>
      <a:dk2>
        <a:srgbClr val="272524"/>
      </a:dk2>
      <a:lt2>
        <a:srgbClr val="FBF9F7"/>
      </a:lt2>
      <a:accent1>
        <a:srgbClr val="0073E0"/>
      </a:accent1>
      <a:accent2>
        <a:srgbClr val="70BCFF"/>
      </a:accent2>
      <a:accent3>
        <a:srgbClr val="C3DEFF"/>
      </a:accent3>
      <a:accent4>
        <a:srgbClr val="037D98"/>
      </a:accent4>
      <a:accent5>
        <a:srgbClr val="78E2DA"/>
      </a:accent5>
      <a:accent6>
        <a:srgbClr val="B1FFF9"/>
      </a:accent6>
      <a:hlink>
        <a:srgbClr val="3259E7"/>
      </a:hlink>
      <a:folHlink>
        <a:srgbClr val="863EC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dirty="0" smtClean="0">
            <a:solidFill>
              <a:srgbClr val="272524"/>
            </a:solidFill>
          </a:defRPr>
        </a:defPPr>
      </a:lstStyle>
    </a:txDef>
  </a:objectDefaults>
  <a:extraClrSchemeLst/>
  <a:custClrLst>
    <a:custClr name="Dark Warm Gray">
      <a:srgbClr val="272524"/>
    </a:custClr>
    <a:custClr name="Blue">
      <a:srgbClr val="0073E0"/>
    </a:custClr>
    <a:custClr name="Dark Teal">
      <a:srgbClr val="037D98"/>
    </a:custClr>
    <a:custClr name="Dark Green">
      <a:srgbClr val="308229"/>
    </a:custClr>
    <a:custClr name="Dark Orange">
      <a:srgbClr val="E65722"/>
    </a:custClr>
    <a:custClr name="Dark Gold">
      <a:srgbClr val="C28110"/>
    </a:custClr>
    <a:custClr name="Dark Pink">
      <a:srgbClr val="D71D77"/>
    </a:custClr>
    <a:custClr name="Dark Purple">
      <a:srgbClr val="863ECC"/>
    </a:custClr>
    <a:custClr name="White01">
      <a:srgbClr val="FFFFFF"/>
    </a:custClr>
    <a:custClr name="Utility Red">
      <a:srgbClr val="E40D00"/>
    </a:custClr>
    <a:custClr name="Medium Warm Gray">
      <a:srgbClr val="B5B2AD"/>
    </a:custClr>
    <a:custClr name="Medium Blue">
      <a:srgbClr val="70BCFF"/>
    </a:custClr>
    <a:custClr name="Teal">
      <a:srgbClr val="78E2DA"/>
    </a:custClr>
    <a:custClr name="Green">
      <a:srgbClr val="5DCC6F"/>
    </a:custClr>
    <a:custClr name="Orange">
      <a:srgbClr val="FF8834"/>
    </a:custClr>
    <a:custClr name="Gold">
      <a:srgbClr val="FFBE02"/>
    </a:custClr>
    <a:custClr name="Pink">
      <a:srgbClr val="FF85BF"/>
    </a:custClr>
    <a:custClr name="Purple">
      <a:srgbClr val="BD8AEF"/>
    </a:custClr>
    <a:custClr name="White02">
      <a:srgbClr val="FFFFFF"/>
    </a:custClr>
    <a:custClr name="Utility Light Red">
      <a:srgbClr val="FFEDE8"/>
    </a:custClr>
    <a:custClr name="White03">
      <a:srgbClr val="FFFFFF"/>
    </a:custClr>
    <a:custClr name="Light Blue">
      <a:srgbClr val="C3DEFF"/>
    </a:custClr>
    <a:custClr name="Light Teal">
      <a:srgbClr val="B1FFF9"/>
    </a:custClr>
    <a:custClr name="Light Green">
      <a:srgbClr val="C7FCC6"/>
    </a:custClr>
    <a:custClr name="Light Orange">
      <a:srgbClr val="FCD2B4"/>
    </a:custClr>
    <a:custClr name="Light Gold">
      <a:srgbClr val="FFEDBA"/>
    </a:custClr>
    <a:custClr name="Light Pink">
      <a:srgbClr val="FFBBEC"/>
    </a:custClr>
    <a:custClr name="Light Purple">
      <a:srgbClr val="F4BDFF"/>
    </a:custClr>
    <a:custClr name="White04">
      <a:srgbClr val="FFFFFF"/>
    </a:custClr>
    <a:custClr name="Utility Dark Green">
      <a:srgbClr val="008937"/>
    </a:custClr>
    <a:custClr name="Pale Warm Gray">
      <a:srgbClr val="FBF9F7"/>
    </a:custClr>
    <a:custClr name="Pale Blue">
      <a:srgbClr val="F0F7FF"/>
    </a:custClr>
    <a:custClr name="Pale Teal">
      <a:srgbClr val="EBFCFA"/>
    </a:custClr>
    <a:custClr name="White05">
      <a:srgbClr val="FFFFFF"/>
    </a:custClr>
    <a:custClr name="White06">
      <a:srgbClr val="FFFFFF"/>
    </a:custClr>
    <a:custClr name="White07">
      <a:srgbClr val="FFFFFF"/>
    </a:custClr>
    <a:custClr name="White08">
      <a:srgbClr val="FFFFFF"/>
    </a:custClr>
    <a:custClr name="White09">
      <a:srgbClr val="FFFFFF"/>
    </a:custClr>
    <a:custClr name="White10">
      <a:srgbClr val="FFFFFF"/>
    </a:custClr>
    <a:custClr name="Utility Light Green">
      <a:srgbClr val="E4FFE3"/>
    </a:custClr>
  </a:custClrLst>
  <a:extLst>
    <a:ext uri="{05A4C25C-085E-4340-85A3-A5531E510DB2}">
      <thm15:themeFamily xmlns:thm15="http://schemas.microsoft.com/office/thememl/2012/main" name="MSK_Internal_Template" id="{59C23CD5-9955-5D4B-8670-B804478838D9}" vid="{943BE80A-EBCC-7E4F-9C4C-522D1ECDE1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3056</TotalTime>
  <Words>3373</Words>
  <Application>Microsoft Office PowerPoint</Application>
  <PresentationFormat>Widescreen</PresentationFormat>
  <Paragraphs>371</Paragraphs>
  <Slides>26</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26</vt:i4>
      </vt:variant>
    </vt:vector>
  </HeadingPairs>
  <TitlesOfParts>
    <vt:vector size="37" baseType="lpstr">
      <vt:lpstr>BlinkMacSystemFont</vt:lpstr>
      <vt:lpstr>System Font Regular</vt:lpstr>
      <vt:lpstr>Aptos</vt:lpstr>
      <vt:lpstr>Arial</vt:lpstr>
      <vt:lpstr>Calibri</vt:lpstr>
      <vt:lpstr>Cambria Math</vt:lpstr>
      <vt:lpstr>Century Gothic</vt:lpstr>
      <vt:lpstr>Times</vt:lpstr>
      <vt:lpstr>Times New Roman</vt:lpstr>
      <vt:lpstr>Wingdings</vt:lpstr>
      <vt:lpstr>MSK Internal Template</vt:lpstr>
      <vt:lpstr>When Stratified Randomization goes wrong: Analyzing postoperative pain with deep neuromuscular blockade in robot-assisted prostatectomies</vt:lpstr>
      <vt:lpstr>We addressed a specific issue in stratified randomization errors in the context of ordinal logistic regression for an MSK clinical trial </vt:lpstr>
      <vt:lpstr>Stratified randomization is often used in clinical trials to balance treatment arms based on influential characteristic(s)  </vt:lpstr>
      <vt:lpstr>Deep neuromuscular blockade (NMB) has been associated with lower postoperative pain in minimally invasive surgeries</vt:lpstr>
      <vt:lpstr>MSK conducted a clinical trial comparing moderate and deep NMB, but errors in stratified randomization with BMI occurred</vt:lpstr>
      <vt:lpstr>MSK conducted a clinical trial comparing moderate and deep NMB, but errors in stratified randomization with BMI occurred</vt:lpstr>
      <vt:lpstr>MSK conducted a clinical trial comparing moderate and deep NMB, but errors in stratified randomization with BMI occurred</vt:lpstr>
      <vt:lpstr>There are multiple ways to model average postoperative pain</vt:lpstr>
      <vt:lpstr>There are multiple ways to model average postoperative pain</vt:lpstr>
      <vt:lpstr>Ordinal logistic regression is a valid statistical model for average postoperative pain data under certain assumptions</vt:lpstr>
      <vt:lpstr>We performed a simulation study to better understand the effect of stratified randomization error in the trial</vt:lpstr>
      <vt:lpstr>Ordinal logistic regression is sensitive to errors in stratified randomization when true covariate strength is strong</vt:lpstr>
      <vt:lpstr>Ordinal logistic regression is sensitive to errors in stratified randomization when true covariate strength is strong</vt:lpstr>
      <vt:lpstr>Ordinal logistic regression provides a surprising result when it comes to the precision of our treatment effect estimate</vt:lpstr>
      <vt:lpstr>On average, the odds of patients under deep NMB being in lower post-op pain is 1.6 times that of patients under moderate NMB </vt:lpstr>
      <vt:lpstr>Limitations and Future Directions</vt:lpstr>
      <vt:lpstr>Acknowledgements</vt:lpstr>
      <vt:lpstr>References</vt:lpstr>
      <vt:lpstr>Supplementary 1: Data Generating Mechanism</vt:lpstr>
      <vt:lpstr>Supplementary 2: Ordinal Logistic Regression Model</vt:lpstr>
      <vt:lpstr>Supplementary 3: Conjecture</vt:lpstr>
      <vt:lpstr>Supplemental 4: Simulation Settings</vt:lpstr>
      <vt:lpstr>Supplemental 5: Coverage result</vt:lpstr>
      <vt:lpstr>Supplemental 6: What is Relative Bias?</vt:lpstr>
      <vt:lpstr>Supplemental 7: Mean of Area Under the Curve (AUC)</vt:lpstr>
      <vt:lpstr>Supplemental 8: BMI Effects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Jang, Daniel</dc:creator>
  <cp:lastModifiedBy>Daniel Jang</cp:lastModifiedBy>
  <cp:revision>88</cp:revision>
  <dcterms:created xsi:type="dcterms:W3CDTF">2025-07-21T17:21:13Z</dcterms:created>
  <dcterms:modified xsi:type="dcterms:W3CDTF">2026-03-12T21:06:45Z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f1469a-2c2a-4aee-b92b-090d4c5468ff_Enabled">
    <vt:lpwstr>true</vt:lpwstr>
  </property>
  <property fmtid="{D5CDD505-2E9C-101B-9397-08002B2CF9AE}" pid="3" name="MSIP_Label_38f1469a-2c2a-4aee-b92b-090d4c5468ff_SetDate">
    <vt:lpwstr>2022-09-12T14:33:51Z</vt:lpwstr>
  </property>
  <property fmtid="{D5CDD505-2E9C-101B-9397-08002B2CF9AE}" pid="4" name="MSIP_Label_38f1469a-2c2a-4aee-b92b-090d4c5468ff_Method">
    <vt:lpwstr>Standard</vt:lpwstr>
  </property>
  <property fmtid="{D5CDD505-2E9C-101B-9397-08002B2CF9AE}" pid="5" name="MSIP_Label_38f1469a-2c2a-4aee-b92b-090d4c5468ff_Name">
    <vt:lpwstr>Confidential - Unmarked</vt:lpwstr>
  </property>
  <property fmtid="{D5CDD505-2E9C-101B-9397-08002B2CF9AE}" pid="6" name="MSIP_Label_38f1469a-2c2a-4aee-b92b-090d4c5468ff_SiteId">
    <vt:lpwstr>2a6e6092-73e4-4752-b1a5-477a17f5056d</vt:lpwstr>
  </property>
  <property fmtid="{D5CDD505-2E9C-101B-9397-08002B2CF9AE}" pid="7" name="MSIP_Label_38f1469a-2c2a-4aee-b92b-090d4c5468ff_ActionId">
    <vt:lpwstr>e87d08fb-4b2a-4502-ad1f-5afae1f7f999</vt:lpwstr>
  </property>
  <property fmtid="{D5CDD505-2E9C-101B-9397-08002B2CF9AE}" pid="8" name="MSIP_Label_38f1469a-2c2a-4aee-b92b-090d4c5468ff_ContentBits">
    <vt:lpwstr>0</vt:lpwstr>
  </property>
</Properties>
</file>